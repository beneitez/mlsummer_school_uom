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8" r:id="rId2"/>
    <p:sldId id="261" r:id="rId3"/>
    <p:sldId id="303" r:id="rId4"/>
    <p:sldId id="304" r:id="rId5"/>
    <p:sldId id="305" r:id="rId6"/>
    <p:sldId id="306" r:id="rId7"/>
    <p:sldId id="307" r:id="rId8"/>
    <p:sldId id="308" r:id="rId9"/>
    <p:sldId id="309" r:id="rId10"/>
    <p:sldId id="310" r:id="rId11"/>
    <p:sldId id="311" r:id="rId12"/>
    <p:sldId id="312" r:id="rId13"/>
    <p:sldId id="314" r:id="rId14"/>
    <p:sldId id="313" r:id="rId15"/>
    <p:sldId id="315" r:id="rId16"/>
    <p:sldId id="316" r:id="rId17"/>
    <p:sldId id="317" r:id="rId18"/>
    <p:sldId id="318" r:id="rId19"/>
    <p:sldId id="319" r:id="rId20"/>
    <p:sldId id="320" r:id="rId21"/>
    <p:sldId id="321" r:id="rId22"/>
    <p:sldId id="322" r:id="rId23"/>
    <p:sldId id="301" r:id="rId24"/>
    <p:sldId id="270"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64"/>
    <p:restoredTop sz="94384"/>
  </p:normalViewPr>
  <p:slideViewPr>
    <p:cSldViewPr>
      <p:cViewPr varScale="1">
        <p:scale>
          <a:sx n="120" d="100"/>
          <a:sy n="120" d="100"/>
        </p:scale>
        <p:origin x="848"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ECCAEB-7496-4C12-9A08-526B0D813A46}" type="datetimeFigureOut">
              <a:rPr lang="en-GB" smtClean="0"/>
              <a:pPr/>
              <a:t>14/08/2026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E8D4E6-F64F-4999-AC2A-A008E685C045}" type="slidenum">
              <a:rPr lang="en-GB" smtClean="0"/>
              <a:pPr/>
              <a:t>‹#›</a:t>
            </a:fld>
            <a:endParaRPr lang="en-GB" dirty="0"/>
          </a:p>
        </p:txBody>
      </p:sp>
    </p:spTree>
    <p:extLst>
      <p:ext uri="{BB962C8B-B14F-4D97-AF65-F5344CB8AC3E}">
        <p14:creationId xmlns:p14="http://schemas.microsoft.com/office/powerpoint/2010/main" val="4212246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E8D4E6-F64F-4999-AC2A-A008E685C045}" type="slidenum">
              <a:rPr lang="en-GB" smtClean="0"/>
              <a:pPr/>
              <a:t>2</a:t>
            </a:fld>
            <a:endParaRPr lang="en-GB" dirty="0"/>
          </a:p>
        </p:txBody>
      </p:sp>
    </p:spTree>
    <p:extLst>
      <p:ext uri="{BB962C8B-B14F-4D97-AF65-F5344CB8AC3E}">
        <p14:creationId xmlns:p14="http://schemas.microsoft.com/office/powerpoint/2010/main" val="4077108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C4BB-30A8-4D9F-D449-7A41845DC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39E28-FBE4-A5F9-944A-CE53F1CCC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B1CBB-8BC9-6066-EAFA-1A21211A48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D61D4-4C00-89B5-47EF-81CF7FD8AB4B}"/>
              </a:ext>
            </a:extLst>
          </p:cNvPr>
          <p:cNvSpPr>
            <a:spLocks noGrp="1"/>
          </p:cNvSpPr>
          <p:nvPr>
            <p:ph type="sldNum" sz="quarter" idx="5"/>
          </p:nvPr>
        </p:nvSpPr>
        <p:spPr/>
        <p:txBody>
          <a:bodyPr/>
          <a:lstStyle/>
          <a:p>
            <a:fld id="{3EE8D4E6-F64F-4999-AC2A-A008E685C045}" type="slidenum">
              <a:rPr lang="en-GB" smtClean="0"/>
              <a:pPr/>
              <a:t>3</a:t>
            </a:fld>
            <a:endParaRPr lang="en-GB" dirty="0"/>
          </a:p>
        </p:txBody>
      </p:sp>
    </p:spTree>
    <p:extLst>
      <p:ext uri="{BB962C8B-B14F-4D97-AF65-F5344CB8AC3E}">
        <p14:creationId xmlns:p14="http://schemas.microsoft.com/office/powerpoint/2010/main" val="2199980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23211-2DFD-BB7E-B50E-FC366F0D2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57BC8-C764-C4E4-DB6B-A6168B497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3A27E-0AEE-F36B-CC96-DA2301D60A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9D8053-CA61-6A8C-ECC7-A3F54A549021}"/>
              </a:ext>
            </a:extLst>
          </p:cNvPr>
          <p:cNvSpPr>
            <a:spLocks noGrp="1"/>
          </p:cNvSpPr>
          <p:nvPr>
            <p:ph type="sldNum" sz="quarter" idx="5"/>
          </p:nvPr>
        </p:nvSpPr>
        <p:spPr/>
        <p:txBody>
          <a:bodyPr/>
          <a:lstStyle/>
          <a:p>
            <a:fld id="{3EE8D4E6-F64F-4999-AC2A-A008E685C045}" type="slidenum">
              <a:rPr lang="en-GB" smtClean="0"/>
              <a:pPr/>
              <a:t>4</a:t>
            </a:fld>
            <a:endParaRPr lang="en-GB" dirty="0"/>
          </a:p>
        </p:txBody>
      </p:sp>
    </p:spTree>
    <p:extLst>
      <p:ext uri="{BB962C8B-B14F-4D97-AF65-F5344CB8AC3E}">
        <p14:creationId xmlns:p14="http://schemas.microsoft.com/office/powerpoint/2010/main" val="1087479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F357D-05E7-D378-6F2C-48A13B61AC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81110-8AB2-215F-44CC-433D5C924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1164DF-1979-92A9-334F-5D0F19821E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7EAA49-2C92-CEFE-CA24-B3B7BA59007B}"/>
              </a:ext>
            </a:extLst>
          </p:cNvPr>
          <p:cNvSpPr>
            <a:spLocks noGrp="1"/>
          </p:cNvSpPr>
          <p:nvPr>
            <p:ph type="sldNum" sz="quarter" idx="5"/>
          </p:nvPr>
        </p:nvSpPr>
        <p:spPr/>
        <p:txBody>
          <a:bodyPr/>
          <a:lstStyle/>
          <a:p>
            <a:fld id="{3EE8D4E6-F64F-4999-AC2A-A008E685C045}" type="slidenum">
              <a:rPr lang="en-GB" smtClean="0"/>
              <a:pPr/>
              <a:t>5</a:t>
            </a:fld>
            <a:endParaRPr lang="en-GB" dirty="0"/>
          </a:p>
        </p:txBody>
      </p:sp>
    </p:spTree>
    <p:extLst>
      <p:ext uri="{BB962C8B-B14F-4D97-AF65-F5344CB8AC3E}">
        <p14:creationId xmlns:p14="http://schemas.microsoft.com/office/powerpoint/2010/main" val="2081340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70F75-0F43-B879-912E-2D17DBEF8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121B6-9BA5-196C-46A7-D3D7FB90F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A6232-653C-1E73-09FD-2387F96E19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87D8F2-AF74-A498-44EF-F0A3965A444F}"/>
              </a:ext>
            </a:extLst>
          </p:cNvPr>
          <p:cNvSpPr>
            <a:spLocks noGrp="1"/>
          </p:cNvSpPr>
          <p:nvPr>
            <p:ph type="sldNum" sz="quarter" idx="5"/>
          </p:nvPr>
        </p:nvSpPr>
        <p:spPr/>
        <p:txBody>
          <a:bodyPr/>
          <a:lstStyle/>
          <a:p>
            <a:fld id="{3EE8D4E6-F64F-4999-AC2A-A008E685C045}" type="slidenum">
              <a:rPr lang="en-GB" smtClean="0"/>
              <a:pPr/>
              <a:t>6</a:t>
            </a:fld>
            <a:endParaRPr lang="en-GB" dirty="0"/>
          </a:p>
        </p:txBody>
      </p:sp>
    </p:spTree>
    <p:extLst>
      <p:ext uri="{BB962C8B-B14F-4D97-AF65-F5344CB8AC3E}">
        <p14:creationId xmlns:p14="http://schemas.microsoft.com/office/powerpoint/2010/main" val="2607729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4F07E-D720-EA2B-E163-927C48AB3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4DC9E-38EA-9EA7-24B2-B3411A59E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9EA9F-F429-26B9-DE57-8AE1EBEBB3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29AD39-B2D4-4D49-F75C-12E156F7F860}"/>
              </a:ext>
            </a:extLst>
          </p:cNvPr>
          <p:cNvSpPr>
            <a:spLocks noGrp="1"/>
          </p:cNvSpPr>
          <p:nvPr>
            <p:ph type="sldNum" sz="quarter" idx="5"/>
          </p:nvPr>
        </p:nvSpPr>
        <p:spPr/>
        <p:txBody>
          <a:bodyPr/>
          <a:lstStyle/>
          <a:p>
            <a:fld id="{3EE8D4E6-F64F-4999-AC2A-A008E685C045}" type="slidenum">
              <a:rPr lang="en-GB" smtClean="0"/>
              <a:pPr/>
              <a:t>7</a:t>
            </a:fld>
            <a:endParaRPr lang="en-GB" dirty="0"/>
          </a:p>
        </p:txBody>
      </p:sp>
    </p:spTree>
    <p:extLst>
      <p:ext uri="{BB962C8B-B14F-4D97-AF65-F5344CB8AC3E}">
        <p14:creationId xmlns:p14="http://schemas.microsoft.com/office/powerpoint/2010/main" val="2202981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6F57-E572-A99A-87B4-5CA45C8D9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6D2E1-6CEA-F6EB-9D49-7997CC544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EB339-1468-D64D-06DF-BD5365F58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3E76A7-1D98-2D06-3695-053541529ECA}"/>
              </a:ext>
            </a:extLst>
          </p:cNvPr>
          <p:cNvSpPr>
            <a:spLocks noGrp="1"/>
          </p:cNvSpPr>
          <p:nvPr>
            <p:ph type="sldNum" sz="quarter" idx="5"/>
          </p:nvPr>
        </p:nvSpPr>
        <p:spPr/>
        <p:txBody>
          <a:bodyPr/>
          <a:lstStyle/>
          <a:p>
            <a:fld id="{3EE8D4E6-F64F-4999-AC2A-A008E685C045}" type="slidenum">
              <a:rPr lang="en-GB" smtClean="0"/>
              <a:pPr/>
              <a:t>8</a:t>
            </a:fld>
            <a:endParaRPr lang="en-GB" dirty="0"/>
          </a:p>
        </p:txBody>
      </p:sp>
    </p:spTree>
    <p:extLst>
      <p:ext uri="{BB962C8B-B14F-4D97-AF65-F5344CB8AC3E}">
        <p14:creationId xmlns:p14="http://schemas.microsoft.com/office/powerpoint/2010/main" val="1075842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E7D1-1C0B-DB90-E865-EE6FB3DF8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0E0EB-14D8-133F-60D6-422612A1E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58906-8410-0246-836C-49C4B8C121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4F3ED4-63B0-38E0-0E37-C211C65C6A12}"/>
              </a:ext>
            </a:extLst>
          </p:cNvPr>
          <p:cNvSpPr>
            <a:spLocks noGrp="1"/>
          </p:cNvSpPr>
          <p:nvPr>
            <p:ph type="sldNum" sz="quarter" idx="5"/>
          </p:nvPr>
        </p:nvSpPr>
        <p:spPr/>
        <p:txBody>
          <a:bodyPr/>
          <a:lstStyle/>
          <a:p>
            <a:fld id="{3EE8D4E6-F64F-4999-AC2A-A008E685C045}" type="slidenum">
              <a:rPr lang="en-GB" smtClean="0"/>
              <a:pPr/>
              <a:t>9</a:t>
            </a:fld>
            <a:endParaRPr lang="en-GB" dirty="0"/>
          </a:p>
        </p:txBody>
      </p:sp>
    </p:spTree>
    <p:extLst>
      <p:ext uri="{BB962C8B-B14F-4D97-AF65-F5344CB8AC3E}">
        <p14:creationId xmlns:p14="http://schemas.microsoft.com/office/powerpoint/2010/main" val="289874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941F-6D1E-DA3C-8AAF-AA483EAB3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7C255-726D-8E72-3DD4-4A89F2E267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97B2B-2CF6-B189-1673-631A12D9B6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4E2A88-0DEB-4757-6F4D-ED8065C45DDA}"/>
              </a:ext>
            </a:extLst>
          </p:cNvPr>
          <p:cNvSpPr>
            <a:spLocks noGrp="1"/>
          </p:cNvSpPr>
          <p:nvPr>
            <p:ph type="sldNum" sz="quarter" idx="5"/>
          </p:nvPr>
        </p:nvSpPr>
        <p:spPr/>
        <p:txBody>
          <a:bodyPr/>
          <a:lstStyle/>
          <a:p>
            <a:fld id="{3EE8D4E6-F64F-4999-AC2A-A008E685C045}" type="slidenum">
              <a:rPr lang="en-GB" smtClean="0"/>
              <a:pPr/>
              <a:t>10</a:t>
            </a:fld>
            <a:endParaRPr lang="en-GB" dirty="0"/>
          </a:p>
        </p:txBody>
      </p:sp>
    </p:spTree>
    <p:extLst>
      <p:ext uri="{BB962C8B-B14F-4D97-AF65-F5344CB8AC3E}">
        <p14:creationId xmlns:p14="http://schemas.microsoft.com/office/powerpoint/2010/main" val="1857883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40D0-86DD-C80A-C518-EC0105196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16603-1C25-9C44-BD85-129DDBA83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427C9-6531-5E1D-3E62-E03099C341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753598-43DC-EC79-7FDD-1E7F9E159424}"/>
              </a:ext>
            </a:extLst>
          </p:cNvPr>
          <p:cNvSpPr>
            <a:spLocks noGrp="1"/>
          </p:cNvSpPr>
          <p:nvPr>
            <p:ph type="sldNum" sz="quarter" idx="5"/>
          </p:nvPr>
        </p:nvSpPr>
        <p:spPr/>
        <p:txBody>
          <a:bodyPr/>
          <a:lstStyle/>
          <a:p>
            <a:fld id="{3EE8D4E6-F64F-4999-AC2A-A008E685C045}" type="slidenum">
              <a:rPr lang="en-GB" smtClean="0"/>
              <a:pPr/>
              <a:t>11</a:t>
            </a:fld>
            <a:endParaRPr lang="en-GB" dirty="0"/>
          </a:p>
        </p:txBody>
      </p:sp>
    </p:spTree>
    <p:extLst>
      <p:ext uri="{BB962C8B-B14F-4D97-AF65-F5344CB8AC3E}">
        <p14:creationId xmlns:p14="http://schemas.microsoft.com/office/powerpoint/2010/main" val="3653917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02C9-E763-1CDF-7022-B751DA557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0CB60-1C65-97BE-F3D6-878719402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D4A29-75C6-F047-84AB-7F31248997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D8B35D-A2F0-A01B-0CA4-6C56C7E5B35B}"/>
              </a:ext>
            </a:extLst>
          </p:cNvPr>
          <p:cNvSpPr>
            <a:spLocks noGrp="1"/>
          </p:cNvSpPr>
          <p:nvPr>
            <p:ph type="sldNum" sz="quarter" idx="5"/>
          </p:nvPr>
        </p:nvSpPr>
        <p:spPr/>
        <p:txBody>
          <a:bodyPr/>
          <a:lstStyle/>
          <a:p>
            <a:fld id="{3EE8D4E6-F64F-4999-AC2A-A008E685C045}" type="slidenum">
              <a:rPr lang="en-GB" smtClean="0"/>
              <a:pPr/>
              <a:t>12</a:t>
            </a:fld>
            <a:endParaRPr lang="en-GB" dirty="0"/>
          </a:p>
        </p:txBody>
      </p:sp>
    </p:spTree>
    <p:extLst>
      <p:ext uri="{BB962C8B-B14F-4D97-AF65-F5344CB8AC3E}">
        <p14:creationId xmlns:p14="http://schemas.microsoft.com/office/powerpoint/2010/main" val="2901452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A7148-0DAC-888E-7347-F32ABFFD7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2C993-14BB-04DC-190D-B4DBB3523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A105C-A2E6-C37F-75EE-6231EBF3A3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76A34C-7A74-D01B-7369-EA7AC99D4E3F}"/>
              </a:ext>
            </a:extLst>
          </p:cNvPr>
          <p:cNvSpPr>
            <a:spLocks noGrp="1"/>
          </p:cNvSpPr>
          <p:nvPr>
            <p:ph type="sldNum" sz="quarter" idx="5"/>
          </p:nvPr>
        </p:nvSpPr>
        <p:spPr/>
        <p:txBody>
          <a:bodyPr/>
          <a:lstStyle/>
          <a:p>
            <a:fld id="{3EE8D4E6-F64F-4999-AC2A-A008E685C045}" type="slidenum">
              <a:rPr lang="en-GB" smtClean="0"/>
              <a:pPr/>
              <a:t>13</a:t>
            </a:fld>
            <a:endParaRPr lang="en-GB" dirty="0"/>
          </a:p>
        </p:txBody>
      </p:sp>
    </p:spTree>
    <p:extLst>
      <p:ext uri="{BB962C8B-B14F-4D97-AF65-F5344CB8AC3E}">
        <p14:creationId xmlns:p14="http://schemas.microsoft.com/office/powerpoint/2010/main" val="411453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8A16-EC05-C998-1D6B-990037394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AB26B-1DEA-4899-49D5-36075AE49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A11EA-3767-C254-372A-FF2530A326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9BA129-668A-8F67-6B8A-55F2E0A0C5BE}"/>
              </a:ext>
            </a:extLst>
          </p:cNvPr>
          <p:cNvSpPr>
            <a:spLocks noGrp="1"/>
          </p:cNvSpPr>
          <p:nvPr>
            <p:ph type="sldNum" sz="quarter" idx="5"/>
          </p:nvPr>
        </p:nvSpPr>
        <p:spPr/>
        <p:txBody>
          <a:bodyPr/>
          <a:lstStyle/>
          <a:p>
            <a:fld id="{3EE8D4E6-F64F-4999-AC2A-A008E685C045}" type="slidenum">
              <a:rPr lang="en-GB" smtClean="0"/>
              <a:pPr/>
              <a:t>14</a:t>
            </a:fld>
            <a:endParaRPr lang="en-GB" dirty="0"/>
          </a:p>
        </p:txBody>
      </p:sp>
    </p:spTree>
    <p:extLst>
      <p:ext uri="{BB962C8B-B14F-4D97-AF65-F5344CB8AC3E}">
        <p14:creationId xmlns:p14="http://schemas.microsoft.com/office/powerpoint/2010/main" val="3595196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A3D2-2FE9-94F0-7B50-001C3ECF7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0910C-61D8-2E13-9EAF-4CD0B849A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EAE4B-4345-9D16-5C2D-754F0A4981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0F4629-9639-77A6-BB0D-6AC623462A13}"/>
              </a:ext>
            </a:extLst>
          </p:cNvPr>
          <p:cNvSpPr>
            <a:spLocks noGrp="1"/>
          </p:cNvSpPr>
          <p:nvPr>
            <p:ph type="sldNum" sz="quarter" idx="5"/>
          </p:nvPr>
        </p:nvSpPr>
        <p:spPr/>
        <p:txBody>
          <a:bodyPr/>
          <a:lstStyle/>
          <a:p>
            <a:fld id="{3EE8D4E6-F64F-4999-AC2A-A008E685C045}" type="slidenum">
              <a:rPr lang="en-GB" smtClean="0"/>
              <a:pPr/>
              <a:t>15</a:t>
            </a:fld>
            <a:endParaRPr lang="en-GB" dirty="0"/>
          </a:p>
        </p:txBody>
      </p:sp>
    </p:spTree>
    <p:extLst>
      <p:ext uri="{BB962C8B-B14F-4D97-AF65-F5344CB8AC3E}">
        <p14:creationId xmlns:p14="http://schemas.microsoft.com/office/powerpoint/2010/main" val="1435245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E267-DC53-CE75-DFD7-02FB39F58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FE23F-63F5-9415-63EE-A72CCC190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2ED36-02E2-FE90-4C7A-A94B31967C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D3F503-4C82-36F5-3175-4AF7E720AF95}"/>
              </a:ext>
            </a:extLst>
          </p:cNvPr>
          <p:cNvSpPr>
            <a:spLocks noGrp="1"/>
          </p:cNvSpPr>
          <p:nvPr>
            <p:ph type="sldNum" sz="quarter" idx="5"/>
          </p:nvPr>
        </p:nvSpPr>
        <p:spPr/>
        <p:txBody>
          <a:bodyPr/>
          <a:lstStyle/>
          <a:p>
            <a:fld id="{3EE8D4E6-F64F-4999-AC2A-A008E685C045}" type="slidenum">
              <a:rPr lang="en-GB" smtClean="0"/>
              <a:pPr/>
              <a:t>16</a:t>
            </a:fld>
            <a:endParaRPr lang="en-GB" dirty="0"/>
          </a:p>
        </p:txBody>
      </p:sp>
    </p:spTree>
    <p:extLst>
      <p:ext uri="{BB962C8B-B14F-4D97-AF65-F5344CB8AC3E}">
        <p14:creationId xmlns:p14="http://schemas.microsoft.com/office/powerpoint/2010/main" val="2713439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573A1-4BA0-8AFF-3F0C-5E4A6626D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C1818-2DDE-7092-8E2C-C81CBB634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F1187-8BBE-2FF8-3823-4E618B7686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02E2F4-A4E3-8ECA-4300-E02D31BEABD7}"/>
              </a:ext>
            </a:extLst>
          </p:cNvPr>
          <p:cNvSpPr>
            <a:spLocks noGrp="1"/>
          </p:cNvSpPr>
          <p:nvPr>
            <p:ph type="sldNum" sz="quarter" idx="5"/>
          </p:nvPr>
        </p:nvSpPr>
        <p:spPr/>
        <p:txBody>
          <a:bodyPr/>
          <a:lstStyle/>
          <a:p>
            <a:fld id="{3EE8D4E6-F64F-4999-AC2A-A008E685C045}" type="slidenum">
              <a:rPr lang="en-GB" smtClean="0"/>
              <a:pPr/>
              <a:t>17</a:t>
            </a:fld>
            <a:endParaRPr lang="en-GB" dirty="0"/>
          </a:p>
        </p:txBody>
      </p:sp>
    </p:spTree>
    <p:extLst>
      <p:ext uri="{BB962C8B-B14F-4D97-AF65-F5344CB8AC3E}">
        <p14:creationId xmlns:p14="http://schemas.microsoft.com/office/powerpoint/2010/main" val="159213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C989-EC35-1AA4-9693-2E842763B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C9341-3BD3-AD84-7177-0AB896D5A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E02CF-D1FE-5F87-E077-76DD5BE11E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4E187B-8602-01C8-F04A-5D032D095C0A}"/>
              </a:ext>
            </a:extLst>
          </p:cNvPr>
          <p:cNvSpPr>
            <a:spLocks noGrp="1"/>
          </p:cNvSpPr>
          <p:nvPr>
            <p:ph type="sldNum" sz="quarter" idx="5"/>
          </p:nvPr>
        </p:nvSpPr>
        <p:spPr/>
        <p:txBody>
          <a:bodyPr/>
          <a:lstStyle/>
          <a:p>
            <a:fld id="{3EE8D4E6-F64F-4999-AC2A-A008E685C045}" type="slidenum">
              <a:rPr lang="en-GB" smtClean="0"/>
              <a:pPr/>
              <a:t>18</a:t>
            </a:fld>
            <a:endParaRPr lang="en-GB" dirty="0"/>
          </a:p>
        </p:txBody>
      </p:sp>
    </p:spTree>
    <p:extLst>
      <p:ext uri="{BB962C8B-B14F-4D97-AF65-F5344CB8AC3E}">
        <p14:creationId xmlns:p14="http://schemas.microsoft.com/office/powerpoint/2010/main" val="4217672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CFD90-DE08-4773-68F2-0D27B1530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D6591-285F-D4A1-7AEC-86C9FDFF0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171B22-55B3-853B-8E0D-25E470E904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22F76A-C5A1-D4C9-7437-081AC3849D9C}"/>
              </a:ext>
            </a:extLst>
          </p:cNvPr>
          <p:cNvSpPr>
            <a:spLocks noGrp="1"/>
          </p:cNvSpPr>
          <p:nvPr>
            <p:ph type="sldNum" sz="quarter" idx="5"/>
          </p:nvPr>
        </p:nvSpPr>
        <p:spPr/>
        <p:txBody>
          <a:bodyPr/>
          <a:lstStyle/>
          <a:p>
            <a:fld id="{3EE8D4E6-F64F-4999-AC2A-A008E685C045}" type="slidenum">
              <a:rPr lang="en-GB" smtClean="0"/>
              <a:pPr/>
              <a:t>19</a:t>
            </a:fld>
            <a:endParaRPr lang="en-GB" dirty="0"/>
          </a:p>
        </p:txBody>
      </p:sp>
    </p:spTree>
    <p:extLst>
      <p:ext uri="{BB962C8B-B14F-4D97-AF65-F5344CB8AC3E}">
        <p14:creationId xmlns:p14="http://schemas.microsoft.com/office/powerpoint/2010/main" val="27109440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E5E8D-2034-7848-D9E2-CBC741FE1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4AB1D-C45A-38C9-88BE-D19C56B9E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255B5-6900-1698-ACA0-4DCA0B5828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D9FA4C-176D-1135-795B-01C3530F0CB9}"/>
              </a:ext>
            </a:extLst>
          </p:cNvPr>
          <p:cNvSpPr>
            <a:spLocks noGrp="1"/>
          </p:cNvSpPr>
          <p:nvPr>
            <p:ph type="sldNum" sz="quarter" idx="5"/>
          </p:nvPr>
        </p:nvSpPr>
        <p:spPr/>
        <p:txBody>
          <a:bodyPr/>
          <a:lstStyle/>
          <a:p>
            <a:fld id="{3EE8D4E6-F64F-4999-AC2A-A008E685C045}" type="slidenum">
              <a:rPr lang="en-GB" smtClean="0"/>
              <a:pPr/>
              <a:t>20</a:t>
            </a:fld>
            <a:endParaRPr lang="en-GB" dirty="0"/>
          </a:p>
        </p:txBody>
      </p:sp>
    </p:spTree>
    <p:extLst>
      <p:ext uri="{BB962C8B-B14F-4D97-AF65-F5344CB8AC3E}">
        <p14:creationId xmlns:p14="http://schemas.microsoft.com/office/powerpoint/2010/main" val="617998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B60D3-01D9-59E8-1B5C-1A8A0B689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3FA4A-F668-2009-5C88-EB4978404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F149E-587E-969A-4459-A8ED4069E8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4ABADE-3839-66A6-E477-2827231838D0}"/>
              </a:ext>
            </a:extLst>
          </p:cNvPr>
          <p:cNvSpPr>
            <a:spLocks noGrp="1"/>
          </p:cNvSpPr>
          <p:nvPr>
            <p:ph type="sldNum" sz="quarter" idx="5"/>
          </p:nvPr>
        </p:nvSpPr>
        <p:spPr/>
        <p:txBody>
          <a:bodyPr/>
          <a:lstStyle/>
          <a:p>
            <a:fld id="{3EE8D4E6-F64F-4999-AC2A-A008E685C045}" type="slidenum">
              <a:rPr lang="en-GB" smtClean="0"/>
              <a:pPr/>
              <a:t>21</a:t>
            </a:fld>
            <a:endParaRPr lang="en-GB" dirty="0"/>
          </a:p>
        </p:txBody>
      </p:sp>
    </p:spTree>
    <p:extLst>
      <p:ext uri="{BB962C8B-B14F-4D97-AF65-F5344CB8AC3E}">
        <p14:creationId xmlns:p14="http://schemas.microsoft.com/office/powerpoint/2010/main" val="312706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8D046-C104-C645-7DBA-6ACDAA690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8CDC3-0C07-6FC2-EE42-EF518D6CF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282A9-9980-FADF-49D3-1195FEDCE0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1FE62F-78E6-4A9B-F482-60B85ADCE63D}"/>
              </a:ext>
            </a:extLst>
          </p:cNvPr>
          <p:cNvSpPr>
            <a:spLocks noGrp="1"/>
          </p:cNvSpPr>
          <p:nvPr>
            <p:ph type="sldNum" sz="quarter" idx="5"/>
          </p:nvPr>
        </p:nvSpPr>
        <p:spPr/>
        <p:txBody>
          <a:bodyPr/>
          <a:lstStyle/>
          <a:p>
            <a:fld id="{3EE8D4E6-F64F-4999-AC2A-A008E685C045}" type="slidenum">
              <a:rPr lang="en-GB" smtClean="0"/>
              <a:pPr/>
              <a:t>22</a:t>
            </a:fld>
            <a:endParaRPr lang="en-GB" dirty="0"/>
          </a:p>
        </p:txBody>
      </p:sp>
    </p:spTree>
    <p:extLst>
      <p:ext uri="{BB962C8B-B14F-4D97-AF65-F5344CB8AC3E}">
        <p14:creationId xmlns:p14="http://schemas.microsoft.com/office/powerpoint/2010/main" val="209960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F828-3E63-7EE7-24C0-DB9907C88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DA39D-AA80-4836-AB4B-1867F6856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74C03-A67B-7BD3-1B47-C13F0DD472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EE44B-8D9B-49CE-4984-6125A859F26B}"/>
              </a:ext>
            </a:extLst>
          </p:cNvPr>
          <p:cNvSpPr>
            <a:spLocks noGrp="1"/>
          </p:cNvSpPr>
          <p:nvPr>
            <p:ph type="sldNum" sz="quarter" idx="5"/>
          </p:nvPr>
        </p:nvSpPr>
        <p:spPr/>
        <p:txBody>
          <a:bodyPr/>
          <a:lstStyle/>
          <a:p>
            <a:fld id="{3EE8D4E6-F64F-4999-AC2A-A008E685C045}" type="slidenum">
              <a:rPr lang="en-GB" smtClean="0"/>
              <a:pPr/>
              <a:t>23</a:t>
            </a:fld>
            <a:endParaRPr lang="en-GB" dirty="0"/>
          </a:p>
        </p:txBody>
      </p:sp>
    </p:spTree>
    <p:extLst>
      <p:ext uri="{BB962C8B-B14F-4D97-AF65-F5344CB8AC3E}">
        <p14:creationId xmlns:p14="http://schemas.microsoft.com/office/powerpoint/2010/main" val="2103773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E8D4E6-F64F-4999-AC2A-A008E685C045}" type="slidenum">
              <a:rPr lang="en-GB" smtClean="0"/>
              <a:pPr/>
              <a:t>24</a:t>
            </a:fld>
            <a:endParaRPr lang="en-GB" dirty="0"/>
          </a:p>
        </p:txBody>
      </p:sp>
    </p:spTree>
    <p:extLst>
      <p:ext uri="{BB962C8B-B14F-4D97-AF65-F5344CB8AC3E}">
        <p14:creationId xmlns:p14="http://schemas.microsoft.com/office/powerpoint/2010/main" val="1551775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2130425"/>
            <a:ext cx="7772400" cy="1470025"/>
          </a:xfrm>
        </p:spPr>
        <p:txBody>
          <a:bodyPr/>
          <a:lstStyle>
            <a:lvl1pPr>
              <a:defRPr sz="3200" b="1">
                <a:latin typeface="Arial" pitchFamily="34" charset="0"/>
                <a:cs typeface="Arial" pitchFamily="34" charset="0"/>
              </a:defRPr>
            </a:lvl1pPr>
          </a:lstStyle>
          <a:p>
            <a:r>
              <a:rPr lang="en-US" dirty="0"/>
              <a:t>Click to edit Master title style</a:t>
            </a:r>
            <a:endParaRPr lang="en-GB" dirty="0"/>
          </a:p>
        </p:txBody>
      </p:sp>
      <p:sp>
        <p:nvSpPr>
          <p:cNvPr id="3" name="Subtitle 2"/>
          <p:cNvSpPr>
            <a:spLocks noGrp="1"/>
          </p:cNvSpPr>
          <p:nvPr>
            <p:ph type="subTitle" idx="1"/>
          </p:nvPr>
        </p:nvSpPr>
        <p:spPr>
          <a:xfrm>
            <a:off x="467544" y="3886200"/>
            <a:ext cx="6400800" cy="1752600"/>
          </a:xfrm>
        </p:spPr>
        <p:txBody>
          <a:bodyPr/>
          <a:lstStyle>
            <a:lvl1pPr marL="0" indent="0" algn="l">
              <a:buNone/>
              <a:defRPr sz="2800">
                <a:solidFill>
                  <a:schemeClr val="tx1">
                    <a:tint val="7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lvl1pPr>
              <a:defRPr/>
            </a:lvl1pPr>
          </a:lstStyle>
          <a:p>
            <a:fld id="{EC7AB759-530A-46AC-842F-B07144F002F9}" type="datetimeFigureOut">
              <a:rPr lang="en-GB"/>
              <a:pPr/>
              <a:t>14/08/2026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10AD8A0A-4898-40BF-9009-4DA7E611EAC1}"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95536" y="2492896"/>
            <a:ext cx="8229600" cy="3633267"/>
          </a:xfrm>
        </p:spPr>
        <p:txBody>
          <a:bodyPr/>
          <a:lstStyle>
            <a:lvl1pPr>
              <a:defRPr sz="28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222B6232-AB33-4513-9527-F98CEC472D23}" type="datetimeFigureOut">
              <a:rPr lang="en-GB" smtClean="0"/>
              <a:pPr/>
              <a:t>14/08/2026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F758A139-7ABE-46A1-B082-C2C77667394C}"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95536" y="4406900"/>
            <a:ext cx="7772400" cy="1362075"/>
          </a:xfrm>
        </p:spPr>
        <p:txBody>
          <a:bodyPr anchor="t"/>
          <a:lstStyle>
            <a:lvl1pPr algn="l">
              <a:defRPr sz="4000" b="1" cap="all"/>
            </a:lvl1pPr>
          </a:lstStyle>
          <a:p>
            <a:r>
              <a:rPr lang="en-US" dirty="0"/>
              <a:t>Click to edit Master title style</a:t>
            </a:r>
            <a:endParaRPr lang="en-GB" dirty="0"/>
          </a:p>
        </p:txBody>
      </p:sp>
      <p:sp>
        <p:nvSpPr>
          <p:cNvPr id="3" name="Text Placeholder 2"/>
          <p:cNvSpPr>
            <a:spLocks noGrp="1"/>
          </p:cNvSpPr>
          <p:nvPr>
            <p:ph type="body" idx="1"/>
          </p:nvPr>
        </p:nvSpPr>
        <p:spPr>
          <a:xfrm>
            <a:off x="395536"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445CD916-7149-4247-856D-87DAB39295C7}" type="datetimeFigureOut">
              <a:rPr lang="en-GB"/>
              <a:pPr/>
              <a:t>14/08/2026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13ACF840-035C-411F-BA81-AF7A8ED78138}"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3200"/>
            </a:lvl1pPr>
          </a:lstStyle>
          <a:p>
            <a:r>
              <a:rPr lang="en-US" dirty="0"/>
              <a:t>Click to edit Master title style</a:t>
            </a:r>
            <a:endParaRPr lang="en-GB" dirty="0"/>
          </a:p>
        </p:txBody>
      </p:sp>
      <p:sp>
        <p:nvSpPr>
          <p:cNvPr id="3" name="Content Placeholder 2"/>
          <p:cNvSpPr>
            <a:spLocks noGrp="1"/>
          </p:cNvSpPr>
          <p:nvPr>
            <p:ph sz="half" idx="1"/>
          </p:nvPr>
        </p:nvSpPr>
        <p:spPr>
          <a:xfrm>
            <a:off x="395536" y="2492896"/>
            <a:ext cx="4038600" cy="3633267"/>
          </a:xfrm>
        </p:spPr>
        <p:txBody>
          <a:bodyPr/>
          <a:lstStyle>
            <a:lvl1pPr>
              <a:defRPr sz="2800" baseline="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586536" y="2492896"/>
            <a:ext cx="4038600" cy="3633267"/>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3"/>
          <p:cNvSpPr>
            <a:spLocks noGrp="1"/>
          </p:cNvSpPr>
          <p:nvPr>
            <p:ph type="dt" sz="half" idx="10"/>
          </p:nvPr>
        </p:nvSpPr>
        <p:spPr/>
        <p:txBody>
          <a:bodyPr/>
          <a:lstStyle>
            <a:lvl1pPr>
              <a:defRPr/>
            </a:lvl1pPr>
          </a:lstStyle>
          <a:p>
            <a:fld id="{9FD09641-23CB-4E80-A5B0-5F03D2E94610}" type="datetimeFigureOut">
              <a:rPr lang="en-GB"/>
              <a:pPr/>
              <a:t>14/08/2026</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EF7FA264-F771-4264-8DF0-4BB7F0DA3C69}" type="slidenum">
              <a:rPr lang="en-GB"/>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2800"/>
            </a:lvl1pPr>
          </a:lstStyle>
          <a:p>
            <a:r>
              <a:rPr lang="en-US" dirty="0"/>
              <a:t>Click to edit Master title style</a:t>
            </a:r>
            <a:endParaRPr lang="en-GB" dirty="0"/>
          </a:p>
        </p:txBody>
      </p:sp>
      <p:sp>
        <p:nvSpPr>
          <p:cNvPr id="3" name="Text Placeholder 2"/>
          <p:cNvSpPr>
            <a:spLocks noGrp="1"/>
          </p:cNvSpPr>
          <p:nvPr>
            <p:ph type="body" idx="1"/>
          </p:nvPr>
        </p:nvSpPr>
        <p:spPr>
          <a:xfrm>
            <a:off x="405880" y="2348880"/>
            <a:ext cx="4040188"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95536" y="3068959"/>
            <a:ext cx="4040188" cy="3057203"/>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582344" y="2348880"/>
            <a:ext cx="4041775"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83361" y="3068960"/>
            <a:ext cx="4041775" cy="3057202"/>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3"/>
          <p:cNvSpPr>
            <a:spLocks noGrp="1"/>
          </p:cNvSpPr>
          <p:nvPr>
            <p:ph type="dt" sz="half" idx="10"/>
          </p:nvPr>
        </p:nvSpPr>
        <p:spPr/>
        <p:txBody>
          <a:bodyPr/>
          <a:lstStyle>
            <a:lvl1pPr>
              <a:defRPr/>
            </a:lvl1pPr>
          </a:lstStyle>
          <a:p>
            <a:fld id="{3A9A4E03-F40B-4399-AC2E-A4C6E9D600B3}" type="datetimeFigureOut">
              <a:rPr lang="en-GB"/>
              <a:pPr/>
              <a:t>14/08/2026</a:t>
            </a:fld>
            <a:endParaRPr lang="en-GB" dirty="0"/>
          </a:p>
        </p:txBody>
      </p:sp>
      <p:sp>
        <p:nvSpPr>
          <p:cNvPr id="8" name="Footer Placeholder 4"/>
          <p:cNvSpPr>
            <a:spLocks noGrp="1"/>
          </p:cNvSpPr>
          <p:nvPr>
            <p:ph type="ftr" sz="quarter" idx="11"/>
          </p:nvPr>
        </p:nvSpPr>
        <p:spPr/>
        <p:txBody>
          <a:bodyPr/>
          <a:lstStyle>
            <a:lvl1pPr>
              <a:defRPr/>
            </a:lvl1pPr>
          </a:lstStyle>
          <a:p>
            <a:endParaRPr lang="en-GB" dirty="0"/>
          </a:p>
        </p:txBody>
      </p:sp>
      <p:sp>
        <p:nvSpPr>
          <p:cNvPr id="9" name="Slide Number Placeholder 5"/>
          <p:cNvSpPr>
            <a:spLocks noGrp="1"/>
          </p:cNvSpPr>
          <p:nvPr>
            <p:ph type="sldNum" sz="quarter" idx="12"/>
          </p:nvPr>
        </p:nvSpPr>
        <p:spPr/>
        <p:txBody>
          <a:bodyPr/>
          <a:lstStyle>
            <a:lvl1pPr>
              <a:defRPr/>
            </a:lvl1pPr>
          </a:lstStyle>
          <a:p>
            <a:fld id="{8692BDDC-0BFC-44A0-A4BA-47C3E99EB1AA}" type="slidenum">
              <a:rPr lang="en-GB"/>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endParaRPr lang="en-GB" dirty="0"/>
          </a:p>
        </p:txBody>
      </p:sp>
      <p:sp>
        <p:nvSpPr>
          <p:cNvPr id="3" name="Date Placeholder 3"/>
          <p:cNvSpPr>
            <a:spLocks noGrp="1"/>
          </p:cNvSpPr>
          <p:nvPr>
            <p:ph type="dt" sz="half" idx="10"/>
          </p:nvPr>
        </p:nvSpPr>
        <p:spPr/>
        <p:txBody>
          <a:bodyPr/>
          <a:lstStyle>
            <a:lvl1pPr>
              <a:defRPr/>
            </a:lvl1pPr>
          </a:lstStyle>
          <a:p>
            <a:fld id="{CFE8F7DA-80EC-4CF7-AB7B-078F533B953B}" type="datetimeFigureOut">
              <a:rPr lang="en-GB"/>
              <a:pPr/>
              <a:t>14/08/2026</a:t>
            </a:fld>
            <a:endParaRPr lang="en-GB" dirty="0"/>
          </a:p>
        </p:txBody>
      </p:sp>
      <p:sp>
        <p:nvSpPr>
          <p:cNvPr id="4" name="Footer Placeholder 4"/>
          <p:cNvSpPr>
            <a:spLocks noGrp="1"/>
          </p:cNvSpPr>
          <p:nvPr>
            <p:ph type="ftr" sz="quarter" idx="11"/>
          </p:nvPr>
        </p:nvSpPr>
        <p:spPr/>
        <p:txBody>
          <a:bodyPr/>
          <a:lstStyle>
            <a:lvl1pPr>
              <a:defRPr/>
            </a:lvl1pPr>
          </a:lstStyle>
          <a:p>
            <a:endParaRPr lang="en-GB" dirty="0"/>
          </a:p>
        </p:txBody>
      </p:sp>
      <p:sp>
        <p:nvSpPr>
          <p:cNvPr id="5" name="Slide Number Placeholder 5"/>
          <p:cNvSpPr>
            <a:spLocks noGrp="1"/>
          </p:cNvSpPr>
          <p:nvPr>
            <p:ph type="sldNum" sz="quarter" idx="12"/>
          </p:nvPr>
        </p:nvSpPr>
        <p:spPr/>
        <p:txBody>
          <a:bodyPr/>
          <a:lstStyle>
            <a:lvl1pPr>
              <a:defRPr/>
            </a:lvl1pPr>
          </a:lstStyle>
          <a:p>
            <a:fld id="{F74E6293-7DA2-4D9E-8605-5715E69AF2C7}" type="slidenum">
              <a:rPr lang="en-GB"/>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1AE269B-21F6-4A71-848B-6E891C314B78}" type="datetimeFigureOut">
              <a:rPr lang="en-GB"/>
              <a:pPr/>
              <a:t>14/08/2026</a:t>
            </a:fld>
            <a:endParaRPr lang="en-GB" dirty="0"/>
          </a:p>
        </p:txBody>
      </p:sp>
      <p:sp>
        <p:nvSpPr>
          <p:cNvPr id="3" name="Footer Placeholder 4"/>
          <p:cNvSpPr>
            <a:spLocks noGrp="1"/>
          </p:cNvSpPr>
          <p:nvPr>
            <p:ph type="ftr" sz="quarter" idx="11"/>
          </p:nvPr>
        </p:nvSpPr>
        <p:spPr/>
        <p:txBody>
          <a:bodyPr/>
          <a:lstStyle>
            <a:lvl1pPr>
              <a:defRPr/>
            </a:lvl1pPr>
          </a:lstStyle>
          <a:p>
            <a:endParaRPr lang="en-GB" dirty="0"/>
          </a:p>
        </p:txBody>
      </p:sp>
      <p:sp>
        <p:nvSpPr>
          <p:cNvPr id="4" name="Slide Number Placeholder 5"/>
          <p:cNvSpPr>
            <a:spLocks noGrp="1"/>
          </p:cNvSpPr>
          <p:nvPr>
            <p:ph type="sldNum" sz="quarter" idx="12"/>
          </p:nvPr>
        </p:nvSpPr>
        <p:spPr/>
        <p:txBody>
          <a:bodyPr/>
          <a:lstStyle>
            <a:lvl1pPr>
              <a:defRPr/>
            </a:lvl1pPr>
          </a:lstStyle>
          <a:p>
            <a:fld id="{32789173-A1D5-421E-B384-2A426DF314C2}" type="slidenum">
              <a:rPr lang="en-GB"/>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5536" y="1186830"/>
            <a:ext cx="3008313" cy="1162050"/>
          </a:xfrm>
        </p:spPr>
        <p:txBody>
          <a:bodyPr anchor="b"/>
          <a:lstStyle>
            <a:lvl1pPr algn="l">
              <a:defRPr sz="3200" b="1"/>
            </a:lvl1pPr>
          </a:lstStyle>
          <a:p>
            <a:r>
              <a:rPr lang="en-US" dirty="0"/>
              <a:t>Click to edit Master title style</a:t>
            </a:r>
            <a:endParaRPr lang="en-GB" dirty="0"/>
          </a:p>
        </p:txBody>
      </p:sp>
      <p:sp>
        <p:nvSpPr>
          <p:cNvPr id="3" name="Content Placeholder 2"/>
          <p:cNvSpPr>
            <a:spLocks noGrp="1"/>
          </p:cNvSpPr>
          <p:nvPr>
            <p:ph idx="1"/>
          </p:nvPr>
        </p:nvSpPr>
        <p:spPr>
          <a:xfrm>
            <a:off x="3575050" y="1196752"/>
            <a:ext cx="5111750" cy="492941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3"/>
          <p:cNvSpPr>
            <a:spLocks noGrp="1"/>
          </p:cNvSpPr>
          <p:nvPr>
            <p:ph type="dt" sz="half" idx="10"/>
          </p:nvPr>
        </p:nvSpPr>
        <p:spPr/>
        <p:txBody>
          <a:bodyPr/>
          <a:lstStyle>
            <a:lvl1pPr>
              <a:defRPr/>
            </a:lvl1pPr>
          </a:lstStyle>
          <a:p>
            <a:fld id="{B89648B1-3911-4AC2-8E3A-DF4A70CC86E7}" type="datetimeFigureOut">
              <a:rPr lang="en-GB"/>
              <a:pPr/>
              <a:t>14/08/2026</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C853D388-5704-4C64-A883-D899E8570667}" type="slidenum">
              <a:rPr lang="en-GB"/>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62AAA9A3-945F-42AF-BCAE-8459AEA58868}" type="datetimeFigureOut">
              <a:rPr lang="en-GB"/>
              <a:pPr/>
              <a:t>14/08/2026</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5E74E2F5-7E8D-47B8-82FB-3832A72B6BDB}" type="slidenum">
              <a:rPr lang="en-GB"/>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lvl1pPr>
              <a:defRPr sz="32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98FF8105-8845-4543-9ED8-9E57E8E42CB7}" type="datetimeFigureOut">
              <a:rPr lang="en-GB"/>
              <a:pPr/>
              <a:t>14/08/2026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58FF8E4D-CDF4-4B1F-BD52-35BFB528DB87}" type="slidenum">
              <a:rPr lang="en-GB"/>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56792"/>
            <a:ext cx="2057400" cy="4569371"/>
          </a:xfrm>
        </p:spPr>
        <p:txBody>
          <a:bodyPr vert="eaVert"/>
          <a:lstStyle>
            <a:lvl1pPr>
              <a:defRPr sz="3200"/>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556792"/>
            <a:ext cx="6019800" cy="4569371"/>
          </a:xfrm>
        </p:spPr>
        <p:txBody>
          <a:bodyPr vert="eaVert"/>
          <a:lstStyle>
            <a:lvl1pPr>
              <a:defRPr sz="28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08976883-B614-42E6-9595-363FA777B038}" type="datetimeFigureOut">
              <a:rPr lang="en-GB"/>
              <a:pPr/>
              <a:t>14/08/2026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86915344-E335-44E9-ACDC-CB4826450486}" type="slidenum">
              <a:rPr lang="en-GB"/>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67544" y="1268760"/>
            <a:ext cx="584299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GB" dirty="0"/>
          </a:p>
        </p:txBody>
      </p:sp>
      <p:sp>
        <p:nvSpPr>
          <p:cNvPr id="1027" name="Text Placeholder 2"/>
          <p:cNvSpPr>
            <a:spLocks noGrp="1"/>
          </p:cNvSpPr>
          <p:nvPr>
            <p:ph type="body" idx="1"/>
          </p:nvPr>
        </p:nvSpPr>
        <p:spPr bwMode="auto">
          <a:xfrm>
            <a:off x="457200" y="2492896"/>
            <a:ext cx="8229600" cy="36332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456A7D1D-6254-4063-974C-6A2AE04E4B91}" type="datetimeFigureOut">
              <a:rPr lang="en-GB"/>
              <a:pPr/>
              <a:t>14/08/2026</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34" charset="0"/>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fld id="{26878614-5F41-4702-8E44-D9C8B2874F5D}" type="slidenum">
              <a:rPr lang="en-GB"/>
              <a:pPr/>
              <a:t>‹#›</a:t>
            </a:fld>
            <a:endParaRPr lang="en-GB" dirty="0"/>
          </a:p>
        </p:txBody>
      </p:sp>
      <p:pic>
        <p:nvPicPr>
          <p:cNvPr id="7" name="Picture 5" descr="TAB_col_white_background.eps"/>
          <p:cNvPicPr>
            <a:picLocks noChangeAspect="1"/>
          </p:cNvPicPr>
          <p:nvPr userDrawn="1"/>
        </p:nvPicPr>
        <p:blipFill>
          <a:blip r:embed="rId13" cstate="print"/>
          <a:srcRect/>
          <a:stretch>
            <a:fillRect/>
          </a:stretch>
        </p:blipFill>
        <p:spPr bwMode="auto">
          <a:xfrm>
            <a:off x="523875" y="509588"/>
            <a:ext cx="1663700" cy="7112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200" b="1" kern="1200">
          <a:solidFill>
            <a:schemeClr val="tx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15.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6"/>
          <p:cNvSpPr>
            <a:spLocks noChangeArrowheads="1"/>
          </p:cNvSpPr>
          <p:nvPr/>
        </p:nvSpPr>
        <p:spPr bwMode="auto">
          <a:xfrm>
            <a:off x="406400" y="2152689"/>
            <a:ext cx="8218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defRPr/>
            </a:pPr>
            <a:r>
              <a:rPr lang="en-GB" sz="3000" b="1" dirty="0">
                <a:solidFill>
                  <a:schemeClr val="tx1">
                    <a:lumMod val="65000"/>
                    <a:lumOff val="35000"/>
                  </a:schemeClr>
                </a:solidFill>
                <a:latin typeface="Arial"/>
                <a:cs typeface="Arial"/>
              </a:rPr>
              <a:t>Introduction to ML projects</a:t>
            </a:r>
          </a:p>
        </p:txBody>
      </p:sp>
      <p:sp>
        <p:nvSpPr>
          <p:cNvPr id="15362" name="Rectangle 7"/>
          <p:cNvSpPr>
            <a:spLocks noChangeArrowheads="1"/>
          </p:cNvSpPr>
          <p:nvPr/>
        </p:nvSpPr>
        <p:spPr bwMode="auto">
          <a:xfrm>
            <a:off x="406400" y="4295775"/>
            <a:ext cx="8414072" cy="1381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en-GB" sz="2400" dirty="0">
                <a:solidFill>
                  <a:srgbClr val="595959"/>
                </a:solidFill>
                <a:cs typeface="Arial" charset="0"/>
              </a:rPr>
              <a:t>M. Beneitez – </a:t>
            </a:r>
            <a:r>
              <a:rPr lang="en-GB" sz="2400" dirty="0" err="1">
                <a:solidFill>
                  <a:srgbClr val="595959"/>
                </a:solidFill>
                <a:cs typeface="Arial" charset="0"/>
              </a:rPr>
              <a:t>miguel.beneitez@manchester.ac.uk</a:t>
            </a:r>
            <a:endParaRPr lang="en-GB" sz="2400" dirty="0">
              <a:solidFill>
                <a:srgbClr val="595959"/>
              </a:solidFill>
              <a:cs typeface="Arial" charset="0"/>
            </a:endParaRPr>
          </a:p>
          <a:p>
            <a:pPr>
              <a:lnSpc>
                <a:spcPct val="120000"/>
              </a:lnSpc>
            </a:pPr>
            <a:r>
              <a:rPr lang="en-GB" sz="2400" dirty="0">
                <a:solidFill>
                  <a:srgbClr val="595959"/>
                </a:solidFill>
                <a:cs typeface="Arial" charset="0"/>
              </a:rPr>
              <a:t>Summer School in Hands-on ML 2026</a:t>
            </a:r>
          </a:p>
          <a:p>
            <a:pPr>
              <a:lnSpc>
                <a:spcPct val="120000"/>
              </a:lnSpc>
            </a:pPr>
            <a:endParaRPr lang="en-GB" sz="2400" dirty="0">
              <a:solidFill>
                <a:srgbClr val="595959"/>
              </a:solidFill>
              <a:cs typeface="Arial" charset="0"/>
            </a:endParaRPr>
          </a:p>
        </p:txBody>
      </p:sp>
      <p:cxnSp>
        <p:nvCxnSpPr>
          <p:cNvPr id="10" name="Straight Connector 9"/>
          <p:cNvCxnSpPr>
            <a:cxnSpLocks noChangeShapeType="1"/>
          </p:cNvCxnSpPr>
          <p:nvPr/>
        </p:nvCxnSpPr>
        <p:spPr bwMode="auto">
          <a:xfrm>
            <a:off x="519113" y="2809875"/>
            <a:ext cx="7013575"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pic>
        <p:nvPicPr>
          <p:cNvPr id="15364" name="Picture 2" descr="TAB_col_white_background.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3875" y="509588"/>
            <a:ext cx="16637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6689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5E3-A5DE-691F-D9FB-9E060D01C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9FBB3-AC91-6AB3-F980-2008F4A053E0}"/>
              </a:ext>
            </a:extLst>
          </p:cNvPr>
          <p:cNvSpPr>
            <a:spLocks noGrp="1"/>
          </p:cNvSpPr>
          <p:nvPr>
            <p:ph type="title"/>
          </p:nvPr>
        </p:nvSpPr>
        <p:spPr>
          <a:xfrm>
            <a:off x="2493005" y="236425"/>
            <a:ext cx="5842992" cy="1143000"/>
          </a:xfrm>
        </p:spPr>
        <p:txBody>
          <a:bodyPr/>
          <a:lstStyle/>
          <a:p>
            <a:r>
              <a:rPr lang="en-US" dirty="0"/>
              <a:t>Project choices</a:t>
            </a:r>
          </a:p>
        </p:txBody>
      </p:sp>
      <p:sp>
        <p:nvSpPr>
          <p:cNvPr id="3" name="Content Placeholder 2">
            <a:extLst>
              <a:ext uri="{FF2B5EF4-FFF2-40B4-BE49-F238E27FC236}">
                <a16:creationId xmlns:a16="http://schemas.microsoft.com/office/drawing/2014/main" id="{D7FB8FDE-5607-C10D-E593-16072F2CFE0E}"/>
              </a:ext>
            </a:extLst>
          </p:cNvPr>
          <p:cNvSpPr>
            <a:spLocks noGrp="1"/>
          </p:cNvSpPr>
          <p:nvPr>
            <p:ph idx="1"/>
          </p:nvPr>
        </p:nvSpPr>
        <p:spPr>
          <a:xfrm>
            <a:off x="395536" y="1540358"/>
            <a:ext cx="8229600" cy="448482"/>
          </a:xfrm>
        </p:spPr>
        <p:txBody>
          <a:bodyPr/>
          <a:lstStyle/>
          <a:p>
            <a:pPr marL="0" indent="0">
              <a:buNone/>
            </a:pPr>
            <a:r>
              <a:rPr lang="en-US" sz="1600" b="1" dirty="0"/>
              <a:t>Range of projects within MAE (hopefully useful in your own research!)</a:t>
            </a:r>
          </a:p>
          <a:p>
            <a:pPr marL="0" indent="0">
              <a:buNone/>
            </a:pPr>
            <a:endParaRPr lang="en-US" sz="1800" dirty="0"/>
          </a:p>
        </p:txBody>
      </p:sp>
      <p:sp>
        <p:nvSpPr>
          <p:cNvPr id="5" name="Rectangle 4">
            <a:extLst>
              <a:ext uri="{FF2B5EF4-FFF2-40B4-BE49-F238E27FC236}">
                <a16:creationId xmlns:a16="http://schemas.microsoft.com/office/drawing/2014/main" id="{C772667D-BE6A-AD73-7217-3A557C1F2925}"/>
              </a:ext>
            </a:extLst>
          </p:cNvPr>
          <p:cNvSpPr/>
          <p:nvPr/>
        </p:nvSpPr>
        <p:spPr>
          <a:xfrm>
            <a:off x="379474" y="1988840"/>
            <a:ext cx="2736304" cy="3382635"/>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6" name="Rectangle 5">
            <a:extLst>
              <a:ext uri="{FF2B5EF4-FFF2-40B4-BE49-F238E27FC236}">
                <a16:creationId xmlns:a16="http://schemas.microsoft.com/office/drawing/2014/main" id="{AC1551B1-1610-D263-6C70-6443E827FE4A}"/>
              </a:ext>
            </a:extLst>
          </p:cNvPr>
          <p:cNvSpPr/>
          <p:nvPr/>
        </p:nvSpPr>
        <p:spPr>
          <a:xfrm>
            <a:off x="3265136" y="1988840"/>
            <a:ext cx="2736304" cy="336812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2942499-A44A-C9D1-89EF-CB88CD7C18D7}"/>
              </a:ext>
            </a:extLst>
          </p:cNvPr>
          <p:cNvSpPr/>
          <p:nvPr/>
        </p:nvSpPr>
        <p:spPr>
          <a:xfrm>
            <a:off x="6150798" y="1988840"/>
            <a:ext cx="2736304" cy="3328802"/>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79F33F6-F77D-0DD5-6001-46AA8C2F0316}"/>
              </a:ext>
            </a:extLst>
          </p:cNvPr>
          <p:cNvSpPr txBox="1"/>
          <p:nvPr/>
        </p:nvSpPr>
        <p:spPr>
          <a:xfrm>
            <a:off x="488821" y="2276872"/>
            <a:ext cx="2517610" cy="1569660"/>
          </a:xfrm>
          <a:prstGeom prst="rect">
            <a:avLst/>
          </a:prstGeom>
          <a:noFill/>
        </p:spPr>
        <p:txBody>
          <a:bodyPr wrap="square" rtlCol="0">
            <a:spAutoFit/>
          </a:bodyPr>
          <a:lstStyle/>
          <a:p>
            <a:pPr algn="ctr"/>
            <a:r>
              <a:rPr lang="en-US" b="1" dirty="0"/>
              <a:t>Time series and symbolic regression</a:t>
            </a:r>
          </a:p>
          <a:p>
            <a:endParaRPr lang="en-US" dirty="0"/>
          </a:p>
          <a:p>
            <a:pPr algn="ctr"/>
            <a:r>
              <a:rPr lang="en-US" sz="1400" dirty="0">
                <a:solidFill>
                  <a:srgbClr val="7030A0"/>
                </a:solidFill>
              </a:rPr>
              <a:t>Forecast dynamics and discover interpretable equations from data</a:t>
            </a:r>
            <a:endParaRPr lang="en-US" sz="1200" dirty="0"/>
          </a:p>
        </p:txBody>
      </p:sp>
      <p:sp>
        <p:nvSpPr>
          <p:cNvPr id="19" name="TextBox 18">
            <a:extLst>
              <a:ext uri="{FF2B5EF4-FFF2-40B4-BE49-F238E27FC236}">
                <a16:creationId xmlns:a16="http://schemas.microsoft.com/office/drawing/2014/main" id="{AFBDDE42-2F6F-44F9-6B08-6CF334D1E90E}"/>
              </a:ext>
            </a:extLst>
          </p:cNvPr>
          <p:cNvSpPr txBox="1"/>
          <p:nvPr/>
        </p:nvSpPr>
        <p:spPr>
          <a:xfrm>
            <a:off x="528578" y="4723121"/>
            <a:ext cx="2450942" cy="461665"/>
          </a:xfrm>
          <a:prstGeom prst="rect">
            <a:avLst/>
          </a:prstGeom>
          <a:noFill/>
        </p:spPr>
        <p:txBody>
          <a:bodyPr wrap="square">
            <a:spAutoFit/>
          </a:bodyPr>
          <a:lstStyle/>
          <a:p>
            <a:pPr algn="ctr"/>
            <a:r>
              <a:rPr lang="en-US" sz="1200" b="1" dirty="0">
                <a:solidFill>
                  <a:srgbClr val="7030A0"/>
                </a:solidFill>
                <a:sym typeface="Wingdings" pitchFamily="2" charset="2"/>
              </a:rPr>
              <a:t>Projects: </a:t>
            </a:r>
            <a:r>
              <a:rPr lang="en-US" sz="1200" dirty="0">
                <a:sym typeface="Wingdings" pitchFamily="2" charset="2"/>
              </a:rPr>
              <a:t>2, 8, 9, 10, 12, 13, 14, 15</a:t>
            </a:r>
            <a:endParaRPr lang="en-US" sz="1200" dirty="0"/>
          </a:p>
        </p:txBody>
      </p:sp>
      <p:sp>
        <p:nvSpPr>
          <p:cNvPr id="20" name="TextBox 19">
            <a:extLst>
              <a:ext uri="{FF2B5EF4-FFF2-40B4-BE49-F238E27FC236}">
                <a16:creationId xmlns:a16="http://schemas.microsoft.com/office/drawing/2014/main" id="{DC2021B0-A10E-0024-21DF-0F5DC7BA808B}"/>
              </a:ext>
            </a:extLst>
          </p:cNvPr>
          <p:cNvSpPr txBox="1"/>
          <p:nvPr/>
        </p:nvSpPr>
        <p:spPr>
          <a:xfrm>
            <a:off x="3337143" y="2132856"/>
            <a:ext cx="2592290" cy="1569660"/>
          </a:xfrm>
          <a:prstGeom prst="rect">
            <a:avLst/>
          </a:prstGeom>
          <a:noFill/>
        </p:spPr>
        <p:txBody>
          <a:bodyPr wrap="square" rtlCol="0">
            <a:spAutoFit/>
          </a:bodyPr>
          <a:lstStyle/>
          <a:p>
            <a:pPr algn="ctr"/>
            <a:r>
              <a:rPr lang="en-US" b="1" dirty="0"/>
              <a:t>Uncertainty quantification</a:t>
            </a:r>
          </a:p>
          <a:p>
            <a:endParaRPr lang="en-US" dirty="0"/>
          </a:p>
          <a:p>
            <a:pPr algn="ctr"/>
            <a:r>
              <a:rPr lang="en-US" sz="1400" dirty="0">
                <a:solidFill>
                  <a:schemeClr val="tx2">
                    <a:lumMod val="75000"/>
                  </a:schemeClr>
                </a:solidFill>
              </a:rPr>
              <a:t>How much can we trust our predictions and where do we need more data?</a:t>
            </a:r>
            <a:endParaRPr lang="en-US" sz="1200" dirty="0"/>
          </a:p>
        </p:txBody>
      </p:sp>
      <p:sp>
        <p:nvSpPr>
          <p:cNvPr id="21" name="TextBox 20">
            <a:extLst>
              <a:ext uri="{FF2B5EF4-FFF2-40B4-BE49-F238E27FC236}">
                <a16:creationId xmlns:a16="http://schemas.microsoft.com/office/drawing/2014/main" id="{E54BCCB5-6CBD-D6C7-B029-15CC7002206B}"/>
              </a:ext>
            </a:extLst>
          </p:cNvPr>
          <p:cNvSpPr txBox="1"/>
          <p:nvPr/>
        </p:nvSpPr>
        <p:spPr>
          <a:xfrm>
            <a:off x="3443203" y="4472818"/>
            <a:ext cx="2450942" cy="646331"/>
          </a:xfrm>
          <a:prstGeom prst="rect">
            <a:avLst/>
          </a:prstGeom>
          <a:noFill/>
        </p:spPr>
        <p:txBody>
          <a:bodyPr wrap="square">
            <a:spAutoFit/>
          </a:bodyPr>
          <a:lstStyle/>
          <a:p>
            <a:pPr algn="ctr"/>
            <a:r>
              <a:rPr lang="en-US" sz="1200" b="1" dirty="0">
                <a:solidFill>
                  <a:schemeClr val="tx2">
                    <a:lumMod val="75000"/>
                  </a:schemeClr>
                </a:solidFill>
                <a:sym typeface="Wingdings" pitchFamily="2" charset="2"/>
              </a:rPr>
              <a:t>Projects: </a:t>
            </a:r>
            <a:r>
              <a:rPr lang="en-US" sz="1200" dirty="0">
                <a:sym typeface="Wingdings" pitchFamily="2" charset="2"/>
              </a:rPr>
              <a:t>3, 4, 6, 9, 10, 13 (although most projects have an UQ extension!)</a:t>
            </a:r>
            <a:endParaRPr lang="en-US" sz="1200" dirty="0"/>
          </a:p>
        </p:txBody>
      </p:sp>
      <p:sp>
        <p:nvSpPr>
          <p:cNvPr id="22" name="TextBox 21">
            <a:extLst>
              <a:ext uri="{FF2B5EF4-FFF2-40B4-BE49-F238E27FC236}">
                <a16:creationId xmlns:a16="http://schemas.microsoft.com/office/drawing/2014/main" id="{FEC0C8C5-F193-CABC-9B30-724ACF28FD1D}"/>
              </a:ext>
            </a:extLst>
          </p:cNvPr>
          <p:cNvSpPr txBox="1"/>
          <p:nvPr/>
        </p:nvSpPr>
        <p:spPr>
          <a:xfrm>
            <a:off x="6201211" y="2132856"/>
            <a:ext cx="2592290" cy="1785104"/>
          </a:xfrm>
          <a:prstGeom prst="rect">
            <a:avLst/>
          </a:prstGeom>
          <a:noFill/>
        </p:spPr>
        <p:txBody>
          <a:bodyPr wrap="square" rtlCol="0">
            <a:spAutoFit/>
          </a:bodyPr>
          <a:lstStyle/>
          <a:p>
            <a:pPr algn="ctr"/>
            <a:r>
              <a:rPr lang="en-US" b="1" dirty="0"/>
              <a:t>Reinforcement Learning</a:t>
            </a:r>
          </a:p>
          <a:p>
            <a:endParaRPr lang="en-US" dirty="0"/>
          </a:p>
          <a:p>
            <a:pPr algn="ctr"/>
            <a:r>
              <a:rPr lang="en-US" sz="1400" dirty="0">
                <a:sym typeface="Wingdings" pitchFamily="2" charset="2"/>
              </a:rPr>
              <a:t>Learn to act, control, and </a:t>
            </a:r>
            <a:r>
              <a:rPr lang="en-US" sz="1400" dirty="0" err="1">
                <a:sym typeface="Wingdings" pitchFamily="2" charset="2"/>
              </a:rPr>
              <a:t>optimise</a:t>
            </a:r>
            <a:r>
              <a:rPr lang="en-US" sz="1400" dirty="0">
                <a:sym typeface="Wingdings" pitchFamily="2" charset="2"/>
              </a:rPr>
              <a:t> sequentially (teaching systems to do things)</a:t>
            </a:r>
            <a:endParaRPr lang="en-US" sz="1200" dirty="0"/>
          </a:p>
        </p:txBody>
      </p:sp>
      <p:sp>
        <p:nvSpPr>
          <p:cNvPr id="25" name="TextBox 24">
            <a:extLst>
              <a:ext uri="{FF2B5EF4-FFF2-40B4-BE49-F238E27FC236}">
                <a16:creationId xmlns:a16="http://schemas.microsoft.com/office/drawing/2014/main" id="{3636C8AA-5040-C902-55F1-A409A616BFC2}"/>
              </a:ext>
            </a:extLst>
          </p:cNvPr>
          <p:cNvSpPr txBox="1"/>
          <p:nvPr/>
        </p:nvSpPr>
        <p:spPr>
          <a:xfrm>
            <a:off x="6313584" y="4457873"/>
            <a:ext cx="2450942" cy="461665"/>
          </a:xfrm>
          <a:prstGeom prst="rect">
            <a:avLst/>
          </a:prstGeom>
          <a:noFill/>
        </p:spPr>
        <p:txBody>
          <a:bodyPr wrap="square">
            <a:spAutoFit/>
          </a:bodyPr>
          <a:lstStyle/>
          <a:p>
            <a:pPr algn="ctr"/>
            <a:r>
              <a:rPr lang="en-US" sz="1200" b="1" dirty="0">
                <a:solidFill>
                  <a:schemeClr val="accent6">
                    <a:lumMod val="75000"/>
                  </a:schemeClr>
                </a:solidFill>
                <a:sym typeface="Wingdings" pitchFamily="2" charset="2"/>
              </a:rPr>
              <a:t>Projects: </a:t>
            </a:r>
            <a:r>
              <a:rPr lang="en-US" sz="1200" b="1" dirty="0">
                <a:sym typeface="Wingdings" pitchFamily="2" charset="2"/>
              </a:rPr>
              <a:t>1, 5, 7, 11</a:t>
            </a:r>
            <a:endParaRPr lang="en-US" sz="1200" dirty="0"/>
          </a:p>
          <a:p>
            <a:pPr algn="ctr"/>
            <a:endParaRPr lang="en-US" sz="1200" dirty="0"/>
          </a:p>
        </p:txBody>
      </p:sp>
      <p:sp>
        <p:nvSpPr>
          <p:cNvPr id="26" name="Content Placeholder 2">
            <a:extLst>
              <a:ext uri="{FF2B5EF4-FFF2-40B4-BE49-F238E27FC236}">
                <a16:creationId xmlns:a16="http://schemas.microsoft.com/office/drawing/2014/main" id="{E1F18DCE-A4F5-73E0-2460-327BBD963E5B}"/>
              </a:ext>
            </a:extLst>
          </p:cNvPr>
          <p:cNvSpPr txBox="1">
            <a:spLocks/>
          </p:cNvSpPr>
          <p:nvPr/>
        </p:nvSpPr>
        <p:spPr bwMode="auto">
          <a:xfrm>
            <a:off x="395536" y="5733256"/>
            <a:ext cx="8352928"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Groups of 2-3 people (ideally) you are also welcome to work individually. If you have your own data or project linked to your research, talk to us!</a:t>
            </a:r>
            <a:endParaRPr lang="en-US" sz="1600" dirty="0">
              <a:solidFill>
                <a:srgbClr val="7030A0"/>
              </a:solidFill>
            </a:endParaRPr>
          </a:p>
        </p:txBody>
      </p:sp>
    </p:spTree>
    <p:extLst>
      <p:ext uri="{BB962C8B-B14F-4D97-AF65-F5344CB8AC3E}">
        <p14:creationId xmlns:p14="http://schemas.microsoft.com/office/powerpoint/2010/main" val="3886158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B53AD-C80A-8C7D-E588-AE2D4AC0A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0E457-1003-C927-D958-0A165B893857}"/>
              </a:ext>
            </a:extLst>
          </p:cNvPr>
          <p:cNvSpPr>
            <a:spLocks noGrp="1"/>
          </p:cNvSpPr>
          <p:nvPr>
            <p:ph type="title"/>
          </p:nvPr>
        </p:nvSpPr>
        <p:spPr>
          <a:xfrm>
            <a:off x="2493005" y="236425"/>
            <a:ext cx="5842992" cy="1143000"/>
          </a:xfrm>
        </p:spPr>
        <p:txBody>
          <a:bodyPr/>
          <a:lstStyle/>
          <a:p>
            <a:r>
              <a:rPr lang="en-US" dirty="0"/>
              <a:t>Project choices</a:t>
            </a:r>
          </a:p>
        </p:txBody>
      </p:sp>
      <p:sp>
        <p:nvSpPr>
          <p:cNvPr id="3" name="Content Placeholder 2">
            <a:extLst>
              <a:ext uri="{FF2B5EF4-FFF2-40B4-BE49-F238E27FC236}">
                <a16:creationId xmlns:a16="http://schemas.microsoft.com/office/drawing/2014/main" id="{3B68FC0A-E3CD-1BC4-D0F5-1A66AA9D24C2}"/>
              </a:ext>
            </a:extLst>
          </p:cNvPr>
          <p:cNvSpPr>
            <a:spLocks noGrp="1"/>
          </p:cNvSpPr>
          <p:nvPr>
            <p:ph idx="1"/>
          </p:nvPr>
        </p:nvSpPr>
        <p:spPr>
          <a:xfrm>
            <a:off x="395536" y="1540358"/>
            <a:ext cx="8229600" cy="448482"/>
          </a:xfrm>
        </p:spPr>
        <p:txBody>
          <a:bodyPr/>
          <a:lstStyle/>
          <a:p>
            <a:pPr marL="0" indent="0">
              <a:buNone/>
            </a:pPr>
            <a:r>
              <a:rPr lang="en-US" sz="1600" b="1" dirty="0"/>
              <a:t>Range of projects within MAE (hopefully useful in your own research!)</a:t>
            </a:r>
          </a:p>
          <a:p>
            <a:pPr marL="0" indent="0">
              <a:buNone/>
            </a:pPr>
            <a:endParaRPr lang="en-US" sz="1800" dirty="0"/>
          </a:p>
        </p:txBody>
      </p:sp>
      <p:sp>
        <p:nvSpPr>
          <p:cNvPr id="26" name="Content Placeholder 2">
            <a:extLst>
              <a:ext uri="{FF2B5EF4-FFF2-40B4-BE49-F238E27FC236}">
                <a16:creationId xmlns:a16="http://schemas.microsoft.com/office/drawing/2014/main" id="{2267D92C-23BD-A8B0-DF78-91380F119870}"/>
              </a:ext>
            </a:extLst>
          </p:cNvPr>
          <p:cNvSpPr txBox="1">
            <a:spLocks/>
          </p:cNvSpPr>
          <p:nvPr/>
        </p:nvSpPr>
        <p:spPr bwMode="auto">
          <a:xfrm>
            <a:off x="395536" y="1969882"/>
            <a:ext cx="8352928" cy="40514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Groups of 2-3 people (ideally) you are also welcome to work individually. If you have your own data or project linked to your research, talk to us!</a:t>
            </a:r>
          </a:p>
          <a:p>
            <a:pPr marL="0" indent="0">
              <a:buFont typeface="Arial" pitchFamily="34" charset="0"/>
              <a:buNone/>
            </a:pPr>
            <a:endParaRPr lang="en-US" sz="1600" b="1" dirty="0">
              <a:solidFill>
                <a:srgbClr val="7030A0"/>
              </a:solidFill>
            </a:endParaRPr>
          </a:p>
          <a:p>
            <a:pPr marL="0" indent="0">
              <a:buFont typeface="Arial" pitchFamily="34" charset="0"/>
              <a:buNone/>
            </a:pPr>
            <a:r>
              <a:rPr lang="en-US" sz="1600" b="1" dirty="0">
                <a:solidFill>
                  <a:srgbClr val="7030A0"/>
                </a:solidFill>
              </a:rPr>
              <a:t>GOAL: </a:t>
            </a:r>
            <a:r>
              <a:rPr lang="en-US" sz="1600" dirty="0"/>
              <a:t>Kick-start an ML project entirely on your own, with hands-on experience, show a working pipeline, and give a starting point to develop further</a:t>
            </a:r>
          </a:p>
          <a:p>
            <a:pPr marL="0" indent="0">
              <a:buFont typeface="Arial" pitchFamily="34" charset="0"/>
              <a:buNone/>
            </a:pPr>
            <a:endParaRPr lang="en-US" sz="1600" dirty="0"/>
          </a:p>
          <a:p>
            <a:pPr marL="0" indent="0">
              <a:buFont typeface="Arial" pitchFamily="34" charset="0"/>
              <a:buNone/>
            </a:pPr>
            <a:r>
              <a:rPr lang="en-US" sz="1600" b="1" dirty="0">
                <a:solidFill>
                  <a:srgbClr val="7030A0"/>
                </a:solidFill>
              </a:rPr>
              <a:t>PRESENTATION: </a:t>
            </a:r>
            <a:r>
              <a:rPr lang="en-US" sz="1600" dirty="0"/>
              <a:t>Present your problem, approach (how to formulate what you want to do as an ML/</a:t>
            </a:r>
            <a:r>
              <a:rPr lang="en-US" sz="1600" dirty="0" err="1"/>
              <a:t>Optimisation</a:t>
            </a:r>
            <a:r>
              <a:rPr lang="en-US" sz="1600" dirty="0"/>
              <a:t> problem), difficulties and pitfalls. </a:t>
            </a:r>
            <a:r>
              <a:rPr lang="en-US" sz="1600" dirty="0">
                <a:solidFill>
                  <a:srgbClr val="7030A0"/>
                </a:solidFill>
              </a:rPr>
              <a:t>Gift card for best presentation/work!</a:t>
            </a:r>
            <a:endParaRPr lang="en-US" sz="1600" b="1" dirty="0">
              <a:solidFill>
                <a:srgbClr val="7030A0"/>
              </a:solidFill>
            </a:endParaRPr>
          </a:p>
          <a:p>
            <a:pPr marL="0" indent="0">
              <a:buFont typeface="Arial" pitchFamily="34" charset="0"/>
              <a:buNone/>
            </a:pPr>
            <a:endParaRPr lang="en-US" sz="1600" dirty="0"/>
          </a:p>
          <a:p>
            <a:r>
              <a:rPr lang="en-US" sz="1600" dirty="0"/>
              <a:t>NOT graded</a:t>
            </a:r>
          </a:p>
          <a:p>
            <a:r>
              <a:rPr lang="en-US" sz="1600" dirty="0"/>
              <a:t>NOT required to fully work</a:t>
            </a:r>
          </a:p>
          <a:p>
            <a:r>
              <a:rPr lang="en-US" sz="1600" dirty="0"/>
              <a:t>NOT required to be the best possible model</a:t>
            </a:r>
          </a:p>
          <a:p>
            <a:endParaRPr lang="en-US" sz="1600" dirty="0"/>
          </a:p>
          <a:p>
            <a:pPr marL="0" indent="0">
              <a:buNone/>
            </a:pPr>
            <a:endParaRPr lang="en-US" sz="1600" dirty="0"/>
          </a:p>
          <a:p>
            <a:pPr marL="0" indent="0">
              <a:buFont typeface="Arial" pitchFamily="34" charset="0"/>
              <a:buNone/>
            </a:pPr>
            <a:endParaRPr lang="en-US" sz="1600" dirty="0">
              <a:solidFill>
                <a:srgbClr val="7030A0"/>
              </a:solidFill>
            </a:endParaRPr>
          </a:p>
        </p:txBody>
      </p:sp>
    </p:spTree>
    <p:extLst>
      <p:ext uri="{BB962C8B-B14F-4D97-AF65-F5344CB8AC3E}">
        <p14:creationId xmlns:p14="http://schemas.microsoft.com/office/powerpoint/2010/main" val="3873455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5670-4610-7BAA-D63F-369E137F4D4F}"/>
            </a:ext>
          </a:extLst>
        </p:cNvPr>
        <p:cNvGrpSpPr/>
        <p:nvPr/>
      </p:nvGrpSpPr>
      <p:grpSpPr>
        <a:xfrm>
          <a:off x="0" y="0"/>
          <a:ext cx="0" cy="0"/>
          <a:chOff x="0" y="0"/>
          <a:chExt cx="0" cy="0"/>
        </a:xfrm>
      </p:grpSpPr>
      <p:sp>
        <p:nvSpPr>
          <p:cNvPr id="4" name="Shape 4">
            <a:extLst>
              <a:ext uri="{FF2B5EF4-FFF2-40B4-BE49-F238E27FC236}">
                <a16:creationId xmlns:a16="http://schemas.microsoft.com/office/drawing/2014/main" id="{3F336026-A1A2-E168-E3AB-37E29FE9F7B2}"/>
              </a:ext>
            </a:extLst>
          </p:cNvPr>
          <p:cNvSpPr/>
          <p:nvPr/>
        </p:nvSpPr>
        <p:spPr>
          <a:xfrm>
            <a:off x="359826" y="1384226"/>
            <a:ext cx="8532654" cy="5141118"/>
          </a:xfrm>
          <a:prstGeom prst="roundRect">
            <a:avLst>
              <a:gd name="adj" fmla="val 1957"/>
            </a:avLst>
          </a:prstGeom>
          <a:solidFill>
            <a:srgbClr val="FFFFFF"/>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2" name="Title 1">
            <a:extLst>
              <a:ext uri="{FF2B5EF4-FFF2-40B4-BE49-F238E27FC236}">
                <a16:creationId xmlns:a16="http://schemas.microsoft.com/office/drawing/2014/main" id="{D48AEF96-38FA-5F98-1421-88DC6DCC8166}"/>
              </a:ext>
            </a:extLst>
          </p:cNvPr>
          <p:cNvSpPr>
            <a:spLocks noGrp="1"/>
          </p:cNvSpPr>
          <p:nvPr>
            <p:ph type="title"/>
          </p:nvPr>
        </p:nvSpPr>
        <p:spPr>
          <a:xfrm>
            <a:off x="2493005" y="236425"/>
            <a:ext cx="5842992" cy="1143000"/>
          </a:xfrm>
        </p:spPr>
        <p:txBody>
          <a:bodyPr/>
          <a:lstStyle/>
          <a:p>
            <a:r>
              <a:rPr lang="en-US" dirty="0"/>
              <a:t>Project technicalities</a:t>
            </a:r>
          </a:p>
        </p:txBody>
      </p:sp>
      <p:sp>
        <p:nvSpPr>
          <p:cNvPr id="3" name="Content Placeholder 2">
            <a:extLst>
              <a:ext uri="{FF2B5EF4-FFF2-40B4-BE49-F238E27FC236}">
                <a16:creationId xmlns:a16="http://schemas.microsoft.com/office/drawing/2014/main" id="{3D82145E-6634-711B-4548-633CAE288E6A}"/>
              </a:ext>
            </a:extLst>
          </p:cNvPr>
          <p:cNvSpPr>
            <a:spLocks noGrp="1"/>
          </p:cNvSpPr>
          <p:nvPr>
            <p:ph idx="1"/>
          </p:nvPr>
        </p:nvSpPr>
        <p:spPr>
          <a:xfrm>
            <a:off x="1507120" y="1596145"/>
            <a:ext cx="8229600" cy="448482"/>
          </a:xfrm>
        </p:spPr>
        <p:txBody>
          <a:bodyPr/>
          <a:lstStyle/>
          <a:p>
            <a:pPr marL="0" indent="0">
              <a:buNone/>
            </a:pPr>
            <a:r>
              <a:rPr lang="en-US" sz="1600" b="1" dirty="0"/>
              <a:t>Please use the </a:t>
            </a:r>
            <a:r>
              <a:rPr lang="en-US" sz="1600" b="1" dirty="0" err="1"/>
              <a:t>MaSC</a:t>
            </a:r>
            <a:r>
              <a:rPr lang="en-US" sz="1600" b="1" dirty="0"/>
              <a:t> portal if possible</a:t>
            </a:r>
          </a:p>
          <a:p>
            <a:pPr marL="0" indent="0">
              <a:buNone/>
            </a:pPr>
            <a:endParaRPr lang="en-US" sz="1800" dirty="0"/>
          </a:p>
        </p:txBody>
      </p:sp>
      <p:sp>
        <p:nvSpPr>
          <p:cNvPr id="26" name="Content Placeholder 2">
            <a:extLst>
              <a:ext uri="{FF2B5EF4-FFF2-40B4-BE49-F238E27FC236}">
                <a16:creationId xmlns:a16="http://schemas.microsoft.com/office/drawing/2014/main" id="{9F8D4CFA-5ACE-4A72-8316-DE39BC63D550}"/>
              </a:ext>
            </a:extLst>
          </p:cNvPr>
          <p:cNvSpPr txBox="1">
            <a:spLocks/>
          </p:cNvSpPr>
          <p:nvPr/>
        </p:nvSpPr>
        <p:spPr bwMode="auto">
          <a:xfrm>
            <a:off x="657007" y="2210331"/>
            <a:ext cx="7678990" cy="40514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Basic ML packages should be available (check with TAs if support is needed).</a:t>
            </a:r>
          </a:p>
          <a:p>
            <a:pPr marL="0" indent="0">
              <a:buFont typeface="Arial" pitchFamily="34" charset="0"/>
              <a:buNone/>
            </a:pPr>
            <a:endParaRPr lang="en-US" sz="1600" dirty="0"/>
          </a:p>
          <a:p>
            <a:r>
              <a:rPr lang="en-US" sz="1600" dirty="0"/>
              <a:t>128 cores reserved for applications</a:t>
            </a:r>
          </a:p>
          <a:p>
            <a:r>
              <a:rPr lang="en-US" sz="1600" dirty="0"/>
              <a:t>4 GPUs</a:t>
            </a:r>
          </a:p>
          <a:p>
            <a:endParaRPr lang="en-US" sz="1600" dirty="0"/>
          </a:p>
          <a:p>
            <a:pPr marL="0" indent="0">
              <a:buNone/>
            </a:pPr>
            <a:r>
              <a:rPr lang="en-US" sz="1600" dirty="0" err="1"/>
              <a:t>MaSC</a:t>
            </a:r>
            <a:r>
              <a:rPr lang="en-US" sz="1600" dirty="0"/>
              <a:t> portal is good for prototyping, but unless required, move production elsewhere, e.g. CSF. Talk to us if you have issues with computing.</a:t>
            </a:r>
          </a:p>
          <a:p>
            <a:pPr marL="0" indent="0">
              <a:buNone/>
            </a:pPr>
            <a:endParaRPr lang="en-US" sz="1600" dirty="0"/>
          </a:p>
          <a:p>
            <a:pPr marL="0" indent="0">
              <a:buNone/>
            </a:pPr>
            <a:r>
              <a:rPr lang="en-US" sz="1600" b="1" dirty="0">
                <a:solidFill>
                  <a:srgbClr val="7030A0"/>
                </a:solidFill>
              </a:rPr>
              <a:t>Today’s intended learning outcomes:</a:t>
            </a:r>
          </a:p>
          <a:p>
            <a:pPr marL="0" indent="0">
              <a:buNone/>
            </a:pPr>
            <a:endParaRPr lang="en-US" sz="1600" b="1" dirty="0">
              <a:solidFill>
                <a:srgbClr val="7030A0"/>
              </a:solidFill>
            </a:endParaRPr>
          </a:p>
          <a:p>
            <a:r>
              <a:rPr lang="en-US" sz="1600" dirty="0"/>
              <a:t>Plan your ML problem</a:t>
            </a:r>
          </a:p>
          <a:p>
            <a:r>
              <a:rPr lang="en-US" sz="1600" dirty="0"/>
              <a:t>How to put our data in an ML friendly way</a:t>
            </a:r>
          </a:p>
          <a:p>
            <a:r>
              <a:rPr lang="en-US" sz="1600" dirty="0"/>
              <a:t>Using git and version control</a:t>
            </a:r>
          </a:p>
          <a:p>
            <a:pPr marL="0" indent="0">
              <a:buFont typeface="Arial" pitchFamily="34" charset="0"/>
              <a:buNone/>
            </a:pPr>
            <a:endParaRPr lang="en-US" sz="1600" dirty="0">
              <a:solidFill>
                <a:srgbClr val="7030A0"/>
              </a:solidFill>
            </a:endParaRPr>
          </a:p>
        </p:txBody>
      </p:sp>
      <p:sp>
        <p:nvSpPr>
          <p:cNvPr id="5" name="Shape 5">
            <a:extLst>
              <a:ext uri="{FF2B5EF4-FFF2-40B4-BE49-F238E27FC236}">
                <a16:creationId xmlns:a16="http://schemas.microsoft.com/office/drawing/2014/main" id="{EB887FA7-08AC-BEEE-AE94-98A72B0626B7}"/>
              </a:ext>
            </a:extLst>
          </p:cNvPr>
          <p:cNvSpPr/>
          <p:nvPr/>
        </p:nvSpPr>
        <p:spPr>
          <a:xfrm>
            <a:off x="657007" y="1528243"/>
            <a:ext cx="594360" cy="594360"/>
          </a:xfrm>
          <a:prstGeom prst="ellipse">
            <a:avLst/>
          </a:prstGeom>
          <a:solidFill>
            <a:srgbClr val="7030A0"/>
          </a:solidFill>
          <a:ln/>
        </p:spPr>
        <p:txBody>
          <a:bodyPr/>
          <a:lstStyle/>
          <a:p>
            <a:endParaRPr lang="en-US"/>
          </a:p>
        </p:txBody>
      </p:sp>
      <p:pic>
        <p:nvPicPr>
          <p:cNvPr id="6" name="Image 0" descr="/home/claude/ml_intro_deck/icons/clipboard_white.png">
            <a:extLst>
              <a:ext uri="{FF2B5EF4-FFF2-40B4-BE49-F238E27FC236}">
                <a16:creationId xmlns:a16="http://schemas.microsoft.com/office/drawing/2014/main" id="{7DA99D7B-E781-729D-FFA0-95BB29B84F80}"/>
              </a:ext>
            </a:extLst>
          </p:cNvPr>
          <p:cNvPicPr>
            <a:picLocks noChangeAspect="1"/>
          </p:cNvPicPr>
          <p:nvPr/>
        </p:nvPicPr>
        <p:blipFill>
          <a:blip r:embed="rId3"/>
          <a:stretch>
            <a:fillRect/>
          </a:stretch>
        </p:blipFill>
        <p:spPr>
          <a:xfrm>
            <a:off x="799653" y="1670889"/>
            <a:ext cx="309067" cy="309067"/>
          </a:xfrm>
          <a:prstGeom prst="rect">
            <a:avLst/>
          </a:prstGeom>
        </p:spPr>
      </p:pic>
    </p:spTree>
    <p:extLst>
      <p:ext uri="{BB962C8B-B14F-4D97-AF65-F5344CB8AC3E}">
        <p14:creationId xmlns:p14="http://schemas.microsoft.com/office/powerpoint/2010/main" val="93973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2CAFF-4E77-5A29-9005-28C483F09A46}"/>
            </a:ext>
          </a:extLst>
        </p:cNvPr>
        <p:cNvGrpSpPr/>
        <p:nvPr/>
      </p:nvGrpSpPr>
      <p:grpSpPr>
        <a:xfrm>
          <a:off x="0" y="0"/>
          <a:ext cx="0" cy="0"/>
          <a:chOff x="0" y="0"/>
          <a:chExt cx="0" cy="0"/>
        </a:xfrm>
      </p:grpSpPr>
      <p:sp>
        <p:nvSpPr>
          <p:cNvPr id="4" name="Shape 4">
            <a:extLst>
              <a:ext uri="{FF2B5EF4-FFF2-40B4-BE49-F238E27FC236}">
                <a16:creationId xmlns:a16="http://schemas.microsoft.com/office/drawing/2014/main" id="{31A829C4-D8CF-9468-FEAF-B05F828CAF0D}"/>
              </a:ext>
            </a:extLst>
          </p:cNvPr>
          <p:cNvSpPr/>
          <p:nvPr/>
        </p:nvSpPr>
        <p:spPr>
          <a:xfrm>
            <a:off x="359826" y="1384226"/>
            <a:ext cx="5292294" cy="5141118"/>
          </a:xfrm>
          <a:prstGeom prst="roundRect">
            <a:avLst>
              <a:gd name="adj" fmla="val 1957"/>
            </a:avLst>
          </a:prstGeom>
          <a:solidFill>
            <a:srgbClr val="FFFFFF"/>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2" name="Title 1">
            <a:extLst>
              <a:ext uri="{FF2B5EF4-FFF2-40B4-BE49-F238E27FC236}">
                <a16:creationId xmlns:a16="http://schemas.microsoft.com/office/drawing/2014/main" id="{5CFC73BA-386C-8B9B-5AB6-CD96BEE212BE}"/>
              </a:ext>
            </a:extLst>
          </p:cNvPr>
          <p:cNvSpPr>
            <a:spLocks noGrp="1"/>
          </p:cNvSpPr>
          <p:nvPr>
            <p:ph type="title"/>
          </p:nvPr>
        </p:nvSpPr>
        <p:spPr>
          <a:xfrm>
            <a:off x="2493005" y="236425"/>
            <a:ext cx="5842992" cy="1143000"/>
          </a:xfrm>
        </p:spPr>
        <p:txBody>
          <a:bodyPr/>
          <a:lstStyle/>
          <a:p>
            <a:r>
              <a:rPr lang="en-US" dirty="0"/>
              <a:t>The project list</a:t>
            </a:r>
          </a:p>
        </p:txBody>
      </p:sp>
      <p:sp>
        <p:nvSpPr>
          <p:cNvPr id="26" name="Content Placeholder 2">
            <a:extLst>
              <a:ext uri="{FF2B5EF4-FFF2-40B4-BE49-F238E27FC236}">
                <a16:creationId xmlns:a16="http://schemas.microsoft.com/office/drawing/2014/main" id="{38E3584B-0CB5-FF23-8A4B-78AEA5688FEF}"/>
              </a:ext>
            </a:extLst>
          </p:cNvPr>
          <p:cNvSpPr txBox="1">
            <a:spLocks/>
          </p:cNvSpPr>
          <p:nvPr/>
        </p:nvSpPr>
        <p:spPr bwMode="auto">
          <a:xfrm>
            <a:off x="1334193" y="1528243"/>
            <a:ext cx="3266921" cy="40514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You might have already selected a project!</a:t>
            </a:r>
          </a:p>
          <a:p>
            <a:pPr marL="0" indent="0">
              <a:buFont typeface="Arial" pitchFamily="34" charset="0"/>
              <a:buNone/>
            </a:pPr>
            <a:endParaRPr lang="en-US" sz="1600" dirty="0"/>
          </a:p>
          <a:p>
            <a:pPr>
              <a:buFont typeface="+mj-lt"/>
              <a:buAutoNum type="arabicPeriod"/>
            </a:pPr>
            <a:r>
              <a:rPr lang="en-US" sz="1200" dirty="0">
                <a:solidFill>
                  <a:srgbClr val="7030A0"/>
                </a:solidFill>
              </a:rPr>
              <a:t>Project description</a:t>
            </a:r>
            <a:r>
              <a:rPr lang="en-US" sz="1200" dirty="0"/>
              <a:t>: what we are supposed to do?</a:t>
            </a:r>
            <a:br>
              <a:rPr lang="en-US" sz="1200" dirty="0"/>
            </a:br>
            <a:endParaRPr lang="en-US" sz="1200" dirty="0"/>
          </a:p>
          <a:p>
            <a:pPr>
              <a:buFont typeface="+mj-lt"/>
              <a:buAutoNum type="arabicPeriod"/>
            </a:pPr>
            <a:r>
              <a:rPr lang="en-US" sz="1200" dirty="0">
                <a:solidFill>
                  <a:srgbClr val="7030A0"/>
                </a:solidFill>
              </a:rPr>
              <a:t>Suggested approach: </a:t>
            </a:r>
            <a:r>
              <a:rPr lang="en-US" sz="1200" dirty="0"/>
              <a:t>some projects already have ideas about how to go on about them</a:t>
            </a:r>
            <a:br>
              <a:rPr lang="en-US" sz="1200" dirty="0"/>
            </a:br>
            <a:endParaRPr lang="en-US" sz="1200" dirty="0"/>
          </a:p>
          <a:p>
            <a:pPr>
              <a:buFont typeface="+mj-lt"/>
              <a:buAutoNum type="arabicPeriod"/>
            </a:pPr>
            <a:r>
              <a:rPr lang="en-US" sz="1200" dirty="0">
                <a:solidFill>
                  <a:srgbClr val="7030A0"/>
                </a:solidFill>
              </a:rPr>
              <a:t>Suggested dataset: </a:t>
            </a:r>
            <a:r>
              <a:rPr lang="en-US" sz="1200" dirty="0"/>
              <a:t>which data can we use for the project</a:t>
            </a:r>
            <a:br>
              <a:rPr lang="en-US" sz="1200" dirty="0"/>
            </a:br>
            <a:endParaRPr lang="en-US" sz="1200" dirty="0"/>
          </a:p>
          <a:p>
            <a:pPr>
              <a:buFont typeface="+mj-lt"/>
              <a:buAutoNum type="arabicPeriod"/>
            </a:pPr>
            <a:r>
              <a:rPr lang="en-US" sz="1200" dirty="0">
                <a:solidFill>
                  <a:srgbClr val="7030A0"/>
                </a:solidFill>
              </a:rPr>
              <a:t>Extensions/warm-up problems: </a:t>
            </a:r>
            <a:r>
              <a:rPr lang="en-US" sz="1200" dirty="0"/>
              <a:t>before tackling very hard tasks we might want to test the setup on a simpler problem, or maybe we want to reach further than the current topic.</a:t>
            </a:r>
          </a:p>
          <a:p>
            <a:pPr marL="0" indent="0">
              <a:buFont typeface="Arial" pitchFamily="34" charset="0"/>
              <a:buNone/>
            </a:pPr>
            <a:endParaRPr lang="en-US" sz="1600" dirty="0"/>
          </a:p>
          <a:p>
            <a:pPr marL="0" indent="0">
              <a:buFont typeface="Arial" pitchFamily="34" charset="0"/>
              <a:buNone/>
            </a:pPr>
            <a:endParaRPr lang="en-US" sz="1600" dirty="0"/>
          </a:p>
        </p:txBody>
      </p:sp>
      <p:sp>
        <p:nvSpPr>
          <p:cNvPr id="5" name="Shape 5">
            <a:extLst>
              <a:ext uri="{FF2B5EF4-FFF2-40B4-BE49-F238E27FC236}">
                <a16:creationId xmlns:a16="http://schemas.microsoft.com/office/drawing/2014/main" id="{FDBC2596-79C5-F7F4-31DE-0BF20FD11B13}"/>
              </a:ext>
            </a:extLst>
          </p:cNvPr>
          <p:cNvSpPr/>
          <p:nvPr/>
        </p:nvSpPr>
        <p:spPr>
          <a:xfrm>
            <a:off x="657007" y="1528243"/>
            <a:ext cx="594360" cy="594360"/>
          </a:xfrm>
          <a:prstGeom prst="ellipse">
            <a:avLst/>
          </a:prstGeom>
          <a:solidFill>
            <a:srgbClr val="7030A0"/>
          </a:solidFill>
          <a:ln/>
        </p:spPr>
        <p:txBody>
          <a:bodyPr/>
          <a:lstStyle/>
          <a:p>
            <a:endParaRPr lang="en-US"/>
          </a:p>
        </p:txBody>
      </p:sp>
      <p:pic>
        <p:nvPicPr>
          <p:cNvPr id="6" name="Image 0" descr="/home/claude/ml_intro_deck/icons/clipboard_white.png">
            <a:extLst>
              <a:ext uri="{FF2B5EF4-FFF2-40B4-BE49-F238E27FC236}">
                <a16:creationId xmlns:a16="http://schemas.microsoft.com/office/drawing/2014/main" id="{74464856-0B63-06FF-B6CB-B5549AB9A89C}"/>
              </a:ext>
            </a:extLst>
          </p:cNvPr>
          <p:cNvPicPr>
            <a:picLocks noChangeAspect="1"/>
          </p:cNvPicPr>
          <p:nvPr/>
        </p:nvPicPr>
        <p:blipFill>
          <a:blip r:embed="rId3"/>
          <a:stretch>
            <a:fillRect/>
          </a:stretch>
        </p:blipFill>
        <p:spPr>
          <a:xfrm>
            <a:off x="799653" y="1670889"/>
            <a:ext cx="309067" cy="309067"/>
          </a:xfrm>
          <a:prstGeom prst="rect">
            <a:avLst/>
          </a:prstGeom>
        </p:spPr>
      </p:pic>
      <p:pic>
        <p:nvPicPr>
          <p:cNvPr id="7" name="Picture 6">
            <a:extLst>
              <a:ext uri="{FF2B5EF4-FFF2-40B4-BE49-F238E27FC236}">
                <a16:creationId xmlns:a16="http://schemas.microsoft.com/office/drawing/2014/main" id="{8F41D32D-E0D3-946A-91F0-3B7465544B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8024" y="2492896"/>
            <a:ext cx="3863702" cy="2558397"/>
          </a:xfrm>
          <a:prstGeom prst="rect">
            <a:avLst/>
          </a:prstGeom>
          <a:ln>
            <a:solidFill>
              <a:srgbClr val="7030A0"/>
            </a:solidFill>
          </a:ln>
        </p:spPr>
      </p:pic>
      <p:sp>
        <p:nvSpPr>
          <p:cNvPr id="11" name="TextBox 10">
            <a:extLst>
              <a:ext uri="{FF2B5EF4-FFF2-40B4-BE49-F238E27FC236}">
                <a16:creationId xmlns:a16="http://schemas.microsoft.com/office/drawing/2014/main" id="{2A939964-CDCD-7F4A-2EDC-D8806C1AFEA8}"/>
              </a:ext>
            </a:extLst>
          </p:cNvPr>
          <p:cNvSpPr txBox="1"/>
          <p:nvPr/>
        </p:nvSpPr>
        <p:spPr>
          <a:xfrm>
            <a:off x="539552" y="5473774"/>
            <a:ext cx="5112568" cy="738664"/>
          </a:xfrm>
          <a:prstGeom prst="rect">
            <a:avLst/>
          </a:prstGeom>
          <a:noFill/>
        </p:spPr>
        <p:txBody>
          <a:bodyPr wrap="square">
            <a:spAutoFit/>
          </a:bodyPr>
          <a:lstStyle/>
          <a:p>
            <a:pPr marL="0" indent="0">
              <a:buFont typeface="Arial" pitchFamily="34" charset="0"/>
              <a:buNone/>
            </a:pPr>
            <a:r>
              <a:rPr lang="en-US" sz="1400" dirty="0"/>
              <a:t>In general: </a:t>
            </a:r>
            <a:r>
              <a:rPr lang="en-US" sz="1400" b="1" dirty="0">
                <a:solidFill>
                  <a:srgbClr val="7030A0"/>
                </a:solidFill>
              </a:rPr>
              <a:t>talk to us! </a:t>
            </a:r>
            <a:r>
              <a:rPr lang="en-US" sz="1400" dirty="0"/>
              <a:t>This aims to be as interactive as possible, discussing planning ideas, exploring datasets together aims to be part of the course </a:t>
            </a:r>
          </a:p>
        </p:txBody>
      </p:sp>
    </p:spTree>
    <p:extLst>
      <p:ext uri="{BB962C8B-B14F-4D97-AF65-F5344CB8AC3E}">
        <p14:creationId xmlns:p14="http://schemas.microsoft.com/office/powerpoint/2010/main" val="3293780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B8DEE-9435-E84E-286F-C9E0C83C18DD}"/>
            </a:ext>
          </a:extLst>
        </p:cNvPr>
        <p:cNvGrpSpPr/>
        <p:nvPr/>
      </p:nvGrpSpPr>
      <p:grpSpPr>
        <a:xfrm>
          <a:off x="0" y="0"/>
          <a:ext cx="0" cy="0"/>
          <a:chOff x="0" y="0"/>
          <a:chExt cx="0" cy="0"/>
        </a:xfrm>
      </p:grpSpPr>
      <p:sp>
        <p:nvSpPr>
          <p:cNvPr id="4" name="Shape 4">
            <a:extLst>
              <a:ext uri="{FF2B5EF4-FFF2-40B4-BE49-F238E27FC236}">
                <a16:creationId xmlns:a16="http://schemas.microsoft.com/office/drawing/2014/main" id="{3F8F4F80-6B25-777D-3079-D31A973CF72C}"/>
              </a:ext>
            </a:extLst>
          </p:cNvPr>
          <p:cNvSpPr/>
          <p:nvPr/>
        </p:nvSpPr>
        <p:spPr>
          <a:xfrm>
            <a:off x="359826" y="1384226"/>
            <a:ext cx="5292294" cy="5141118"/>
          </a:xfrm>
          <a:prstGeom prst="roundRect">
            <a:avLst>
              <a:gd name="adj" fmla="val 1957"/>
            </a:avLst>
          </a:prstGeom>
          <a:solidFill>
            <a:srgbClr val="FFFFFF"/>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2" name="Title 1">
            <a:extLst>
              <a:ext uri="{FF2B5EF4-FFF2-40B4-BE49-F238E27FC236}">
                <a16:creationId xmlns:a16="http://schemas.microsoft.com/office/drawing/2014/main" id="{7D7AEDEF-78AF-713E-2794-181CB9012B7A}"/>
              </a:ext>
            </a:extLst>
          </p:cNvPr>
          <p:cNvSpPr>
            <a:spLocks noGrp="1"/>
          </p:cNvSpPr>
          <p:nvPr>
            <p:ph type="title"/>
          </p:nvPr>
        </p:nvSpPr>
        <p:spPr>
          <a:xfrm>
            <a:off x="2493005" y="236425"/>
            <a:ext cx="5842992" cy="1143000"/>
          </a:xfrm>
        </p:spPr>
        <p:txBody>
          <a:bodyPr/>
          <a:lstStyle/>
          <a:p>
            <a:r>
              <a:rPr lang="en-US" dirty="0"/>
              <a:t>A note about </a:t>
            </a:r>
            <a:r>
              <a:rPr lang="en-US" dirty="0" err="1"/>
              <a:t>genAI</a:t>
            </a:r>
            <a:endParaRPr lang="en-US" dirty="0"/>
          </a:p>
        </p:txBody>
      </p:sp>
      <p:sp>
        <p:nvSpPr>
          <p:cNvPr id="5" name="Shape 5">
            <a:extLst>
              <a:ext uri="{FF2B5EF4-FFF2-40B4-BE49-F238E27FC236}">
                <a16:creationId xmlns:a16="http://schemas.microsoft.com/office/drawing/2014/main" id="{AF5D29C6-6AC6-BDFA-2719-87E22F0FAE0D}"/>
              </a:ext>
            </a:extLst>
          </p:cNvPr>
          <p:cNvSpPr/>
          <p:nvPr/>
        </p:nvSpPr>
        <p:spPr>
          <a:xfrm>
            <a:off x="657007" y="1528243"/>
            <a:ext cx="594360" cy="594360"/>
          </a:xfrm>
          <a:prstGeom prst="ellipse">
            <a:avLst/>
          </a:prstGeom>
          <a:solidFill>
            <a:srgbClr val="7030A0"/>
          </a:solidFill>
          <a:ln/>
        </p:spPr>
        <p:txBody>
          <a:bodyPr/>
          <a:lstStyle/>
          <a:p>
            <a:endParaRPr lang="en-US"/>
          </a:p>
        </p:txBody>
      </p:sp>
      <p:pic>
        <p:nvPicPr>
          <p:cNvPr id="6" name="Image 0" descr="/home/claude/ml_intro_deck/icons/clipboard_white.png">
            <a:extLst>
              <a:ext uri="{FF2B5EF4-FFF2-40B4-BE49-F238E27FC236}">
                <a16:creationId xmlns:a16="http://schemas.microsoft.com/office/drawing/2014/main" id="{8B76C86F-FDFB-4CDB-6092-0E17DE589CBC}"/>
              </a:ext>
            </a:extLst>
          </p:cNvPr>
          <p:cNvPicPr>
            <a:picLocks noChangeAspect="1"/>
          </p:cNvPicPr>
          <p:nvPr/>
        </p:nvPicPr>
        <p:blipFill>
          <a:blip r:embed="rId3"/>
          <a:stretch>
            <a:fillRect/>
          </a:stretch>
        </p:blipFill>
        <p:spPr>
          <a:xfrm>
            <a:off x="799653" y="1670889"/>
            <a:ext cx="309067" cy="309067"/>
          </a:xfrm>
          <a:prstGeom prst="rect">
            <a:avLst/>
          </a:prstGeom>
        </p:spPr>
      </p:pic>
      <p:sp>
        <p:nvSpPr>
          <p:cNvPr id="11" name="TextBox 10">
            <a:extLst>
              <a:ext uri="{FF2B5EF4-FFF2-40B4-BE49-F238E27FC236}">
                <a16:creationId xmlns:a16="http://schemas.microsoft.com/office/drawing/2014/main" id="{EE3AE762-2AE2-1F14-5676-115E6712D683}"/>
              </a:ext>
            </a:extLst>
          </p:cNvPr>
          <p:cNvSpPr txBox="1"/>
          <p:nvPr/>
        </p:nvSpPr>
        <p:spPr>
          <a:xfrm>
            <a:off x="656568" y="2452888"/>
            <a:ext cx="4779528" cy="1169551"/>
          </a:xfrm>
          <a:prstGeom prst="rect">
            <a:avLst/>
          </a:prstGeom>
          <a:noFill/>
        </p:spPr>
        <p:txBody>
          <a:bodyPr wrap="square">
            <a:spAutoFit/>
          </a:bodyPr>
          <a:lstStyle/>
          <a:p>
            <a:pPr marL="0" indent="0">
              <a:buFont typeface="Arial" pitchFamily="34" charset="0"/>
              <a:buNone/>
            </a:pPr>
            <a:r>
              <a:rPr lang="en-US" sz="1400" dirty="0"/>
              <a:t>Realistically, a lot of the projects suggested can be done partially/entirely using AI. </a:t>
            </a:r>
          </a:p>
          <a:p>
            <a:pPr marL="0" indent="0">
              <a:buFont typeface="Arial" pitchFamily="34" charset="0"/>
              <a:buNone/>
            </a:pPr>
            <a:endParaRPr lang="en-US" sz="1400" dirty="0"/>
          </a:p>
          <a:p>
            <a:pPr marL="0" indent="0">
              <a:buFont typeface="Arial" pitchFamily="34" charset="0"/>
              <a:buNone/>
            </a:pPr>
            <a:r>
              <a:rPr lang="en-US" sz="1400" dirty="0"/>
              <a:t>The goal of the course is to be able to </a:t>
            </a:r>
            <a:r>
              <a:rPr lang="en-US" sz="1400" dirty="0">
                <a:solidFill>
                  <a:srgbClr val="7030A0"/>
                </a:solidFill>
              </a:rPr>
              <a:t>build and justify your ML projects</a:t>
            </a:r>
          </a:p>
        </p:txBody>
      </p:sp>
      <p:pic>
        <p:nvPicPr>
          <p:cNvPr id="3" name="Picture 2" descr="Claude kan nu sätta ett osynligt avtryck på din text, även om du har  skrivit den själv - Notebookcheck.se">
            <a:extLst>
              <a:ext uri="{FF2B5EF4-FFF2-40B4-BE49-F238E27FC236}">
                <a16:creationId xmlns:a16="http://schemas.microsoft.com/office/drawing/2014/main" id="{E898BFC5-C702-EE05-1EC9-DE56CB361CFA}"/>
              </a:ext>
            </a:extLst>
          </p:cNvPr>
          <p:cNvPicPr>
            <a:picLocks noChangeAspect="1"/>
          </p:cNvPicPr>
          <p:nvPr/>
        </p:nvPicPr>
        <p:blipFill>
          <a:blip r:embed="rId4"/>
          <a:stretch>
            <a:fillRect/>
          </a:stretch>
        </p:blipFill>
        <p:spPr>
          <a:xfrm>
            <a:off x="6694788" y="1504157"/>
            <a:ext cx="1708390" cy="1200244"/>
          </a:xfrm>
          <a:prstGeom prst="rect">
            <a:avLst/>
          </a:prstGeom>
        </p:spPr>
      </p:pic>
      <p:pic>
        <p:nvPicPr>
          <p:cNvPr id="8" name="Picture 7" descr="What is ChatGPT? What parents need to know | Internet Matters">
            <a:extLst>
              <a:ext uri="{FF2B5EF4-FFF2-40B4-BE49-F238E27FC236}">
                <a16:creationId xmlns:a16="http://schemas.microsoft.com/office/drawing/2014/main" id="{D69FA802-E716-D3A8-7516-B2E46E7BEA14}"/>
              </a:ext>
            </a:extLst>
          </p:cNvPr>
          <p:cNvPicPr>
            <a:picLocks noChangeAspect="1"/>
          </p:cNvPicPr>
          <p:nvPr/>
        </p:nvPicPr>
        <p:blipFill>
          <a:blip r:embed="rId5"/>
          <a:stretch>
            <a:fillRect/>
          </a:stretch>
        </p:blipFill>
        <p:spPr>
          <a:xfrm>
            <a:off x="6554561" y="3180091"/>
            <a:ext cx="1988840" cy="1046213"/>
          </a:xfrm>
          <a:prstGeom prst="rect">
            <a:avLst/>
          </a:prstGeom>
        </p:spPr>
      </p:pic>
      <p:pic>
        <p:nvPicPr>
          <p:cNvPr id="10" name="Picture 9" descr="Google Gemini">
            <a:extLst>
              <a:ext uri="{FF2B5EF4-FFF2-40B4-BE49-F238E27FC236}">
                <a16:creationId xmlns:a16="http://schemas.microsoft.com/office/drawing/2014/main" id="{E69277FC-1FCC-F67A-AE10-59C05B46E786}"/>
              </a:ext>
            </a:extLst>
          </p:cNvPr>
          <p:cNvPicPr>
            <a:picLocks noChangeAspect="1"/>
          </p:cNvPicPr>
          <p:nvPr/>
        </p:nvPicPr>
        <p:blipFill>
          <a:blip r:embed="rId6"/>
          <a:stretch>
            <a:fillRect/>
          </a:stretch>
        </p:blipFill>
        <p:spPr>
          <a:xfrm>
            <a:off x="6265723" y="4439516"/>
            <a:ext cx="2566517" cy="1443666"/>
          </a:xfrm>
          <a:prstGeom prst="rect">
            <a:avLst/>
          </a:prstGeom>
        </p:spPr>
      </p:pic>
      <p:sp>
        <p:nvSpPr>
          <p:cNvPr id="12" name="TextBox 11">
            <a:extLst>
              <a:ext uri="{FF2B5EF4-FFF2-40B4-BE49-F238E27FC236}">
                <a16:creationId xmlns:a16="http://schemas.microsoft.com/office/drawing/2014/main" id="{398FE701-3E55-975A-CF97-5F41E0E8FD13}"/>
              </a:ext>
            </a:extLst>
          </p:cNvPr>
          <p:cNvSpPr txBox="1"/>
          <p:nvPr/>
        </p:nvSpPr>
        <p:spPr>
          <a:xfrm>
            <a:off x="656568" y="4449797"/>
            <a:ext cx="4779528" cy="954107"/>
          </a:xfrm>
          <a:prstGeom prst="rect">
            <a:avLst/>
          </a:prstGeom>
          <a:noFill/>
        </p:spPr>
        <p:txBody>
          <a:bodyPr wrap="square">
            <a:spAutoFit/>
          </a:bodyPr>
          <a:lstStyle/>
          <a:p>
            <a:pPr marL="0" indent="0">
              <a:buFont typeface="Arial" pitchFamily="34" charset="0"/>
              <a:buNone/>
            </a:pPr>
            <a:r>
              <a:rPr lang="en-US" sz="1400" b="1" dirty="0"/>
              <a:t>We do not check/</a:t>
            </a:r>
            <a:r>
              <a:rPr lang="en-US" sz="1400" b="1" dirty="0" err="1"/>
              <a:t>penalise</a:t>
            </a:r>
            <a:r>
              <a:rPr lang="en-US" sz="1400" b="1" dirty="0"/>
              <a:t> the use of AI, but please, disclose it if you use it.  </a:t>
            </a:r>
          </a:p>
          <a:p>
            <a:pPr marL="0" indent="0">
              <a:buFont typeface="Arial" pitchFamily="34" charset="0"/>
              <a:buNone/>
            </a:pPr>
            <a:endParaRPr lang="en-US" sz="1400" b="1" dirty="0">
              <a:solidFill>
                <a:srgbClr val="7030A0"/>
              </a:solidFill>
            </a:endParaRPr>
          </a:p>
          <a:p>
            <a:pPr marL="0" indent="0" algn="ctr">
              <a:buFont typeface="Arial" pitchFamily="34" charset="0"/>
              <a:buNone/>
            </a:pPr>
            <a:r>
              <a:rPr lang="en-US" sz="1400" b="1" dirty="0">
                <a:solidFill>
                  <a:srgbClr val="7030A0"/>
                </a:solidFill>
              </a:rPr>
              <a:t>Reflect about the best use of your time!</a:t>
            </a:r>
          </a:p>
        </p:txBody>
      </p:sp>
    </p:spTree>
    <p:extLst>
      <p:ext uri="{BB962C8B-B14F-4D97-AF65-F5344CB8AC3E}">
        <p14:creationId xmlns:p14="http://schemas.microsoft.com/office/powerpoint/2010/main" val="1201040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944E4-7051-49D6-FB22-C7883BCC2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67C0D-243F-B604-C59B-6F0AE8D83DE6}"/>
              </a:ext>
            </a:extLst>
          </p:cNvPr>
          <p:cNvSpPr>
            <a:spLocks noGrp="1"/>
          </p:cNvSpPr>
          <p:nvPr>
            <p:ph type="title"/>
          </p:nvPr>
        </p:nvSpPr>
        <p:spPr>
          <a:xfrm>
            <a:off x="2493005" y="236425"/>
            <a:ext cx="5842992" cy="1143000"/>
          </a:xfrm>
        </p:spPr>
        <p:txBody>
          <a:bodyPr/>
          <a:lstStyle/>
          <a:p>
            <a:r>
              <a:rPr lang="en-US" dirty="0"/>
              <a:t>A sample of projects</a:t>
            </a:r>
          </a:p>
        </p:txBody>
      </p:sp>
      <p:sp>
        <p:nvSpPr>
          <p:cNvPr id="3" name="Content Placeholder 2">
            <a:extLst>
              <a:ext uri="{FF2B5EF4-FFF2-40B4-BE49-F238E27FC236}">
                <a16:creationId xmlns:a16="http://schemas.microsoft.com/office/drawing/2014/main" id="{4CE196F2-6959-B257-972A-84AD050995CC}"/>
              </a:ext>
            </a:extLst>
          </p:cNvPr>
          <p:cNvSpPr>
            <a:spLocks noGrp="1"/>
          </p:cNvSpPr>
          <p:nvPr>
            <p:ph idx="1"/>
          </p:nvPr>
        </p:nvSpPr>
        <p:spPr>
          <a:xfrm>
            <a:off x="395536" y="1540358"/>
            <a:ext cx="8229600" cy="448482"/>
          </a:xfrm>
        </p:spPr>
        <p:txBody>
          <a:bodyPr/>
          <a:lstStyle/>
          <a:p>
            <a:pPr marL="0" indent="0">
              <a:buNone/>
            </a:pPr>
            <a:r>
              <a:rPr lang="en-US" sz="1600" b="1" dirty="0"/>
              <a:t>Sample of each one of the 3 topics</a:t>
            </a:r>
          </a:p>
          <a:p>
            <a:pPr marL="0" indent="0">
              <a:buNone/>
            </a:pPr>
            <a:endParaRPr lang="en-US" sz="1800" dirty="0"/>
          </a:p>
        </p:txBody>
      </p:sp>
      <p:sp>
        <p:nvSpPr>
          <p:cNvPr id="26" name="Content Placeholder 2">
            <a:extLst>
              <a:ext uri="{FF2B5EF4-FFF2-40B4-BE49-F238E27FC236}">
                <a16:creationId xmlns:a16="http://schemas.microsoft.com/office/drawing/2014/main" id="{5CDAF26A-C11C-9F8F-FB91-13A65B502FDF}"/>
              </a:ext>
            </a:extLst>
          </p:cNvPr>
          <p:cNvSpPr txBox="1">
            <a:spLocks/>
          </p:cNvSpPr>
          <p:nvPr/>
        </p:nvSpPr>
        <p:spPr bwMode="auto">
          <a:xfrm>
            <a:off x="3494150" y="2636912"/>
            <a:ext cx="5256584" cy="38406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b="1" dirty="0"/>
              <a:t>Problem:</a:t>
            </a:r>
          </a:p>
          <a:p>
            <a:pPr marL="0" indent="0">
              <a:buFont typeface="Arial" pitchFamily="34" charset="0"/>
              <a:buNone/>
            </a:pPr>
            <a:endParaRPr lang="en-US" sz="1600" b="1" dirty="0"/>
          </a:p>
          <a:p>
            <a:pPr marL="0" indent="0" algn="ctr">
              <a:buFont typeface="Arial" pitchFamily="34" charset="0"/>
              <a:buNone/>
            </a:pPr>
            <a:r>
              <a:rPr lang="en-US" sz="1600" dirty="0" err="1"/>
              <a:t>Optimise</a:t>
            </a:r>
            <a:r>
              <a:rPr lang="en-US" sz="1600" dirty="0"/>
              <a:t> an airfoil geometry to improve aerodynamic performance</a:t>
            </a:r>
          </a:p>
          <a:p>
            <a:pPr marL="0" indent="0" algn="ctr">
              <a:buFont typeface="Arial" pitchFamily="34" charset="0"/>
              <a:buNone/>
            </a:pPr>
            <a:endParaRPr lang="en-US" sz="1600" dirty="0"/>
          </a:p>
          <a:p>
            <a:pPr marL="0" indent="0" algn="ctr">
              <a:buFont typeface="Arial" pitchFamily="34" charset="0"/>
              <a:buNone/>
            </a:pPr>
            <a:endParaRPr lang="en-US" sz="1600" dirty="0"/>
          </a:p>
          <a:p>
            <a:pPr marL="0" indent="0">
              <a:buFont typeface="Arial" pitchFamily="34" charset="0"/>
              <a:buNone/>
            </a:pPr>
            <a:r>
              <a:rPr lang="en-US" sz="1600" b="1" dirty="0"/>
              <a:t>How to do this?</a:t>
            </a:r>
            <a:br>
              <a:rPr lang="en-US" sz="1600" b="1" dirty="0"/>
            </a:br>
            <a:endParaRPr lang="en-US" sz="1600" b="1" dirty="0"/>
          </a:p>
          <a:p>
            <a:r>
              <a:rPr lang="en-US" sz="1400" dirty="0"/>
              <a:t>Use </a:t>
            </a:r>
            <a:r>
              <a:rPr lang="en-US" sz="1400" dirty="0" err="1"/>
              <a:t>NeuralFoil</a:t>
            </a:r>
            <a:r>
              <a:rPr lang="en-US" sz="1400" dirty="0"/>
              <a:t> to quickly test the aerodynamic performance of an airfoil </a:t>
            </a:r>
            <a:r>
              <a:rPr lang="en-US" sz="1400" dirty="0">
                <a:solidFill>
                  <a:srgbClr val="7030A0"/>
                </a:solidFill>
              </a:rPr>
              <a:t>(physics part)</a:t>
            </a:r>
          </a:p>
          <a:p>
            <a:r>
              <a:rPr lang="en-US" sz="1400" dirty="0"/>
              <a:t>Define the degrees of freedom for the optimization </a:t>
            </a:r>
            <a:r>
              <a:rPr lang="en-US" sz="1400" dirty="0">
                <a:solidFill>
                  <a:srgbClr val="7030A0"/>
                </a:solidFill>
              </a:rPr>
              <a:t>(posing the problem in an ML-friendly way)</a:t>
            </a:r>
          </a:p>
          <a:p>
            <a:r>
              <a:rPr lang="en-US" sz="1400" dirty="0"/>
              <a:t>Set-up training + evaluation pipeline </a:t>
            </a:r>
            <a:r>
              <a:rPr lang="en-US" sz="1400" dirty="0">
                <a:solidFill>
                  <a:srgbClr val="7030A0"/>
                </a:solidFill>
              </a:rPr>
              <a:t>(ML pipeline)</a:t>
            </a:r>
          </a:p>
        </p:txBody>
      </p:sp>
      <p:pic>
        <p:nvPicPr>
          <p:cNvPr id="7" name="Picture 6">
            <a:extLst>
              <a:ext uri="{FF2B5EF4-FFF2-40B4-BE49-F238E27FC236}">
                <a16:creationId xmlns:a16="http://schemas.microsoft.com/office/drawing/2014/main" id="{656D948A-F66C-9AD0-BFF5-08E9C44D78F2}"/>
              </a:ext>
            </a:extLst>
          </p:cNvPr>
          <p:cNvPicPr>
            <a:picLocks noChangeAspect="1"/>
          </p:cNvPicPr>
          <p:nvPr/>
        </p:nvPicPr>
        <p:blipFill>
          <a:blip r:embed="rId3">
            <a:extLst>
              <a:ext uri="{28A0092B-C50C-407E-A947-70E740481C1C}">
                <a14:useLocalDpi xmlns:a14="http://schemas.microsoft.com/office/drawing/2010/main" val="0"/>
              </a:ext>
            </a:extLst>
          </a:blip>
          <a:srcRect l="46300"/>
          <a:stretch>
            <a:fillRect/>
          </a:stretch>
        </p:blipFill>
        <p:spPr>
          <a:xfrm>
            <a:off x="393266" y="3253531"/>
            <a:ext cx="2505482" cy="1604960"/>
          </a:xfrm>
          <a:prstGeom prst="rect">
            <a:avLst/>
          </a:prstGeom>
        </p:spPr>
      </p:pic>
      <p:sp>
        <p:nvSpPr>
          <p:cNvPr id="11" name="TextBox 10">
            <a:extLst>
              <a:ext uri="{FF2B5EF4-FFF2-40B4-BE49-F238E27FC236}">
                <a16:creationId xmlns:a16="http://schemas.microsoft.com/office/drawing/2014/main" id="{90C37D11-0027-C939-D7C1-09A243B06AAA}"/>
              </a:ext>
            </a:extLst>
          </p:cNvPr>
          <p:cNvSpPr txBox="1"/>
          <p:nvPr/>
        </p:nvSpPr>
        <p:spPr>
          <a:xfrm>
            <a:off x="395536" y="2030881"/>
            <a:ext cx="8136904" cy="338554"/>
          </a:xfrm>
          <a:prstGeom prst="rect">
            <a:avLst/>
          </a:prstGeom>
          <a:noFill/>
        </p:spPr>
        <p:txBody>
          <a:bodyPr wrap="square">
            <a:spAutoFit/>
          </a:bodyPr>
          <a:lstStyle/>
          <a:p>
            <a:pPr marL="0" indent="0">
              <a:buNone/>
            </a:pPr>
            <a:r>
              <a:rPr lang="en-US" sz="1600" b="1" dirty="0">
                <a:solidFill>
                  <a:srgbClr val="7030A0"/>
                </a:solidFill>
              </a:rPr>
              <a:t>Example: 1</a:t>
            </a:r>
            <a:r>
              <a:rPr lang="en-US" sz="1600" b="1" dirty="0"/>
              <a:t>. Airfoil Shape </a:t>
            </a:r>
            <a:r>
              <a:rPr lang="en-US" sz="1600" b="1" dirty="0" err="1"/>
              <a:t>Optimisation</a:t>
            </a:r>
            <a:r>
              <a:rPr lang="en-US" sz="1600" b="1" dirty="0"/>
              <a:t> using RL</a:t>
            </a:r>
          </a:p>
        </p:txBody>
      </p:sp>
    </p:spTree>
    <p:extLst>
      <p:ext uri="{BB962C8B-B14F-4D97-AF65-F5344CB8AC3E}">
        <p14:creationId xmlns:p14="http://schemas.microsoft.com/office/powerpoint/2010/main" val="371732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EFDE8-8401-3D03-ADC0-91297F1C7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E29A5-650C-1FED-FA46-75DE9D7F4319}"/>
              </a:ext>
            </a:extLst>
          </p:cNvPr>
          <p:cNvSpPr>
            <a:spLocks noGrp="1"/>
          </p:cNvSpPr>
          <p:nvPr>
            <p:ph type="title"/>
          </p:nvPr>
        </p:nvSpPr>
        <p:spPr>
          <a:xfrm>
            <a:off x="2493005" y="236425"/>
            <a:ext cx="5842992" cy="1143000"/>
          </a:xfrm>
        </p:spPr>
        <p:txBody>
          <a:bodyPr/>
          <a:lstStyle/>
          <a:p>
            <a:r>
              <a:rPr lang="en-US" dirty="0"/>
              <a:t>A sample of projects</a:t>
            </a:r>
          </a:p>
        </p:txBody>
      </p:sp>
      <p:sp>
        <p:nvSpPr>
          <p:cNvPr id="3" name="Content Placeholder 2">
            <a:extLst>
              <a:ext uri="{FF2B5EF4-FFF2-40B4-BE49-F238E27FC236}">
                <a16:creationId xmlns:a16="http://schemas.microsoft.com/office/drawing/2014/main" id="{4D64F799-EF28-8524-4190-0AF791A14DF8}"/>
              </a:ext>
            </a:extLst>
          </p:cNvPr>
          <p:cNvSpPr>
            <a:spLocks noGrp="1"/>
          </p:cNvSpPr>
          <p:nvPr>
            <p:ph idx="1"/>
          </p:nvPr>
        </p:nvSpPr>
        <p:spPr>
          <a:xfrm>
            <a:off x="395536" y="1540358"/>
            <a:ext cx="8229600" cy="448482"/>
          </a:xfrm>
        </p:spPr>
        <p:txBody>
          <a:bodyPr/>
          <a:lstStyle/>
          <a:p>
            <a:pPr marL="0" indent="0">
              <a:buNone/>
            </a:pPr>
            <a:r>
              <a:rPr lang="en-US" sz="1600" b="1" dirty="0"/>
              <a:t>Sample of each one of the 3 topics</a:t>
            </a:r>
          </a:p>
          <a:p>
            <a:pPr marL="0" indent="0">
              <a:buNone/>
            </a:pPr>
            <a:endParaRPr lang="en-US" sz="1800" dirty="0"/>
          </a:p>
        </p:txBody>
      </p:sp>
      <p:sp>
        <p:nvSpPr>
          <p:cNvPr id="26" name="Content Placeholder 2">
            <a:extLst>
              <a:ext uri="{FF2B5EF4-FFF2-40B4-BE49-F238E27FC236}">
                <a16:creationId xmlns:a16="http://schemas.microsoft.com/office/drawing/2014/main" id="{8A20E6AA-50CC-BFB2-7D76-823737610711}"/>
              </a:ext>
            </a:extLst>
          </p:cNvPr>
          <p:cNvSpPr txBox="1">
            <a:spLocks/>
          </p:cNvSpPr>
          <p:nvPr/>
        </p:nvSpPr>
        <p:spPr bwMode="auto">
          <a:xfrm>
            <a:off x="3494150" y="2636912"/>
            <a:ext cx="5256584" cy="38406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b="1" dirty="0"/>
              <a:t>Problem:</a:t>
            </a:r>
          </a:p>
          <a:p>
            <a:pPr marL="0" indent="0">
              <a:buFont typeface="Arial" pitchFamily="34" charset="0"/>
              <a:buNone/>
            </a:pPr>
            <a:endParaRPr lang="en-US" sz="1600" b="1" dirty="0"/>
          </a:p>
          <a:p>
            <a:pPr marL="0" indent="0" algn="ctr">
              <a:buNone/>
            </a:pPr>
            <a:r>
              <a:rPr lang="en-GB" sz="1600" dirty="0"/>
              <a:t>Detect manufacturing defects in real time from multivariate in-situ sensors enabling early build termination and closed-loop control.</a:t>
            </a:r>
            <a:endParaRPr lang="en-US" sz="1600" dirty="0"/>
          </a:p>
          <a:p>
            <a:pPr marL="0" indent="0" algn="ctr">
              <a:buFont typeface="Arial" pitchFamily="34" charset="0"/>
              <a:buNone/>
            </a:pPr>
            <a:endParaRPr lang="en-US" sz="1600" dirty="0"/>
          </a:p>
          <a:p>
            <a:pPr marL="0" indent="0">
              <a:buFont typeface="Arial" pitchFamily="34" charset="0"/>
              <a:buNone/>
            </a:pPr>
            <a:r>
              <a:rPr lang="en-US" sz="1600" b="1" dirty="0"/>
              <a:t>How to do this?</a:t>
            </a:r>
            <a:br>
              <a:rPr lang="en-US" sz="1600" b="1" dirty="0"/>
            </a:br>
            <a:endParaRPr lang="en-US" sz="1600" b="1" dirty="0"/>
          </a:p>
          <a:p>
            <a:r>
              <a:rPr lang="en-US" sz="1400" dirty="0"/>
              <a:t>Plot the healthy/unhealthy parts of the dataset, align multi-rate sensor with data </a:t>
            </a:r>
            <a:r>
              <a:rPr lang="en-US" sz="1400" dirty="0">
                <a:solidFill>
                  <a:srgbClr val="7030A0"/>
                </a:solidFill>
              </a:rPr>
              <a:t>(physics part)</a:t>
            </a:r>
          </a:p>
          <a:p>
            <a:r>
              <a:rPr lang="en-US" sz="1400" dirty="0"/>
              <a:t>Frame the problem as an anomaly detection </a:t>
            </a:r>
            <a:r>
              <a:rPr lang="en-US" sz="1400" dirty="0">
                <a:solidFill>
                  <a:srgbClr val="7030A0"/>
                </a:solidFill>
              </a:rPr>
              <a:t>(posing the problem in an ML-friendly way)</a:t>
            </a:r>
          </a:p>
          <a:p>
            <a:r>
              <a:rPr lang="en-US" sz="1400" dirty="0"/>
              <a:t>Set-up training: split by build not time window, set up baseline with simple regression, move to CNN </a:t>
            </a:r>
            <a:r>
              <a:rPr lang="en-US" sz="1400" dirty="0">
                <a:solidFill>
                  <a:srgbClr val="7030A0"/>
                </a:solidFill>
              </a:rPr>
              <a:t>(ML pipeline)</a:t>
            </a:r>
          </a:p>
        </p:txBody>
      </p:sp>
      <p:sp>
        <p:nvSpPr>
          <p:cNvPr id="11" name="TextBox 10">
            <a:extLst>
              <a:ext uri="{FF2B5EF4-FFF2-40B4-BE49-F238E27FC236}">
                <a16:creationId xmlns:a16="http://schemas.microsoft.com/office/drawing/2014/main" id="{DFC47CD0-9CDC-9449-3896-A772913AFCB0}"/>
              </a:ext>
            </a:extLst>
          </p:cNvPr>
          <p:cNvSpPr txBox="1"/>
          <p:nvPr/>
        </p:nvSpPr>
        <p:spPr>
          <a:xfrm>
            <a:off x="395536" y="2030881"/>
            <a:ext cx="8136904" cy="338554"/>
          </a:xfrm>
          <a:prstGeom prst="rect">
            <a:avLst/>
          </a:prstGeom>
          <a:noFill/>
        </p:spPr>
        <p:txBody>
          <a:bodyPr wrap="square">
            <a:spAutoFit/>
          </a:bodyPr>
          <a:lstStyle/>
          <a:p>
            <a:pPr marL="0" indent="0">
              <a:buNone/>
            </a:pPr>
            <a:r>
              <a:rPr lang="en-US" sz="1600" b="1" dirty="0">
                <a:solidFill>
                  <a:srgbClr val="7030A0"/>
                </a:solidFill>
              </a:rPr>
              <a:t>Example: 8</a:t>
            </a:r>
            <a:r>
              <a:rPr lang="en-US" sz="1600" b="1" dirty="0"/>
              <a:t>. Real-time defect detection in additive manufacturing</a:t>
            </a:r>
          </a:p>
        </p:txBody>
      </p:sp>
      <p:pic>
        <p:nvPicPr>
          <p:cNvPr id="5" name="Picture 4">
            <a:extLst>
              <a:ext uri="{FF2B5EF4-FFF2-40B4-BE49-F238E27FC236}">
                <a16:creationId xmlns:a16="http://schemas.microsoft.com/office/drawing/2014/main" id="{DAA737ED-66AE-FF25-7D20-D5799F3E4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2852936"/>
            <a:ext cx="2519133" cy="2716916"/>
          </a:xfrm>
          <a:prstGeom prst="rect">
            <a:avLst/>
          </a:prstGeom>
        </p:spPr>
      </p:pic>
    </p:spTree>
    <p:extLst>
      <p:ext uri="{BB962C8B-B14F-4D97-AF65-F5344CB8AC3E}">
        <p14:creationId xmlns:p14="http://schemas.microsoft.com/office/powerpoint/2010/main" val="2489718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51FE7-B6FE-DFFB-72CB-1D7C8AFE6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69E68-091D-E416-5317-BB2A0E2272CD}"/>
              </a:ext>
            </a:extLst>
          </p:cNvPr>
          <p:cNvSpPr>
            <a:spLocks noGrp="1"/>
          </p:cNvSpPr>
          <p:nvPr>
            <p:ph type="title"/>
          </p:nvPr>
        </p:nvSpPr>
        <p:spPr>
          <a:xfrm>
            <a:off x="2493005" y="236425"/>
            <a:ext cx="5842992" cy="1143000"/>
          </a:xfrm>
        </p:spPr>
        <p:txBody>
          <a:bodyPr/>
          <a:lstStyle/>
          <a:p>
            <a:r>
              <a:rPr lang="en-US" dirty="0"/>
              <a:t>A sample of projects</a:t>
            </a:r>
          </a:p>
        </p:txBody>
      </p:sp>
      <p:sp>
        <p:nvSpPr>
          <p:cNvPr id="3" name="Content Placeholder 2">
            <a:extLst>
              <a:ext uri="{FF2B5EF4-FFF2-40B4-BE49-F238E27FC236}">
                <a16:creationId xmlns:a16="http://schemas.microsoft.com/office/drawing/2014/main" id="{EFB44807-E127-02A6-0839-C401327BC173}"/>
              </a:ext>
            </a:extLst>
          </p:cNvPr>
          <p:cNvSpPr>
            <a:spLocks noGrp="1"/>
          </p:cNvSpPr>
          <p:nvPr>
            <p:ph idx="1"/>
          </p:nvPr>
        </p:nvSpPr>
        <p:spPr>
          <a:xfrm>
            <a:off x="395536" y="1540358"/>
            <a:ext cx="8229600" cy="448482"/>
          </a:xfrm>
        </p:spPr>
        <p:txBody>
          <a:bodyPr/>
          <a:lstStyle/>
          <a:p>
            <a:pPr marL="0" indent="0">
              <a:buNone/>
            </a:pPr>
            <a:r>
              <a:rPr lang="en-US" sz="1600" b="1" dirty="0"/>
              <a:t>Sample of each one of the 3 topics</a:t>
            </a:r>
          </a:p>
          <a:p>
            <a:pPr marL="0" indent="0">
              <a:buNone/>
            </a:pPr>
            <a:endParaRPr lang="en-US" sz="1800" dirty="0"/>
          </a:p>
        </p:txBody>
      </p:sp>
      <p:sp>
        <p:nvSpPr>
          <p:cNvPr id="26" name="Content Placeholder 2">
            <a:extLst>
              <a:ext uri="{FF2B5EF4-FFF2-40B4-BE49-F238E27FC236}">
                <a16:creationId xmlns:a16="http://schemas.microsoft.com/office/drawing/2014/main" id="{EA9A95FB-C59C-43D0-9D38-D8614B6326F5}"/>
              </a:ext>
            </a:extLst>
          </p:cNvPr>
          <p:cNvSpPr txBox="1">
            <a:spLocks/>
          </p:cNvSpPr>
          <p:nvPr/>
        </p:nvSpPr>
        <p:spPr bwMode="auto">
          <a:xfrm>
            <a:off x="3494150" y="2636912"/>
            <a:ext cx="5256584" cy="38406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b="1" dirty="0"/>
              <a:t>Problem:</a:t>
            </a:r>
          </a:p>
          <a:p>
            <a:pPr marL="0" indent="0">
              <a:buFont typeface="Arial" pitchFamily="34" charset="0"/>
              <a:buNone/>
            </a:pPr>
            <a:endParaRPr lang="en-US" sz="1600" b="1" dirty="0"/>
          </a:p>
          <a:p>
            <a:pPr marL="0" indent="0" algn="ctr">
              <a:buNone/>
            </a:pPr>
            <a:r>
              <a:rPr lang="sv-SE" sz="1600" dirty="0" err="1"/>
              <a:t>We</a:t>
            </a:r>
            <a:r>
              <a:rPr lang="sv-SE" sz="1600" dirty="0"/>
              <a:t> </a:t>
            </a:r>
            <a:r>
              <a:rPr lang="sv-SE" sz="1600" dirty="0" err="1"/>
              <a:t>know</a:t>
            </a:r>
            <a:r>
              <a:rPr lang="sv-SE" sz="1600" dirty="0"/>
              <a:t> the </a:t>
            </a:r>
            <a:r>
              <a:rPr lang="sv-SE" sz="1600" dirty="0" err="1"/>
              <a:t>underlying</a:t>
            </a:r>
            <a:r>
              <a:rPr lang="sv-SE" sz="1600" dirty="0"/>
              <a:t> </a:t>
            </a:r>
            <a:r>
              <a:rPr lang="sv-SE" sz="1600" dirty="0" err="1"/>
              <a:t>equation</a:t>
            </a:r>
            <a:r>
              <a:rPr lang="sv-SE" sz="1600" dirty="0"/>
              <a:t>, </a:t>
            </a:r>
            <a:r>
              <a:rPr lang="sv-SE" sz="1600" dirty="0" err="1"/>
              <a:t>but</a:t>
            </a:r>
            <a:r>
              <a:rPr lang="sv-SE" sz="1600" dirty="0"/>
              <a:t> </a:t>
            </a:r>
            <a:r>
              <a:rPr lang="sv-SE" sz="1600" dirty="0" err="1"/>
              <a:t>we</a:t>
            </a:r>
            <a:r>
              <a:rPr lang="sv-SE" sz="1600" dirty="0"/>
              <a:t> </a:t>
            </a:r>
            <a:r>
              <a:rPr lang="sv-SE" sz="1600" dirty="0" err="1"/>
              <a:t>don’t</a:t>
            </a:r>
            <a:r>
              <a:rPr lang="sv-SE" sz="1600" dirty="0"/>
              <a:t> </a:t>
            </a:r>
            <a:r>
              <a:rPr lang="sv-SE" sz="1600" dirty="0" err="1"/>
              <a:t>know</a:t>
            </a:r>
            <a:r>
              <a:rPr lang="sv-SE" sz="1600" dirty="0"/>
              <a:t> the parameters </a:t>
            </a:r>
            <a:r>
              <a:rPr lang="sv-SE" sz="1600" dirty="0" err="1"/>
              <a:t>of</a:t>
            </a:r>
            <a:r>
              <a:rPr lang="sv-SE" sz="1600" dirty="0"/>
              <a:t> the problem.</a:t>
            </a:r>
            <a:endParaRPr lang="en-US" sz="1600" dirty="0"/>
          </a:p>
          <a:p>
            <a:pPr marL="0" indent="0" algn="ctr">
              <a:buFont typeface="Arial" pitchFamily="34" charset="0"/>
              <a:buNone/>
            </a:pPr>
            <a:endParaRPr lang="en-US" sz="1600" dirty="0"/>
          </a:p>
          <a:p>
            <a:pPr marL="0" indent="0">
              <a:buFont typeface="Arial" pitchFamily="34" charset="0"/>
              <a:buNone/>
            </a:pPr>
            <a:r>
              <a:rPr lang="en-US" sz="1600" b="1" dirty="0"/>
              <a:t>How to do this?</a:t>
            </a:r>
            <a:br>
              <a:rPr lang="en-US" sz="1600" b="1" dirty="0"/>
            </a:br>
            <a:endParaRPr lang="en-US" sz="1600" b="1" dirty="0"/>
          </a:p>
          <a:p>
            <a:r>
              <a:rPr lang="en-US" sz="1400" dirty="0"/>
              <a:t>Define what is known, and what we want the network to infer </a:t>
            </a:r>
            <a:r>
              <a:rPr lang="en-US" sz="1400" dirty="0">
                <a:solidFill>
                  <a:srgbClr val="7030A0"/>
                </a:solidFill>
              </a:rPr>
              <a:t>(physics part)</a:t>
            </a:r>
          </a:p>
          <a:p>
            <a:r>
              <a:rPr lang="en-US" sz="1400" dirty="0"/>
              <a:t>If experimental data, make sure it is </a:t>
            </a:r>
            <a:r>
              <a:rPr lang="en-US" sz="1400" i="1" dirty="0"/>
              <a:t>clean</a:t>
            </a:r>
            <a:r>
              <a:rPr lang="en-US" sz="1400" dirty="0"/>
              <a:t> if synthetic control the difficulty of the problem</a:t>
            </a:r>
            <a:r>
              <a:rPr lang="en-US" sz="1400" dirty="0">
                <a:solidFill>
                  <a:srgbClr val="7030A0"/>
                </a:solidFill>
              </a:rPr>
              <a:t>(posing the problem in an ML-friendly way)</a:t>
            </a:r>
          </a:p>
          <a:p>
            <a:r>
              <a:rPr lang="en-US" sz="1400" dirty="0"/>
              <a:t>Set-up training and the UQ, how much can we trust our estimations? </a:t>
            </a:r>
            <a:r>
              <a:rPr lang="en-US" sz="1400" dirty="0">
                <a:solidFill>
                  <a:srgbClr val="7030A0"/>
                </a:solidFill>
              </a:rPr>
              <a:t>(ML pipeline)</a:t>
            </a:r>
          </a:p>
        </p:txBody>
      </p:sp>
      <p:sp>
        <p:nvSpPr>
          <p:cNvPr id="11" name="TextBox 10">
            <a:extLst>
              <a:ext uri="{FF2B5EF4-FFF2-40B4-BE49-F238E27FC236}">
                <a16:creationId xmlns:a16="http://schemas.microsoft.com/office/drawing/2014/main" id="{33DC5063-6B76-D3EB-5527-7E8866B18AF5}"/>
              </a:ext>
            </a:extLst>
          </p:cNvPr>
          <p:cNvSpPr txBox="1"/>
          <p:nvPr/>
        </p:nvSpPr>
        <p:spPr>
          <a:xfrm>
            <a:off x="395536" y="2030881"/>
            <a:ext cx="8136904" cy="338554"/>
          </a:xfrm>
          <a:prstGeom prst="rect">
            <a:avLst/>
          </a:prstGeom>
          <a:noFill/>
        </p:spPr>
        <p:txBody>
          <a:bodyPr wrap="square">
            <a:spAutoFit/>
          </a:bodyPr>
          <a:lstStyle/>
          <a:p>
            <a:pPr marL="0" indent="0">
              <a:buNone/>
            </a:pPr>
            <a:r>
              <a:rPr lang="en-US" sz="1600" b="1" dirty="0">
                <a:solidFill>
                  <a:srgbClr val="7030A0"/>
                </a:solidFill>
              </a:rPr>
              <a:t>Example: 6</a:t>
            </a:r>
            <a:r>
              <a:rPr lang="en-US" sz="1600" b="1" dirty="0"/>
              <a:t>. Uncertainty aware PINNs (Physics-informed neural networks)</a:t>
            </a:r>
          </a:p>
        </p:txBody>
      </p:sp>
      <p:pic>
        <p:nvPicPr>
          <p:cNvPr id="4" name="Picture 3" descr="Cartpole Dynamics and Control · Ashwin Narayan">
            <a:extLst>
              <a:ext uri="{FF2B5EF4-FFF2-40B4-BE49-F238E27FC236}">
                <a16:creationId xmlns:a16="http://schemas.microsoft.com/office/drawing/2014/main" id="{A5DFE59F-E414-B5F1-AA28-2EBC9C4EFC23}"/>
              </a:ext>
            </a:extLst>
          </p:cNvPr>
          <p:cNvPicPr>
            <a:picLocks noChangeAspect="1"/>
          </p:cNvPicPr>
          <p:nvPr/>
        </p:nvPicPr>
        <p:blipFill>
          <a:blip r:embed="rId3"/>
          <a:stretch>
            <a:fillRect/>
          </a:stretch>
        </p:blipFill>
        <p:spPr>
          <a:xfrm>
            <a:off x="755576" y="2996952"/>
            <a:ext cx="2468878" cy="2715766"/>
          </a:xfrm>
          <a:prstGeom prst="rect">
            <a:avLst/>
          </a:prstGeom>
        </p:spPr>
      </p:pic>
    </p:spTree>
    <p:extLst>
      <p:ext uri="{BB962C8B-B14F-4D97-AF65-F5344CB8AC3E}">
        <p14:creationId xmlns:p14="http://schemas.microsoft.com/office/powerpoint/2010/main" val="386371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2DEE-4D36-808E-572A-4B4D7B5F3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F10D3-76CB-545F-4479-FCB40E55B311}"/>
              </a:ext>
            </a:extLst>
          </p:cNvPr>
          <p:cNvSpPr>
            <a:spLocks noGrp="1"/>
          </p:cNvSpPr>
          <p:nvPr>
            <p:ph type="title"/>
          </p:nvPr>
        </p:nvSpPr>
        <p:spPr>
          <a:xfrm>
            <a:off x="2493005" y="236425"/>
            <a:ext cx="5842992" cy="1143000"/>
          </a:xfrm>
        </p:spPr>
        <p:txBody>
          <a:bodyPr/>
          <a:lstStyle/>
          <a:p>
            <a:r>
              <a:rPr lang="en-US" dirty="0"/>
              <a:t>The scope of the project</a:t>
            </a:r>
          </a:p>
        </p:txBody>
      </p:sp>
      <p:sp>
        <p:nvSpPr>
          <p:cNvPr id="7" name="Rectangle 6">
            <a:extLst>
              <a:ext uri="{FF2B5EF4-FFF2-40B4-BE49-F238E27FC236}">
                <a16:creationId xmlns:a16="http://schemas.microsoft.com/office/drawing/2014/main" id="{5804EDD5-5006-E270-DB8A-ED24A07C2892}"/>
              </a:ext>
            </a:extLst>
          </p:cNvPr>
          <p:cNvSpPr/>
          <p:nvPr/>
        </p:nvSpPr>
        <p:spPr>
          <a:xfrm>
            <a:off x="270654" y="2204864"/>
            <a:ext cx="2736304" cy="352839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 name="Rectangle 7">
            <a:extLst>
              <a:ext uri="{FF2B5EF4-FFF2-40B4-BE49-F238E27FC236}">
                <a16:creationId xmlns:a16="http://schemas.microsoft.com/office/drawing/2014/main" id="{3BE4047B-AF00-F384-3011-7DB18EB8BE46}"/>
              </a:ext>
            </a:extLst>
          </p:cNvPr>
          <p:cNvSpPr/>
          <p:nvPr/>
        </p:nvSpPr>
        <p:spPr>
          <a:xfrm>
            <a:off x="3261552" y="2204864"/>
            <a:ext cx="2736304" cy="3528392"/>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68ECDE5-0F8B-DCA9-2767-9411082AFEDB}"/>
              </a:ext>
            </a:extLst>
          </p:cNvPr>
          <p:cNvSpPr txBox="1"/>
          <p:nvPr/>
        </p:nvSpPr>
        <p:spPr>
          <a:xfrm>
            <a:off x="380001" y="2665075"/>
            <a:ext cx="2517610" cy="1661993"/>
          </a:xfrm>
          <a:prstGeom prst="rect">
            <a:avLst/>
          </a:prstGeom>
          <a:noFill/>
        </p:spPr>
        <p:txBody>
          <a:bodyPr wrap="square" rtlCol="0">
            <a:spAutoFit/>
          </a:bodyPr>
          <a:lstStyle/>
          <a:p>
            <a:pPr algn="ctr"/>
            <a:r>
              <a:rPr lang="en-US" b="1" dirty="0"/>
              <a:t>Project selection</a:t>
            </a:r>
          </a:p>
          <a:p>
            <a:endParaRPr lang="en-US" dirty="0"/>
          </a:p>
          <a:p>
            <a:pPr algn="ctr"/>
            <a:r>
              <a:rPr lang="en-US" sz="1400" dirty="0">
                <a:solidFill>
                  <a:srgbClr val="7030A0"/>
                </a:solidFill>
              </a:rPr>
              <a:t>Choose something that you are interested in</a:t>
            </a:r>
            <a:endParaRPr lang="en-US" sz="1400" dirty="0">
              <a:solidFill>
                <a:srgbClr val="7030A0"/>
              </a:solidFill>
              <a:sym typeface="Wingdings" pitchFamily="2" charset="2"/>
            </a:endParaRPr>
          </a:p>
          <a:p>
            <a:endParaRPr lang="en-US" sz="1400" dirty="0">
              <a:sym typeface="Wingdings" pitchFamily="2" charset="2"/>
            </a:endParaRPr>
          </a:p>
          <a:p>
            <a:pPr algn="ctr"/>
            <a:r>
              <a:rPr lang="en-US" sz="1200" dirty="0">
                <a:sym typeface="Wingdings" pitchFamily="2" charset="2"/>
              </a:rPr>
              <a:t>Projects are suggestions, but we want you to shape them!</a:t>
            </a:r>
            <a:endParaRPr lang="en-US" sz="1200" dirty="0"/>
          </a:p>
        </p:txBody>
      </p:sp>
      <p:sp>
        <p:nvSpPr>
          <p:cNvPr id="10" name="TextBox 9">
            <a:extLst>
              <a:ext uri="{FF2B5EF4-FFF2-40B4-BE49-F238E27FC236}">
                <a16:creationId xmlns:a16="http://schemas.microsoft.com/office/drawing/2014/main" id="{96DCB79D-4DB8-80FE-5719-41A8F68AC2ED}"/>
              </a:ext>
            </a:extLst>
          </p:cNvPr>
          <p:cNvSpPr txBox="1"/>
          <p:nvPr/>
        </p:nvSpPr>
        <p:spPr>
          <a:xfrm>
            <a:off x="414054" y="4941168"/>
            <a:ext cx="2450942" cy="646331"/>
          </a:xfrm>
          <a:prstGeom prst="rect">
            <a:avLst/>
          </a:prstGeom>
          <a:noFill/>
        </p:spPr>
        <p:txBody>
          <a:bodyPr wrap="square">
            <a:spAutoFit/>
          </a:bodyPr>
          <a:lstStyle/>
          <a:p>
            <a:pPr algn="ctr"/>
            <a:r>
              <a:rPr lang="en-US" sz="1200" b="1" dirty="0">
                <a:solidFill>
                  <a:srgbClr val="7030A0"/>
                </a:solidFill>
                <a:sym typeface="Wingdings" pitchFamily="2" charset="2"/>
              </a:rPr>
              <a:t>Example: </a:t>
            </a:r>
            <a:r>
              <a:rPr lang="en-US" sz="1200" dirty="0">
                <a:sym typeface="Wingdings" pitchFamily="2" charset="2"/>
              </a:rPr>
              <a:t>I find the idea of project 1 interesting but I want to use a different geometry</a:t>
            </a:r>
            <a:endParaRPr lang="en-US" sz="1200" dirty="0"/>
          </a:p>
        </p:txBody>
      </p:sp>
      <p:sp>
        <p:nvSpPr>
          <p:cNvPr id="12" name="TextBox 11">
            <a:extLst>
              <a:ext uri="{FF2B5EF4-FFF2-40B4-BE49-F238E27FC236}">
                <a16:creationId xmlns:a16="http://schemas.microsoft.com/office/drawing/2014/main" id="{2FAF16F3-E85C-BACE-27AE-BBEEA1F003F2}"/>
              </a:ext>
            </a:extLst>
          </p:cNvPr>
          <p:cNvSpPr txBox="1"/>
          <p:nvPr/>
        </p:nvSpPr>
        <p:spPr>
          <a:xfrm>
            <a:off x="3333559" y="2665075"/>
            <a:ext cx="2592290" cy="2215991"/>
          </a:xfrm>
          <a:prstGeom prst="rect">
            <a:avLst/>
          </a:prstGeom>
          <a:noFill/>
        </p:spPr>
        <p:txBody>
          <a:bodyPr wrap="square" rtlCol="0">
            <a:spAutoFit/>
          </a:bodyPr>
          <a:lstStyle/>
          <a:p>
            <a:pPr algn="ctr"/>
            <a:r>
              <a:rPr lang="en-US" b="1" dirty="0"/>
              <a:t>Adapt it to your goals</a:t>
            </a:r>
          </a:p>
          <a:p>
            <a:endParaRPr lang="en-US" dirty="0"/>
          </a:p>
          <a:p>
            <a:pPr algn="ctr"/>
            <a:r>
              <a:rPr lang="en-US" sz="1400" dirty="0">
                <a:solidFill>
                  <a:srgbClr val="7030A0"/>
                </a:solidFill>
                <a:sym typeface="Wingdings" pitchFamily="2" charset="2"/>
              </a:rPr>
              <a:t>Set up the project based on your experience</a:t>
            </a:r>
          </a:p>
          <a:p>
            <a:endParaRPr lang="en-US" sz="1400" dirty="0">
              <a:sym typeface="Wingdings" pitchFamily="2" charset="2"/>
            </a:endParaRPr>
          </a:p>
          <a:p>
            <a:pPr algn="ctr"/>
            <a:r>
              <a:rPr lang="en-US" sz="1200" dirty="0">
                <a:sym typeface="Wingdings" pitchFamily="2" charset="2"/>
              </a:rPr>
              <a:t>If you are very experiences, dare to go beyond the suggestions! If you are a newbie in ML/computing, doing a warm-up problem is an impressive achievement!</a:t>
            </a:r>
            <a:endParaRPr lang="en-US" sz="1200" dirty="0"/>
          </a:p>
        </p:txBody>
      </p:sp>
      <p:sp>
        <p:nvSpPr>
          <p:cNvPr id="13" name="TextBox 12">
            <a:extLst>
              <a:ext uri="{FF2B5EF4-FFF2-40B4-BE49-F238E27FC236}">
                <a16:creationId xmlns:a16="http://schemas.microsoft.com/office/drawing/2014/main" id="{2CF8C3B5-B488-9999-3F32-9A9B242FE166}"/>
              </a:ext>
            </a:extLst>
          </p:cNvPr>
          <p:cNvSpPr txBox="1"/>
          <p:nvPr/>
        </p:nvSpPr>
        <p:spPr>
          <a:xfrm>
            <a:off x="3449755" y="5076328"/>
            <a:ext cx="2450942" cy="461665"/>
          </a:xfrm>
          <a:prstGeom prst="rect">
            <a:avLst/>
          </a:prstGeom>
          <a:noFill/>
        </p:spPr>
        <p:txBody>
          <a:bodyPr wrap="square">
            <a:spAutoFit/>
          </a:bodyPr>
          <a:lstStyle/>
          <a:p>
            <a:pPr algn="ctr"/>
            <a:r>
              <a:rPr lang="en-US" sz="1200" b="1" dirty="0">
                <a:solidFill>
                  <a:srgbClr val="7030A0"/>
                </a:solidFill>
                <a:sym typeface="Wingdings" pitchFamily="2" charset="2"/>
              </a:rPr>
              <a:t>Talk to TAs/lecturers to scope the project together</a:t>
            </a:r>
            <a:endParaRPr lang="en-US" sz="1200" dirty="0"/>
          </a:p>
        </p:txBody>
      </p:sp>
      <p:sp>
        <p:nvSpPr>
          <p:cNvPr id="14" name="Rectangle 13">
            <a:extLst>
              <a:ext uri="{FF2B5EF4-FFF2-40B4-BE49-F238E27FC236}">
                <a16:creationId xmlns:a16="http://schemas.microsoft.com/office/drawing/2014/main" id="{5EC59D53-02D8-2762-9ECC-2F1D4F0888D0}"/>
              </a:ext>
            </a:extLst>
          </p:cNvPr>
          <p:cNvSpPr/>
          <p:nvPr/>
        </p:nvSpPr>
        <p:spPr>
          <a:xfrm>
            <a:off x="6217255" y="2204864"/>
            <a:ext cx="2736304" cy="352839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5" name="TextBox 14">
            <a:extLst>
              <a:ext uri="{FF2B5EF4-FFF2-40B4-BE49-F238E27FC236}">
                <a16:creationId xmlns:a16="http://schemas.microsoft.com/office/drawing/2014/main" id="{E682D365-702C-EBEE-F7C5-9D0445A1D31E}"/>
              </a:ext>
            </a:extLst>
          </p:cNvPr>
          <p:cNvSpPr txBox="1"/>
          <p:nvPr/>
        </p:nvSpPr>
        <p:spPr>
          <a:xfrm>
            <a:off x="6326602" y="2665075"/>
            <a:ext cx="2517610" cy="1631216"/>
          </a:xfrm>
          <a:prstGeom prst="rect">
            <a:avLst/>
          </a:prstGeom>
          <a:noFill/>
        </p:spPr>
        <p:txBody>
          <a:bodyPr wrap="square" rtlCol="0">
            <a:spAutoFit/>
          </a:bodyPr>
          <a:lstStyle/>
          <a:p>
            <a:pPr algn="ctr"/>
            <a:r>
              <a:rPr lang="en-US" b="1" dirty="0"/>
              <a:t>Compute budget</a:t>
            </a:r>
          </a:p>
          <a:p>
            <a:endParaRPr lang="en-US" dirty="0"/>
          </a:p>
          <a:p>
            <a:pPr algn="ctr"/>
            <a:r>
              <a:rPr lang="en-US" sz="1400" dirty="0">
                <a:solidFill>
                  <a:srgbClr val="7030A0"/>
                </a:solidFill>
                <a:sym typeface="Wingdings" pitchFamily="2" charset="2"/>
              </a:rPr>
              <a:t>Be realistic about resources</a:t>
            </a:r>
          </a:p>
          <a:p>
            <a:endParaRPr lang="en-US" sz="1400" dirty="0">
              <a:sym typeface="Wingdings" pitchFamily="2" charset="2"/>
            </a:endParaRPr>
          </a:p>
          <a:p>
            <a:pPr algn="ctr"/>
            <a:r>
              <a:rPr lang="en-US" sz="1200" dirty="0">
                <a:sym typeface="Wingdings" pitchFamily="2" charset="2"/>
              </a:rPr>
              <a:t>It is more valuable to have a full pipeline design rather than a lot of data and no time to use it</a:t>
            </a:r>
            <a:endParaRPr lang="en-US" sz="1200" dirty="0"/>
          </a:p>
        </p:txBody>
      </p:sp>
      <p:sp>
        <p:nvSpPr>
          <p:cNvPr id="16" name="TextBox 15">
            <a:extLst>
              <a:ext uri="{FF2B5EF4-FFF2-40B4-BE49-F238E27FC236}">
                <a16:creationId xmlns:a16="http://schemas.microsoft.com/office/drawing/2014/main" id="{380FE00C-3648-E878-20DB-9F6AC52DB9B3}"/>
              </a:ext>
            </a:extLst>
          </p:cNvPr>
          <p:cNvSpPr txBox="1"/>
          <p:nvPr/>
        </p:nvSpPr>
        <p:spPr>
          <a:xfrm>
            <a:off x="6393270" y="4568496"/>
            <a:ext cx="2450942" cy="1015663"/>
          </a:xfrm>
          <a:prstGeom prst="rect">
            <a:avLst/>
          </a:prstGeom>
          <a:noFill/>
        </p:spPr>
        <p:txBody>
          <a:bodyPr wrap="square">
            <a:spAutoFit/>
          </a:bodyPr>
          <a:lstStyle/>
          <a:p>
            <a:pPr algn="ctr"/>
            <a:r>
              <a:rPr lang="en-US" sz="1200" b="1" dirty="0">
                <a:solidFill>
                  <a:srgbClr val="7030A0"/>
                </a:solidFill>
                <a:sym typeface="Wingdings" pitchFamily="2" charset="2"/>
              </a:rPr>
              <a:t>Resources: </a:t>
            </a:r>
            <a:r>
              <a:rPr lang="en-US" sz="1200" dirty="0">
                <a:sym typeface="Wingdings" pitchFamily="2" charset="2"/>
              </a:rPr>
              <a:t>We have 124 cores in </a:t>
            </a:r>
            <a:r>
              <a:rPr lang="en-US" sz="1200" dirty="0" err="1">
                <a:sym typeface="Wingdings" pitchFamily="2" charset="2"/>
              </a:rPr>
              <a:t>MaSC</a:t>
            </a:r>
            <a:r>
              <a:rPr lang="en-US" sz="1200" dirty="0">
                <a:sym typeface="Wingdings" pitchFamily="2" charset="2"/>
              </a:rPr>
              <a:t> and 4 GPUs. This can be used for prototyping, but if you are going big, consider other resources, e.g. CSF</a:t>
            </a:r>
            <a:endParaRPr lang="en-US" sz="1200" dirty="0"/>
          </a:p>
        </p:txBody>
      </p:sp>
      <p:sp>
        <p:nvSpPr>
          <p:cNvPr id="17" name="Content Placeholder 2">
            <a:extLst>
              <a:ext uri="{FF2B5EF4-FFF2-40B4-BE49-F238E27FC236}">
                <a16:creationId xmlns:a16="http://schemas.microsoft.com/office/drawing/2014/main" id="{44DE4DBA-BA6D-5EFC-A3C5-665882E61086}"/>
              </a:ext>
            </a:extLst>
          </p:cNvPr>
          <p:cNvSpPr txBox="1">
            <a:spLocks/>
          </p:cNvSpPr>
          <p:nvPr/>
        </p:nvSpPr>
        <p:spPr bwMode="auto">
          <a:xfrm>
            <a:off x="323528" y="1618927"/>
            <a:ext cx="8352928"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How far should I stretch in the project?</a:t>
            </a:r>
            <a:endParaRPr lang="en-US" sz="1600" dirty="0">
              <a:solidFill>
                <a:srgbClr val="7030A0"/>
              </a:solidFill>
            </a:endParaRPr>
          </a:p>
        </p:txBody>
      </p:sp>
      <p:sp>
        <p:nvSpPr>
          <p:cNvPr id="18" name="Content Placeholder 2">
            <a:extLst>
              <a:ext uri="{FF2B5EF4-FFF2-40B4-BE49-F238E27FC236}">
                <a16:creationId xmlns:a16="http://schemas.microsoft.com/office/drawing/2014/main" id="{4FD8A4FD-37AE-60C1-09DC-0C98230C7A82}"/>
              </a:ext>
            </a:extLst>
          </p:cNvPr>
          <p:cNvSpPr txBox="1">
            <a:spLocks/>
          </p:cNvSpPr>
          <p:nvPr/>
        </p:nvSpPr>
        <p:spPr bwMode="auto">
          <a:xfrm>
            <a:off x="414054" y="5959153"/>
            <a:ext cx="8352928"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Once you’ve chosen a project/direction, the rest of the session should be applicable independent of the topic. Focus on </a:t>
            </a:r>
            <a:r>
              <a:rPr lang="en-US" sz="1600" b="1" dirty="0">
                <a:solidFill>
                  <a:srgbClr val="7030A0"/>
                </a:solidFill>
              </a:rPr>
              <a:t>good practices</a:t>
            </a:r>
          </a:p>
        </p:txBody>
      </p:sp>
    </p:spTree>
    <p:extLst>
      <p:ext uri="{BB962C8B-B14F-4D97-AF65-F5344CB8AC3E}">
        <p14:creationId xmlns:p14="http://schemas.microsoft.com/office/powerpoint/2010/main" val="2312057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F3A7-DCEE-BCF8-967C-E420A89FA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74BB4-82D9-125A-D436-495572156AE3}"/>
              </a:ext>
            </a:extLst>
          </p:cNvPr>
          <p:cNvSpPr>
            <a:spLocks noGrp="1"/>
          </p:cNvSpPr>
          <p:nvPr>
            <p:ph type="title"/>
          </p:nvPr>
        </p:nvSpPr>
        <p:spPr>
          <a:xfrm>
            <a:off x="2493005" y="236425"/>
            <a:ext cx="5842992" cy="1143000"/>
          </a:xfrm>
        </p:spPr>
        <p:txBody>
          <a:bodyPr/>
          <a:lstStyle/>
          <a:p>
            <a:r>
              <a:rPr lang="en-US" dirty="0"/>
              <a:t>The problem + ML pipeline</a:t>
            </a:r>
          </a:p>
        </p:txBody>
      </p:sp>
      <p:sp>
        <p:nvSpPr>
          <p:cNvPr id="3" name="Content Placeholder 2">
            <a:extLst>
              <a:ext uri="{FF2B5EF4-FFF2-40B4-BE49-F238E27FC236}">
                <a16:creationId xmlns:a16="http://schemas.microsoft.com/office/drawing/2014/main" id="{10BD522F-15A4-0B76-F7E2-D04F269CE307}"/>
              </a:ext>
            </a:extLst>
          </p:cNvPr>
          <p:cNvSpPr>
            <a:spLocks noGrp="1"/>
          </p:cNvSpPr>
          <p:nvPr>
            <p:ph idx="1"/>
          </p:nvPr>
        </p:nvSpPr>
        <p:spPr>
          <a:xfrm>
            <a:off x="395536" y="1540358"/>
            <a:ext cx="8229600" cy="448482"/>
          </a:xfrm>
        </p:spPr>
        <p:txBody>
          <a:bodyPr/>
          <a:lstStyle/>
          <a:p>
            <a:pPr marL="0" indent="0">
              <a:buNone/>
            </a:pPr>
            <a:r>
              <a:rPr lang="en-US" sz="1600" dirty="0"/>
              <a:t>Typical ML pipeline: data, model, loss, </a:t>
            </a:r>
            <a:r>
              <a:rPr lang="en-US" sz="1600" dirty="0" err="1"/>
              <a:t>optimisation</a:t>
            </a:r>
            <a:endParaRPr lang="en-US" sz="1800" dirty="0"/>
          </a:p>
        </p:txBody>
      </p:sp>
      <p:sp>
        <p:nvSpPr>
          <p:cNvPr id="11" name="Content Placeholder 2">
            <a:extLst>
              <a:ext uri="{FF2B5EF4-FFF2-40B4-BE49-F238E27FC236}">
                <a16:creationId xmlns:a16="http://schemas.microsoft.com/office/drawing/2014/main" id="{68FFD59B-1E74-9379-0AA1-D0637F0B912D}"/>
              </a:ext>
            </a:extLst>
          </p:cNvPr>
          <p:cNvSpPr txBox="1">
            <a:spLocks/>
          </p:cNvSpPr>
          <p:nvPr/>
        </p:nvSpPr>
        <p:spPr bwMode="auto">
          <a:xfrm>
            <a:off x="395536" y="5733256"/>
            <a:ext cx="8352928"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We need enough data, a good enough model, a loss (objective) to </a:t>
            </a:r>
            <a:r>
              <a:rPr lang="en-US" sz="1600" dirty="0" err="1"/>
              <a:t>mimise</a:t>
            </a:r>
            <a:r>
              <a:rPr lang="en-US" sz="1600" dirty="0"/>
              <a:t>/</a:t>
            </a:r>
            <a:r>
              <a:rPr lang="en-US" sz="1600" dirty="0" err="1"/>
              <a:t>maximise</a:t>
            </a:r>
            <a:r>
              <a:rPr lang="en-US" sz="1600" dirty="0"/>
              <a:t> and an </a:t>
            </a:r>
            <a:r>
              <a:rPr lang="en-US" sz="1600" dirty="0" err="1"/>
              <a:t>optimiser</a:t>
            </a:r>
            <a:r>
              <a:rPr lang="en-US" sz="1600" dirty="0"/>
              <a:t> to find the next step.</a:t>
            </a:r>
            <a:endParaRPr lang="en-US" sz="1600" dirty="0">
              <a:solidFill>
                <a:srgbClr val="7030A0"/>
              </a:solidFill>
            </a:endParaRPr>
          </a:p>
        </p:txBody>
      </p:sp>
      <p:sp>
        <p:nvSpPr>
          <p:cNvPr id="34" name="Shape 4">
            <a:extLst>
              <a:ext uri="{FF2B5EF4-FFF2-40B4-BE49-F238E27FC236}">
                <a16:creationId xmlns:a16="http://schemas.microsoft.com/office/drawing/2014/main" id="{C7FEE8CA-44F6-207F-B0EB-6AB0E7BF0E69}"/>
              </a:ext>
            </a:extLst>
          </p:cNvPr>
          <p:cNvSpPr/>
          <p:nvPr/>
        </p:nvSpPr>
        <p:spPr>
          <a:xfrm>
            <a:off x="822960" y="2743200"/>
            <a:ext cx="1371600" cy="1371600"/>
          </a:xfrm>
          <a:prstGeom prst="ellipse">
            <a:avLst/>
          </a:prstGeom>
          <a:solidFill>
            <a:schemeClr val="accent2">
              <a:lumMod val="75000"/>
            </a:schemeClr>
          </a:solidFill>
          <a:ln/>
        </p:spPr>
        <p:txBody>
          <a:bodyPr/>
          <a:lstStyle/>
          <a:p>
            <a:endParaRPr lang="en-US"/>
          </a:p>
        </p:txBody>
      </p:sp>
      <p:pic>
        <p:nvPicPr>
          <p:cNvPr id="35" name="Image 0" descr="/home/claude/ml_intro_deck/icons/database_white.png">
            <a:extLst>
              <a:ext uri="{FF2B5EF4-FFF2-40B4-BE49-F238E27FC236}">
                <a16:creationId xmlns:a16="http://schemas.microsoft.com/office/drawing/2014/main" id="{3334B450-BB80-08F8-ECA0-8E13F62AA836}"/>
              </a:ext>
            </a:extLst>
          </p:cNvPr>
          <p:cNvPicPr>
            <a:picLocks noChangeAspect="1"/>
          </p:cNvPicPr>
          <p:nvPr/>
        </p:nvPicPr>
        <p:blipFill>
          <a:blip r:embed="rId3"/>
          <a:stretch>
            <a:fillRect/>
          </a:stretch>
        </p:blipFill>
        <p:spPr>
          <a:xfrm>
            <a:off x="1152144" y="3072384"/>
            <a:ext cx="713232" cy="713232"/>
          </a:xfrm>
          <a:prstGeom prst="rect">
            <a:avLst/>
          </a:prstGeom>
        </p:spPr>
      </p:pic>
      <p:sp>
        <p:nvSpPr>
          <p:cNvPr id="36" name="Text 5">
            <a:extLst>
              <a:ext uri="{FF2B5EF4-FFF2-40B4-BE49-F238E27FC236}">
                <a16:creationId xmlns:a16="http://schemas.microsoft.com/office/drawing/2014/main" id="{5434C437-E623-D6E8-4B8C-91895B204648}"/>
              </a:ext>
            </a:extLst>
          </p:cNvPr>
          <p:cNvSpPr/>
          <p:nvPr/>
        </p:nvSpPr>
        <p:spPr>
          <a:xfrm>
            <a:off x="548640" y="4251960"/>
            <a:ext cx="19202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mbria" pitchFamily="34" charset="0"/>
                <a:ea typeface="Cambria" pitchFamily="34" charset="-122"/>
                <a:cs typeface="Cambria" pitchFamily="34" charset="-120"/>
              </a:rPr>
              <a:t>DATA</a:t>
            </a:r>
            <a:endParaRPr lang="en-US" sz="1300" dirty="0"/>
          </a:p>
        </p:txBody>
      </p:sp>
      <p:sp>
        <p:nvSpPr>
          <p:cNvPr id="37" name="Shape 6">
            <a:extLst>
              <a:ext uri="{FF2B5EF4-FFF2-40B4-BE49-F238E27FC236}">
                <a16:creationId xmlns:a16="http://schemas.microsoft.com/office/drawing/2014/main" id="{83DD787C-730A-745E-4A8E-17821D0B85D2}"/>
              </a:ext>
            </a:extLst>
          </p:cNvPr>
          <p:cNvSpPr/>
          <p:nvPr/>
        </p:nvSpPr>
        <p:spPr>
          <a:xfrm>
            <a:off x="2194560" y="3429000"/>
            <a:ext cx="577240" cy="0"/>
          </a:xfrm>
          <a:prstGeom prst="line">
            <a:avLst/>
          </a:prstGeom>
          <a:noFill/>
          <a:ln w="31750">
            <a:solidFill>
              <a:srgbClr val="5C7A9E"/>
            </a:solidFill>
            <a:prstDash val="solid"/>
            <a:tailEnd type="triangle"/>
          </a:ln>
        </p:spPr>
        <p:txBody>
          <a:bodyPr/>
          <a:lstStyle/>
          <a:p>
            <a:endParaRPr lang="en-US"/>
          </a:p>
        </p:txBody>
      </p:sp>
      <p:sp>
        <p:nvSpPr>
          <p:cNvPr id="38" name="Shape 7">
            <a:extLst>
              <a:ext uri="{FF2B5EF4-FFF2-40B4-BE49-F238E27FC236}">
                <a16:creationId xmlns:a16="http://schemas.microsoft.com/office/drawing/2014/main" id="{246D98D3-FF15-0CE7-AF2B-D78D3768E41A}"/>
              </a:ext>
            </a:extLst>
          </p:cNvPr>
          <p:cNvSpPr/>
          <p:nvPr/>
        </p:nvSpPr>
        <p:spPr>
          <a:xfrm>
            <a:off x="2758088" y="2743200"/>
            <a:ext cx="1371600" cy="1371600"/>
          </a:xfrm>
          <a:prstGeom prst="ellipse">
            <a:avLst/>
          </a:prstGeom>
          <a:solidFill>
            <a:schemeClr val="accent4">
              <a:lumMod val="75000"/>
            </a:schemeClr>
          </a:solidFill>
          <a:ln/>
        </p:spPr>
        <p:txBody>
          <a:bodyPr/>
          <a:lstStyle/>
          <a:p>
            <a:endParaRPr lang="en-US"/>
          </a:p>
        </p:txBody>
      </p:sp>
      <p:pic>
        <p:nvPicPr>
          <p:cNvPr id="39" name="Image 1" descr="/home/claude/ml_intro_deck/icons/layers_white.png">
            <a:extLst>
              <a:ext uri="{FF2B5EF4-FFF2-40B4-BE49-F238E27FC236}">
                <a16:creationId xmlns:a16="http://schemas.microsoft.com/office/drawing/2014/main" id="{E58C2AD2-E0BB-3FA3-9AF3-73F049D729B3}"/>
              </a:ext>
            </a:extLst>
          </p:cNvPr>
          <p:cNvPicPr>
            <a:picLocks noChangeAspect="1"/>
          </p:cNvPicPr>
          <p:nvPr/>
        </p:nvPicPr>
        <p:blipFill>
          <a:blip r:embed="rId4"/>
          <a:stretch>
            <a:fillRect/>
          </a:stretch>
        </p:blipFill>
        <p:spPr>
          <a:xfrm>
            <a:off x="3087272" y="3072384"/>
            <a:ext cx="713232" cy="713232"/>
          </a:xfrm>
          <a:prstGeom prst="rect">
            <a:avLst/>
          </a:prstGeom>
        </p:spPr>
      </p:pic>
      <p:sp>
        <p:nvSpPr>
          <p:cNvPr id="40" name="Text 8">
            <a:extLst>
              <a:ext uri="{FF2B5EF4-FFF2-40B4-BE49-F238E27FC236}">
                <a16:creationId xmlns:a16="http://schemas.microsoft.com/office/drawing/2014/main" id="{CDB1E483-651E-D2EB-7E82-74F3D48E5794}"/>
              </a:ext>
            </a:extLst>
          </p:cNvPr>
          <p:cNvSpPr/>
          <p:nvPr/>
        </p:nvSpPr>
        <p:spPr>
          <a:xfrm>
            <a:off x="2483768" y="4251960"/>
            <a:ext cx="19202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mbria" pitchFamily="34" charset="0"/>
                <a:ea typeface="Cambria" pitchFamily="34" charset="-122"/>
                <a:cs typeface="Cambria" pitchFamily="34" charset="-120"/>
              </a:rPr>
              <a:t>MODEL</a:t>
            </a:r>
            <a:endParaRPr lang="en-US" sz="1300" dirty="0"/>
          </a:p>
        </p:txBody>
      </p:sp>
      <p:sp>
        <p:nvSpPr>
          <p:cNvPr id="42" name="Shape 10">
            <a:extLst>
              <a:ext uri="{FF2B5EF4-FFF2-40B4-BE49-F238E27FC236}">
                <a16:creationId xmlns:a16="http://schemas.microsoft.com/office/drawing/2014/main" id="{97AE7363-72E9-BD9A-AB97-0A2CCDCD23B7}"/>
              </a:ext>
            </a:extLst>
          </p:cNvPr>
          <p:cNvSpPr/>
          <p:nvPr/>
        </p:nvSpPr>
        <p:spPr>
          <a:xfrm>
            <a:off x="4654272" y="2743200"/>
            <a:ext cx="1371600" cy="1371600"/>
          </a:xfrm>
          <a:prstGeom prst="ellipse">
            <a:avLst/>
          </a:prstGeom>
          <a:solidFill>
            <a:schemeClr val="accent5">
              <a:lumMod val="75000"/>
            </a:schemeClr>
          </a:solidFill>
          <a:ln/>
        </p:spPr>
        <p:txBody>
          <a:bodyPr/>
          <a:lstStyle/>
          <a:p>
            <a:endParaRPr lang="en-US"/>
          </a:p>
        </p:txBody>
      </p:sp>
      <p:pic>
        <p:nvPicPr>
          <p:cNvPr id="43" name="Image 2" descr="/home/claude/ml_intro_deck/icons/target_white.png">
            <a:extLst>
              <a:ext uri="{FF2B5EF4-FFF2-40B4-BE49-F238E27FC236}">
                <a16:creationId xmlns:a16="http://schemas.microsoft.com/office/drawing/2014/main" id="{FB424609-1E6B-7D0D-9178-92D327631220}"/>
              </a:ext>
            </a:extLst>
          </p:cNvPr>
          <p:cNvPicPr>
            <a:picLocks noChangeAspect="1"/>
          </p:cNvPicPr>
          <p:nvPr/>
        </p:nvPicPr>
        <p:blipFill>
          <a:blip r:embed="rId5"/>
          <a:stretch>
            <a:fillRect/>
          </a:stretch>
        </p:blipFill>
        <p:spPr>
          <a:xfrm>
            <a:off x="4983456" y="3072384"/>
            <a:ext cx="713232" cy="713232"/>
          </a:xfrm>
          <a:prstGeom prst="rect">
            <a:avLst/>
          </a:prstGeom>
        </p:spPr>
      </p:pic>
      <p:sp>
        <p:nvSpPr>
          <p:cNvPr id="44" name="Text 11">
            <a:extLst>
              <a:ext uri="{FF2B5EF4-FFF2-40B4-BE49-F238E27FC236}">
                <a16:creationId xmlns:a16="http://schemas.microsoft.com/office/drawing/2014/main" id="{674F2112-6074-1128-2855-F66AD85B6833}"/>
              </a:ext>
            </a:extLst>
          </p:cNvPr>
          <p:cNvSpPr/>
          <p:nvPr/>
        </p:nvSpPr>
        <p:spPr>
          <a:xfrm>
            <a:off x="4379952" y="4251960"/>
            <a:ext cx="19202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mbria" pitchFamily="34" charset="0"/>
                <a:ea typeface="Cambria" pitchFamily="34" charset="-122"/>
                <a:cs typeface="Cambria" pitchFamily="34" charset="-120"/>
              </a:rPr>
              <a:t>LOSS</a:t>
            </a:r>
            <a:endParaRPr lang="en-US" sz="1300" dirty="0"/>
          </a:p>
        </p:txBody>
      </p:sp>
      <p:sp>
        <p:nvSpPr>
          <p:cNvPr id="46" name="Shape 13">
            <a:extLst>
              <a:ext uri="{FF2B5EF4-FFF2-40B4-BE49-F238E27FC236}">
                <a16:creationId xmlns:a16="http://schemas.microsoft.com/office/drawing/2014/main" id="{1E7F191C-2AFF-5752-2190-820E959FD4EF}"/>
              </a:ext>
            </a:extLst>
          </p:cNvPr>
          <p:cNvSpPr/>
          <p:nvPr/>
        </p:nvSpPr>
        <p:spPr>
          <a:xfrm>
            <a:off x="6588224" y="2743200"/>
            <a:ext cx="1371600" cy="1371600"/>
          </a:xfrm>
          <a:prstGeom prst="ellipse">
            <a:avLst/>
          </a:prstGeom>
          <a:solidFill>
            <a:schemeClr val="accent6">
              <a:lumMod val="75000"/>
            </a:schemeClr>
          </a:solidFill>
          <a:ln/>
        </p:spPr>
        <p:txBody>
          <a:bodyPr/>
          <a:lstStyle/>
          <a:p>
            <a:endParaRPr lang="en-US"/>
          </a:p>
        </p:txBody>
      </p:sp>
      <p:pic>
        <p:nvPicPr>
          <p:cNvPr id="47" name="Image 3" descr="/home/claude/ml_intro_deck/icons/sync_white.png">
            <a:extLst>
              <a:ext uri="{FF2B5EF4-FFF2-40B4-BE49-F238E27FC236}">
                <a16:creationId xmlns:a16="http://schemas.microsoft.com/office/drawing/2014/main" id="{AEDDBB3F-9B37-DB19-3000-019D6D2ED5E7}"/>
              </a:ext>
            </a:extLst>
          </p:cNvPr>
          <p:cNvPicPr>
            <a:picLocks noChangeAspect="1"/>
          </p:cNvPicPr>
          <p:nvPr/>
        </p:nvPicPr>
        <p:blipFill>
          <a:blip r:embed="rId6"/>
          <a:stretch>
            <a:fillRect/>
          </a:stretch>
        </p:blipFill>
        <p:spPr>
          <a:xfrm>
            <a:off x="6917408" y="3072384"/>
            <a:ext cx="713232" cy="713232"/>
          </a:xfrm>
          <a:prstGeom prst="rect">
            <a:avLst/>
          </a:prstGeom>
        </p:spPr>
      </p:pic>
      <p:sp>
        <p:nvSpPr>
          <p:cNvPr id="48" name="Text 14">
            <a:extLst>
              <a:ext uri="{FF2B5EF4-FFF2-40B4-BE49-F238E27FC236}">
                <a16:creationId xmlns:a16="http://schemas.microsoft.com/office/drawing/2014/main" id="{D24DA8D8-A8A6-9EB9-515E-52C21F285D97}"/>
              </a:ext>
            </a:extLst>
          </p:cNvPr>
          <p:cNvSpPr/>
          <p:nvPr/>
        </p:nvSpPr>
        <p:spPr>
          <a:xfrm>
            <a:off x="6396176" y="4221088"/>
            <a:ext cx="19202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mbria" pitchFamily="34" charset="0"/>
                <a:ea typeface="Cambria" pitchFamily="34" charset="-122"/>
                <a:cs typeface="Cambria" pitchFamily="34" charset="-120"/>
              </a:rPr>
              <a:t>OPTIMISATION</a:t>
            </a:r>
            <a:endParaRPr lang="en-US" sz="1300" dirty="0"/>
          </a:p>
        </p:txBody>
      </p:sp>
      <p:sp>
        <p:nvSpPr>
          <p:cNvPr id="49" name="Shape 15">
            <a:extLst>
              <a:ext uri="{FF2B5EF4-FFF2-40B4-BE49-F238E27FC236}">
                <a16:creationId xmlns:a16="http://schemas.microsoft.com/office/drawing/2014/main" id="{D36A367C-66D8-77B5-CCAB-ABE8132FA046}"/>
              </a:ext>
            </a:extLst>
          </p:cNvPr>
          <p:cNvSpPr/>
          <p:nvPr/>
        </p:nvSpPr>
        <p:spPr>
          <a:xfrm>
            <a:off x="1508760" y="4800600"/>
            <a:ext cx="5943560" cy="0"/>
          </a:xfrm>
          <a:prstGeom prst="line">
            <a:avLst/>
          </a:prstGeom>
          <a:noFill/>
          <a:ln w="25400">
            <a:solidFill>
              <a:srgbClr val="E8871E"/>
            </a:solidFill>
            <a:prstDash val="dash"/>
            <a:headEnd type="triangle"/>
          </a:ln>
        </p:spPr>
        <p:txBody>
          <a:bodyPr/>
          <a:lstStyle/>
          <a:p>
            <a:endParaRPr lang="en-US"/>
          </a:p>
        </p:txBody>
      </p:sp>
      <p:sp>
        <p:nvSpPr>
          <p:cNvPr id="50" name="Text 16">
            <a:extLst>
              <a:ext uri="{FF2B5EF4-FFF2-40B4-BE49-F238E27FC236}">
                <a16:creationId xmlns:a16="http://schemas.microsoft.com/office/drawing/2014/main" id="{A76A1451-F603-1D20-9DBB-BC5C091C105C}"/>
              </a:ext>
            </a:extLst>
          </p:cNvPr>
          <p:cNvSpPr/>
          <p:nvPr/>
        </p:nvSpPr>
        <p:spPr>
          <a:xfrm>
            <a:off x="1003568" y="5045232"/>
            <a:ext cx="7136864" cy="325776"/>
          </a:xfrm>
          <a:prstGeom prst="rect">
            <a:avLst/>
          </a:prstGeom>
          <a:noFill/>
          <a:ln/>
        </p:spPr>
        <p:txBody>
          <a:bodyPr wrap="square" lIns="0" tIns="0" rIns="0" bIns="0" rtlCol="0" anchor="ctr"/>
          <a:lstStyle/>
          <a:p>
            <a:pPr marL="0" indent="0" algn="ctr">
              <a:buNone/>
            </a:pPr>
            <a:r>
              <a:rPr lang="en-US" sz="1100" dirty="0">
                <a:solidFill>
                  <a:srgbClr val="E8871E"/>
                </a:solidFill>
                <a:latin typeface="Calibri" pitchFamily="34" charset="0"/>
                <a:ea typeface="Calibri" pitchFamily="34" charset="-122"/>
                <a:cs typeface="Calibri" pitchFamily="34" charset="-120"/>
              </a:rPr>
              <a:t>iterate: refine model / retrain with new data</a:t>
            </a:r>
            <a:endParaRPr lang="en-US" sz="1100" dirty="0"/>
          </a:p>
        </p:txBody>
      </p:sp>
      <p:sp>
        <p:nvSpPr>
          <p:cNvPr id="51" name="Shape 6">
            <a:extLst>
              <a:ext uri="{FF2B5EF4-FFF2-40B4-BE49-F238E27FC236}">
                <a16:creationId xmlns:a16="http://schemas.microsoft.com/office/drawing/2014/main" id="{ED5ED66B-A891-14A1-A215-614082823B8E}"/>
              </a:ext>
            </a:extLst>
          </p:cNvPr>
          <p:cNvSpPr/>
          <p:nvPr/>
        </p:nvSpPr>
        <p:spPr>
          <a:xfrm>
            <a:off x="4129688" y="3429000"/>
            <a:ext cx="586328" cy="0"/>
          </a:xfrm>
          <a:prstGeom prst="line">
            <a:avLst/>
          </a:prstGeom>
          <a:noFill/>
          <a:ln w="31750">
            <a:solidFill>
              <a:srgbClr val="5C7A9E"/>
            </a:solidFill>
            <a:prstDash val="solid"/>
            <a:tailEnd type="triangle"/>
          </a:ln>
        </p:spPr>
        <p:txBody>
          <a:bodyPr/>
          <a:lstStyle/>
          <a:p>
            <a:endParaRPr lang="en-US"/>
          </a:p>
        </p:txBody>
      </p:sp>
      <p:sp>
        <p:nvSpPr>
          <p:cNvPr id="52" name="Shape 6">
            <a:extLst>
              <a:ext uri="{FF2B5EF4-FFF2-40B4-BE49-F238E27FC236}">
                <a16:creationId xmlns:a16="http://schemas.microsoft.com/office/drawing/2014/main" id="{BEE5F794-315C-C764-0940-7470F9F90EBE}"/>
              </a:ext>
            </a:extLst>
          </p:cNvPr>
          <p:cNvSpPr/>
          <p:nvPr/>
        </p:nvSpPr>
        <p:spPr>
          <a:xfrm>
            <a:off x="6012160" y="3429000"/>
            <a:ext cx="586328" cy="0"/>
          </a:xfrm>
          <a:prstGeom prst="line">
            <a:avLst/>
          </a:prstGeom>
          <a:noFill/>
          <a:ln w="31750">
            <a:solidFill>
              <a:srgbClr val="5C7A9E"/>
            </a:solidFill>
            <a:prstDash val="solid"/>
            <a:tailEnd type="triangle"/>
          </a:ln>
        </p:spPr>
        <p:txBody>
          <a:bodyPr/>
          <a:lstStyle/>
          <a:p>
            <a:endParaRPr lang="en-US"/>
          </a:p>
        </p:txBody>
      </p:sp>
    </p:spTree>
    <p:extLst>
      <p:ext uri="{BB962C8B-B14F-4D97-AF65-F5344CB8AC3E}">
        <p14:creationId xmlns:p14="http://schemas.microsoft.com/office/powerpoint/2010/main" val="1347553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ED131-2E36-8C2D-8010-FF2842BBC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29BB1-22C6-D6F1-007D-4DE44CA597A6}"/>
              </a:ext>
            </a:extLst>
          </p:cNvPr>
          <p:cNvSpPr>
            <a:spLocks noGrp="1"/>
          </p:cNvSpPr>
          <p:nvPr>
            <p:ph type="title"/>
          </p:nvPr>
        </p:nvSpPr>
        <p:spPr>
          <a:xfrm>
            <a:off x="2493005" y="236425"/>
            <a:ext cx="5842992" cy="1143000"/>
          </a:xfrm>
        </p:spPr>
        <p:txBody>
          <a:bodyPr/>
          <a:lstStyle/>
          <a:p>
            <a:r>
              <a:rPr lang="en-US" dirty="0"/>
              <a:t>The problem + ML pipeline</a:t>
            </a:r>
          </a:p>
        </p:txBody>
      </p:sp>
      <p:sp>
        <p:nvSpPr>
          <p:cNvPr id="3" name="Content Placeholder 2">
            <a:extLst>
              <a:ext uri="{FF2B5EF4-FFF2-40B4-BE49-F238E27FC236}">
                <a16:creationId xmlns:a16="http://schemas.microsoft.com/office/drawing/2014/main" id="{F8A4FDDD-368E-D00C-21AC-57016276F10A}"/>
              </a:ext>
            </a:extLst>
          </p:cNvPr>
          <p:cNvSpPr>
            <a:spLocks noGrp="1"/>
          </p:cNvSpPr>
          <p:nvPr>
            <p:ph idx="1"/>
          </p:nvPr>
        </p:nvSpPr>
        <p:spPr>
          <a:xfrm>
            <a:off x="395536" y="1540358"/>
            <a:ext cx="8229600" cy="448482"/>
          </a:xfrm>
        </p:spPr>
        <p:txBody>
          <a:bodyPr/>
          <a:lstStyle/>
          <a:p>
            <a:pPr marL="0" indent="0">
              <a:buNone/>
            </a:pPr>
            <a:r>
              <a:rPr lang="en-US" sz="1600" dirty="0"/>
              <a:t>We need to build a problem around this</a:t>
            </a:r>
            <a:endParaRPr lang="en-US" sz="1800" dirty="0"/>
          </a:p>
        </p:txBody>
      </p:sp>
      <p:sp>
        <p:nvSpPr>
          <p:cNvPr id="11" name="Content Placeholder 2">
            <a:extLst>
              <a:ext uri="{FF2B5EF4-FFF2-40B4-BE49-F238E27FC236}">
                <a16:creationId xmlns:a16="http://schemas.microsoft.com/office/drawing/2014/main" id="{781FCCD3-1014-BAA8-22AC-F05C05C32B1A}"/>
              </a:ext>
            </a:extLst>
          </p:cNvPr>
          <p:cNvSpPr txBox="1">
            <a:spLocks/>
          </p:cNvSpPr>
          <p:nvPr/>
        </p:nvSpPr>
        <p:spPr bwMode="auto">
          <a:xfrm>
            <a:off x="395536" y="5733256"/>
            <a:ext cx="8352928"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The ML pipeline is a part of a bigger setup</a:t>
            </a:r>
            <a:endParaRPr lang="en-US" sz="1600" dirty="0">
              <a:solidFill>
                <a:srgbClr val="7030A0"/>
              </a:solidFill>
            </a:endParaRPr>
          </a:p>
        </p:txBody>
      </p:sp>
      <p:sp>
        <p:nvSpPr>
          <p:cNvPr id="5" name="Shape 4">
            <a:extLst>
              <a:ext uri="{FF2B5EF4-FFF2-40B4-BE49-F238E27FC236}">
                <a16:creationId xmlns:a16="http://schemas.microsoft.com/office/drawing/2014/main" id="{BB54BBEC-028C-41FC-3536-ED7AF5569BFC}"/>
              </a:ext>
            </a:extLst>
          </p:cNvPr>
          <p:cNvSpPr/>
          <p:nvPr/>
        </p:nvSpPr>
        <p:spPr>
          <a:xfrm>
            <a:off x="693182" y="2452605"/>
            <a:ext cx="1005840" cy="1005840"/>
          </a:xfrm>
          <a:prstGeom prst="ellipse">
            <a:avLst/>
          </a:prstGeom>
          <a:solidFill>
            <a:schemeClr val="accent6"/>
          </a:solidFill>
          <a:ln/>
        </p:spPr>
        <p:txBody>
          <a:bodyPr/>
          <a:lstStyle/>
          <a:p>
            <a:endParaRPr lang="en-US"/>
          </a:p>
        </p:txBody>
      </p:sp>
      <p:pic>
        <p:nvPicPr>
          <p:cNvPr id="6" name="Image 0" descr="/home/claude/ml_intro_deck/icons/lightbulb_white.png">
            <a:extLst>
              <a:ext uri="{FF2B5EF4-FFF2-40B4-BE49-F238E27FC236}">
                <a16:creationId xmlns:a16="http://schemas.microsoft.com/office/drawing/2014/main" id="{BB94ABF1-2BBA-C761-C9DB-EA873E27FA20}"/>
              </a:ext>
            </a:extLst>
          </p:cNvPr>
          <p:cNvPicPr>
            <a:picLocks noChangeAspect="1"/>
          </p:cNvPicPr>
          <p:nvPr/>
        </p:nvPicPr>
        <p:blipFill>
          <a:blip r:embed="rId3"/>
          <a:stretch>
            <a:fillRect/>
          </a:stretch>
        </p:blipFill>
        <p:spPr>
          <a:xfrm>
            <a:off x="934584" y="2694007"/>
            <a:ext cx="523037" cy="523037"/>
          </a:xfrm>
          <a:prstGeom prst="rect">
            <a:avLst/>
          </a:prstGeom>
        </p:spPr>
      </p:pic>
      <p:sp>
        <p:nvSpPr>
          <p:cNvPr id="7" name="Text 5">
            <a:extLst>
              <a:ext uri="{FF2B5EF4-FFF2-40B4-BE49-F238E27FC236}">
                <a16:creationId xmlns:a16="http://schemas.microsoft.com/office/drawing/2014/main" id="{5EA3A454-5FE0-EDFF-9609-8E6EA454C037}"/>
              </a:ext>
            </a:extLst>
          </p:cNvPr>
          <p:cNvSpPr/>
          <p:nvPr/>
        </p:nvSpPr>
        <p:spPr>
          <a:xfrm>
            <a:off x="373142" y="3577317"/>
            <a:ext cx="1645920"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1B2A4A"/>
                </a:solidFill>
                <a:latin typeface="Cambria" pitchFamily="34" charset="0"/>
                <a:ea typeface="Cambria" pitchFamily="34" charset="-122"/>
                <a:cs typeface="Cambria" pitchFamily="34" charset="-120"/>
              </a:rPr>
              <a:t>Frame</a:t>
            </a:r>
            <a:endParaRPr lang="en-US" sz="1150" dirty="0"/>
          </a:p>
        </p:txBody>
      </p:sp>
      <p:sp>
        <p:nvSpPr>
          <p:cNvPr id="8" name="Shape 6">
            <a:extLst>
              <a:ext uri="{FF2B5EF4-FFF2-40B4-BE49-F238E27FC236}">
                <a16:creationId xmlns:a16="http://schemas.microsoft.com/office/drawing/2014/main" id="{AB5F1035-FA12-A96F-A680-B7794C25E1F6}"/>
              </a:ext>
            </a:extLst>
          </p:cNvPr>
          <p:cNvSpPr/>
          <p:nvPr/>
        </p:nvSpPr>
        <p:spPr>
          <a:xfrm>
            <a:off x="1699022" y="2955525"/>
            <a:ext cx="320040" cy="0"/>
          </a:xfrm>
          <a:prstGeom prst="line">
            <a:avLst/>
          </a:prstGeom>
          <a:noFill/>
          <a:ln w="28575">
            <a:solidFill>
              <a:srgbClr val="5C7A9E"/>
            </a:solidFill>
            <a:prstDash val="solid"/>
            <a:tailEnd type="triangle"/>
          </a:ln>
        </p:spPr>
        <p:txBody>
          <a:bodyPr/>
          <a:lstStyle/>
          <a:p>
            <a:endParaRPr lang="en-US"/>
          </a:p>
        </p:txBody>
      </p:sp>
      <p:sp>
        <p:nvSpPr>
          <p:cNvPr id="9" name="Shape 7">
            <a:extLst>
              <a:ext uri="{FF2B5EF4-FFF2-40B4-BE49-F238E27FC236}">
                <a16:creationId xmlns:a16="http://schemas.microsoft.com/office/drawing/2014/main" id="{BBAB14D9-231A-32D8-C94D-FCE113816E89}"/>
              </a:ext>
            </a:extLst>
          </p:cNvPr>
          <p:cNvSpPr/>
          <p:nvPr/>
        </p:nvSpPr>
        <p:spPr>
          <a:xfrm>
            <a:off x="2019061" y="2473315"/>
            <a:ext cx="1005840" cy="1005840"/>
          </a:xfrm>
          <a:prstGeom prst="ellipse">
            <a:avLst/>
          </a:prstGeom>
          <a:solidFill>
            <a:schemeClr val="accent5"/>
          </a:solidFill>
          <a:ln/>
        </p:spPr>
        <p:txBody>
          <a:bodyPr/>
          <a:lstStyle/>
          <a:p>
            <a:endParaRPr lang="en-US"/>
          </a:p>
        </p:txBody>
      </p:sp>
      <p:pic>
        <p:nvPicPr>
          <p:cNvPr id="10" name="Image 1" descr="/home/claude/ml_intro_deck/icons/eye_white.png">
            <a:extLst>
              <a:ext uri="{FF2B5EF4-FFF2-40B4-BE49-F238E27FC236}">
                <a16:creationId xmlns:a16="http://schemas.microsoft.com/office/drawing/2014/main" id="{274D6648-6C12-7174-13CF-978BA3573AD8}"/>
              </a:ext>
            </a:extLst>
          </p:cNvPr>
          <p:cNvPicPr>
            <a:picLocks noChangeAspect="1"/>
          </p:cNvPicPr>
          <p:nvPr/>
        </p:nvPicPr>
        <p:blipFill>
          <a:blip r:embed="rId4"/>
          <a:stretch>
            <a:fillRect/>
          </a:stretch>
        </p:blipFill>
        <p:spPr>
          <a:xfrm>
            <a:off x="2260463" y="2714717"/>
            <a:ext cx="523037" cy="523037"/>
          </a:xfrm>
          <a:prstGeom prst="rect">
            <a:avLst/>
          </a:prstGeom>
        </p:spPr>
      </p:pic>
      <p:sp>
        <p:nvSpPr>
          <p:cNvPr id="12" name="Text 8">
            <a:extLst>
              <a:ext uri="{FF2B5EF4-FFF2-40B4-BE49-F238E27FC236}">
                <a16:creationId xmlns:a16="http://schemas.microsoft.com/office/drawing/2014/main" id="{62C5E71D-647A-132C-9548-59D44085EC23}"/>
              </a:ext>
            </a:extLst>
          </p:cNvPr>
          <p:cNvSpPr/>
          <p:nvPr/>
        </p:nvSpPr>
        <p:spPr>
          <a:xfrm>
            <a:off x="1699021" y="3598027"/>
            <a:ext cx="1645920"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1B2A4A"/>
                </a:solidFill>
                <a:latin typeface="Cambria" pitchFamily="34" charset="0"/>
                <a:ea typeface="Cambria" pitchFamily="34" charset="-122"/>
                <a:cs typeface="Cambria" pitchFamily="34" charset="-120"/>
              </a:rPr>
              <a:t>Explore</a:t>
            </a:r>
            <a:endParaRPr lang="en-US" sz="1150" dirty="0"/>
          </a:p>
        </p:txBody>
      </p:sp>
      <p:sp>
        <p:nvSpPr>
          <p:cNvPr id="14" name="Shape 10">
            <a:extLst>
              <a:ext uri="{FF2B5EF4-FFF2-40B4-BE49-F238E27FC236}">
                <a16:creationId xmlns:a16="http://schemas.microsoft.com/office/drawing/2014/main" id="{BF550902-F5BC-78F7-030F-25214B477F70}"/>
              </a:ext>
            </a:extLst>
          </p:cNvPr>
          <p:cNvSpPr/>
          <p:nvPr/>
        </p:nvSpPr>
        <p:spPr>
          <a:xfrm>
            <a:off x="3344940" y="2473315"/>
            <a:ext cx="1005840" cy="1005840"/>
          </a:xfrm>
          <a:prstGeom prst="ellipse">
            <a:avLst/>
          </a:prstGeom>
          <a:solidFill>
            <a:schemeClr val="accent4"/>
          </a:solidFill>
          <a:ln/>
        </p:spPr>
        <p:txBody>
          <a:bodyPr/>
          <a:lstStyle/>
          <a:p>
            <a:endParaRPr lang="en-US"/>
          </a:p>
        </p:txBody>
      </p:sp>
      <p:pic>
        <p:nvPicPr>
          <p:cNvPr id="15" name="Image 2" descr="/home/claude/ml_intro_deck/icons/database_white.png">
            <a:extLst>
              <a:ext uri="{FF2B5EF4-FFF2-40B4-BE49-F238E27FC236}">
                <a16:creationId xmlns:a16="http://schemas.microsoft.com/office/drawing/2014/main" id="{8FAACDD7-6ADE-3316-08BB-735E4B6B72E6}"/>
              </a:ext>
            </a:extLst>
          </p:cNvPr>
          <p:cNvPicPr>
            <a:picLocks noChangeAspect="1"/>
          </p:cNvPicPr>
          <p:nvPr/>
        </p:nvPicPr>
        <p:blipFill>
          <a:blip r:embed="rId5"/>
          <a:stretch>
            <a:fillRect/>
          </a:stretch>
        </p:blipFill>
        <p:spPr>
          <a:xfrm>
            <a:off x="3586341" y="2714717"/>
            <a:ext cx="523037" cy="523037"/>
          </a:xfrm>
          <a:prstGeom prst="rect">
            <a:avLst/>
          </a:prstGeom>
        </p:spPr>
      </p:pic>
      <p:sp>
        <p:nvSpPr>
          <p:cNvPr id="16" name="Text 11">
            <a:extLst>
              <a:ext uri="{FF2B5EF4-FFF2-40B4-BE49-F238E27FC236}">
                <a16:creationId xmlns:a16="http://schemas.microsoft.com/office/drawing/2014/main" id="{BDB1ED00-A605-3232-C9A1-1FAD43444821}"/>
              </a:ext>
            </a:extLst>
          </p:cNvPr>
          <p:cNvSpPr/>
          <p:nvPr/>
        </p:nvSpPr>
        <p:spPr>
          <a:xfrm>
            <a:off x="3024900" y="3598027"/>
            <a:ext cx="1645920"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1B2A4A"/>
                </a:solidFill>
                <a:latin typeface="Cambria" pitchFamily="34" charset="0"/>
                <a:ea typeface="Cambria" pitchFamily="34" charset="-122"/>
                <a:cs typeface="Cambria" pitchFamily="34" charset="-120"/>
              </a:rPr>
              <a:t>Prepare</a:t>
            </a:r>
            <a:endParaRPr lang="en-US" sz="1150" dirty="0"/>
          </a:p>
        </p:txBody>
      </p:sp>
      <p:sp>
        <p:nvSpPr>
          <p:cNvPr id="18" name="Shape 13">
            <a:extLst>
              <a:ext uri="{FF2B5EF4-FFF2-40B4-BE49-F238E27FC236}">
                <a16:creationId xmlns:a16="http://schemas.microsoft.com/office/drawing/2014/main" id="{E0DDB2FE-6FF4-89E2-1F1B-754A324D296A}"/>
              </a:ext>
            </a:extLst>
          </p:cNvPr>
          <p:cNvSpPr/>
          <p:nvPr/>
        </p:nvSpPr>
        <p:spPr>
          <a:xfrm>
            <a:off x="4655270" y="2473315"/>
            <a:ext cx="1005840" cy="1005840"/>
          </a:xfrm>
          <a:prstGeom prst="ellipse">
            <a:avLst/>
          </a:prstGeom>
          <a:solidFill>
            <a:schemeClr val="accent3"/>
          </a:solidFill>
          <a:ln/>
        </p:spPr>
        <p:txBody>
          <a:bodyPr/>
          <a:lstStyle/>
          <a:p>
            <a:endParaRPr lang="en-US"/>
          </a:p>
        </p:txBody>
      </p:sp>
      <p:pic>
        <p:nvPicPr>
          <p:cNvPr id="19" name="Image 3" descr="/home/claude/ml_intro_deck/icons/compass_white.png">
            <a:extLst>
              <a:ext uri="{FF2B5EF4-FFF2-40B4-BE49-F238E27FC236}">
                <a16:creationId xmlns:a16="http://schemas.microsoft.com/office/drawing/2014/main" id="{B9824BD9-64D3-F5FF-194A-B889D2EEA745}"/>
              </a:ext>
            </a:extLst>
          </p:cNvPr>
          <p:cNvPicPr>
            <a:picLocks noChangeAspect="1"/>
          </p:cNvPicPr>
          <p:nvPr/>
        </p:nvPicPr>
        <p:blipFill>
          <a:blip r:embed="rId6"/>
          <a:stretch>
            <a:fillRect/>
          </a:stretch>
        </p:blipFill>
        <p:spPr>
          <a:xfrm>
            <a:off x="4896672" y="2714717"/>
            <a:ext cx="523037" cy="523037"/>
          </a:xfrm>
          <a:prstGeom prst="rect">
            <a:avLst/>
          </a:prstGeom>
        </p:spPr>
      </p:pic>
      <p:sp>
        <p:nvSpPr>
          <p:cNvPr id="20" name="Text 14">
            <a:extLst>
              <a:ext uri="{FF2B5EF4-FFF2-40B4-BE49-F238E27FC236}">
                <a16:creationId xmlns:a16="http://schemas.microsoft.com/office/drawing/2014/main" id="{528CFAA7-029B-D910-FB34-31716CD86F44}"/>
              </a:ext>
            </a:extLst>
          </p:cNvPr>
          <p:cNvSpPr/>
          <p:nvPr/>
        </p:nvSpPr>
        <p:spPr>
          <a:xfrm>
            <a:off x="4335230" y="3598027"/>
            <a:ext cx="1645920"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1B2A4A"/>
                </a:solidFill>
                <a:latin typeface="Cambria" pitchFamily="34" charset="0"/>
                <a:ea typeface="Cambria" pitchFamily="34" charset="-122"/>
                <a:cs typeface="Cambria" pitchFamily="34" charset="-120"/>
              </a:rPr>
              <a:t>Baseline</a:t>
            </a:r>
            <a:endParaRPr lang="en-US" sz="1150" dirty="0"/>
          </a:p>
        </p:txBody>
      </p:sp>
      <p:sp>
        <p:nvSpPr>
          <p:cNvPr id="22" name="Shape 16">
            <a:extLst>
              <a:ext uri="{FF2B5EF4-FFF2-40B4-BE49-F238E27FC236}">
                <a16:creationId xmlns:a16="http://schemas.microsoft.com/office/drawing/2014/main" id="{0C6EC782-3355-82CA-EB27-97FADA74E509}"/>
              </a:ext>
            </a:extLst>
          </p:cNvPr>
          <p:cNvSpPr/>
          <p:nvPr/>
        </p:nvSpPr>
        <p:spPr>
          <a:xfrm>
            <a:off x="5981150" y="2473315"/>
            <a:ext cx="1005840" cy="1005840"/>
          </a:xfrm>
          <a:prstGeom prst="ellipse">
            <a:avLst/>
          </a:prstGeom>
          <a:solidFill>
            <a:schemeClr val="accent2"/>
          </a:solidFill>
          <a:ln/>
        </p:spPr>
        <p:txBody>
          <a:bodyPr/>
          <a:lstStyle/>
          <a:p>
            <a:endParaRPr lang="en-US"/>
          </a:p>
        </p:txBody>
      </p:sp>
      <p:pic>
        <p:nvPicPr>
          <p:cNvPr id="23" name="Image 4" descr="/home/claude/ml_intro_deck/icons/layers_white.png">
            <a:extLst>
              <a:ext uri="{FF2B5EF4-FFF2-40B4-BE49-F238E27FC236}">
                <a16:creationId xmlns:a16="http://schemas.microsoft.com/office/drawing/2014/main" id="{F22332BD-5252-77BA-5978-384BE770C03F}"/>
              </a:ext>
            </a:extLst>
          </p:cNvPr>
          <p:cNvPicPr>
            <a:picLocks noChangeAspect="1"/>
          </p:cNvPicPr>
          <p:nvPr/>
        </p:nvPicPr>
        <p:blipFill>
          <a:blip r:embed="rId7"/>
          <a:stretch>
            <a:fillRect/>
          </a:stretch>
        </p:blipFill>
        <p:spPr>
          <a:xfrm>
            <a:off x="6222551" y="2714717"/>
            <a:ext cx="523037" cy="523037"/>
          </a:xfrm>
          <a:prstGeom prst="rect">
            <a:avLst/>
          </a:prstGeom>
        </p:spPr>
      </p:pic>
      <p:sp>
        <p:nvSpPr>
          <p:cNvPr id="24" name="Text 17">
            <a:extLst>
              <a:ext uri="{FF2B5EF4-FFF2-40B4-BE49-F238E27FC236}">
                <a16:creationId xmlns:a16="http://schemas.microsoft.com/office/drawing/2014/main" id="{EDA408D0-E3ED-CF3C-4CD5-C63DA577182A}"/>
              </a:ext>
            </a:extLst>
          </p:cNvPr>
          <p:cNvSpPr/>
          <p:nvPr/>
        </p:nvSpPr>
        <p:spPr>
          <a:xfrm>
            <a:off x="5661110" y="3598027"/>
            <a:ext cx="1645920"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1B2A4A"/>
                </a:solidFill>
                <a:latin typeface="Cambria" pitchFamily="34" charset="0"/>
                <a:ea typeface="Cambria" pitchFamily="34" charset="-122"/>
                <a:cs typeface="Cambria" pitchFamily="34" charset="-120"/>
              </a:rPr>
              <a:t>ML pipeline</a:t>
            </a:r>
            <a:endParaRPr lang="en-US" sz="1150" dirty="0"/>
          </a:p>
        </p:txBody>
      </p:sp>
      <p:sp>
        <p:nvSpPr>
          <p:cNvPr id="26" name="Shape 19">
            <a:extLst>
              <a:ext uri="{FF2B5EF4-FFF2-40B4-BE49-F238E27FC236}">
                <a16:creationId xmlns:a16="http://schemas.microsoft.com/office/drawing/2014/main" id="{CE4872E6-3E6D-6938-055D-F6563CDD7EF6}"/>
              </a:ext>
            </a:extLst>
          </p:cNvPr>
          <p:cNvSpPr/>
          <p:nvPr/>
        </p:nvSpPr>
        <p:spPr>
          <a:xfrm>
            <a:off x="7307030" y="2500741"/>
            <a:ext cx="1005840" cy="1005840"/>
          </a:xfrm>
          <a:prstGeom prst="ellipse">
            <a:avLst/>
          </a:prstGeom>
          <a:solidFill>
            <a:srgbClr val="E8871E"/>
          </a:solidFill>
          <a:ln/>
        </p:spPr>
        <p:txBody>
          <a:bodyPr/>
          <a:lstStyle/>
          <a:p>
            <a:endParaRPr lang="en-US"/>
          </a:p>
        </p:txBody>
      </p:sp>
      <p:pic>
        <p:nvPicPr>
          <p:cNvPr id="27" name="Image 5" descr="/home/claude/ml_intro_deck/icons/chartbar_white.png">
            <a:extLst>
              <a:ext uri="{FF2B5EF4-FFF2-40B4-BE49-F238E27FC236}">
                <a16:creationId xmlns:a16="http://schemas.microsoft.com/office/drawing/2014/main" id="{D684E540-1E8E-A2B7-1B8E-D00CE86C81EF}"/>
              </a:ext>
            </a:extLst>
          </p:cNvPr>
          <p:cNvPicPr>
            <a:picLocks noChangeAspect="1"/>
          </p:cNvPicPr>
          <p:nvPr/>
        </p:nvPicPr>
        <p:blipFill>
          <a:blip r:embed="rId8"/>
          <a:stretch>
            <a:fillRect/>
          </a:stretch>
        </p:blipFill>
        <p:spPr>
          <a:xfrm>
            <a:off x="7548432" y="2742143"/>
            <a:ext cx="523037" cy="523037"/>
          </a:xfrm>
          <a:prstGeom prst="rect">
            <a:avLst/>
          </a:prstGeom>
        </p:spPr>
      </p:pic>
      <p:sp>
        <p:nvSpPr>
          <p:cNvPr id="28" name="Text 20">
            <a:extLst>
              <a:ext uri="{FF2B5EF4-FFF2-40B4-BE49-F238E27FC236}">
                <a16:creationId xmlns:a16="http://schemas.microsoft.com/office/drawing/2014/main" id="{B5C2D369-F424-68C6-39EA-06FAFB305972}"/>
              </a:ext>
            </a:extLst>
          </p:cNvPr>
          <p:cNvSpPr/>
          <p:nvPr/>
        </p:nvSpPr>
        <p:spPr>
          <a:xfrm>
            <a:off x="6986990" y="3625453"/>
            <a:ext cx="1645920"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1B2A4A"/>
                </a:solidFill>
                <a:latin typeface="Cambria" pitchFamily="34" charset="0"/>
                <a:ea typeface="Cambria" pitchFamily="34" charset="-122"/>
                <a:cs typeface="Cambria" pitchFamily="34" charset="-120"/>
              </a:rPr>
              <a:t>Evaluate</a:t>
            </a:r>
            <a:endParaRPr lang="en-US" sz="1150" dirty="0"/>
          </a:p>
        </p:txBody>
      </p:sp>
      <p:sp>
        <p:nvSpPr>
          <p:cNvPr id="29" name="Shape 6">
            <a:extLst>
              <a:ext uri="{FF2B5EF4-FFF2-40B4-BE49-F238E27FC236}">
                <a16:creationId xmlns:a16="http://schemas.microsoft.com/office/drawing/2014/main" id="{BE5EBF7E-8B88-718D-E5D5-FEEDB5F1B5F8}"/>
              </a:ext>
            </a:extLst>
          </p:cNvPr>
          <p:cNvSpPr/>
          <p:nvPr/>
        </p:nvSpPr>
        <p:spPr>
          <a:xfrm>
            <a:off x="3024901" y="2964728"/>
            <a:ext cx="320040" cy="0"/>
          </a:xfrm>
          <a:prstGeom prst="line">
            <a:avLst/>
          </a:prstGeom>
          <a:noFill/>
          <a:ln w="28575">
            <a:solidFill>
              <a:srgbClr val="5C7A9E"/>
            </a:solidFill>
            <a:prstDash val="solid"/>
            <a:tailEnd type="triangle"/>
          </a:ln>
        </p:spPr>
        <p:txBody>
          <a:bodyPr/>
          <a:lstStyle/>
          <a:p>
            <a:endParaRPr lang="en-US"/>
          </a:p>
        </p:txBody>
      </p:sp>
      <p:sp>
        <p:nvSpPr>
          <p:cNvPr id="30" name="Shape 6">
            <a:extLst>
              <a:ext uri="{FF2B5EF4-FFF2-40B4-BE49-F238E27FC236}">
                <a16:creationId xmlns:a16="http://schemas.microsoft.com/office/drawing/2014/main" id="{45C1513C-918C-B8AD-CD4D-91063CDC468F}"/>
              </a:ext>
            </a:extLst>
          </p:cNvPr>
          <p:cNvSpPr/>
          <p:nvPr/>
        </p:nvSpPr>
        <p:spPr>
          <a:xfrm>
            <a:off x="4350780" y="2964728"/>
            <a:ext cx="320040" cy="0"/>
          </a:xfrm>
          <a:prstGeom prst="line">
            <a:avLst/>
          </a:prstGeom>
          <a:noFill/>
          <a:ln w="28575">
            <a:solidFill>
              <a:srgbClr val="5C7A9E"/>
            </a:solidFill>
            <a:prstDash val="solid"/>
            <a:tailEnd type="triangle"/>
          </a:ln>
        </p:spPr>
        <p:txBody>
          <a:bodyPr/>
          <a:lstStyle/>
          <a:p>
            <a:endParaRPr lang="en-US"/>
          </a:p>
        </p:txBody>
      </p:sp>
      <p:sp>
        <p:nvSpPr>
          <p:cNvPr id="31" name="Shape 6">
            <a:extLst>
              <a:ext uri="{FF2B5EF4-FFF2-40B4-BE49-F238E27FC236}">
                <a16:creationId xmlns:a16="http://schemas.microsoft.com/office/drawing/2014/main" id="{03D4072A-A588-5716-8C53-7F79575DDF17}"/>
              </a:ext>
            </a:extLst>
          </p:cNvPr>
          <p:cNvSpPr/>
          <p:nvPr/>
        </p:nvSpPr>
        <p:spPr>
          <a:xfrm>
            <a:off x="5661110" y="2964728"/>
            <a:ext cx="320040" cy="0"/>
          </a:xfrm>
          <a:prstGeom prst="line">
            <a:avLst/>
          </a:prstGeom>
          <a:noFill/>
          <a:ln w="28575">
            <a:solidFill>
              <a:srgbClr val="5C7A9E"/>
            </a:solidFill>
            <a:prstDash val="solid"/>
            <a:tailEnd type="triangle"/>
          </a:ln>
        </p:spPr>
        <p:txBody>
          <a:bodyPr/>
          <a:lstStyle/>
          <a:p>
            <a:endParaRPr lang="en-US"/>
          </a:p>
        </p:txBody>
      </p:sp>
      <p:sp>
        <p:nvSpPr>
          <p:cNvPr id="32" name="Shape 6">
            <a:extLst>
              <a:ext uri="{FF2B5EF4-FFF2-40B4-BE49-F238E27FC236}">
                <a16:creationId xmlns:a16="http://schemas.microsoft.com/office/drawing/2014/main" id="{B4040CBC-0200-A761-5540-300F541F3AE0}"/>
              </a:ext>
            </a:extLst>
          </p:cNvPr>
          <p:cNvSpPr/>
          <p:nvPr/>
        </p:nvSpPr>
        <p:spPr>
          <a:xfrm>
            <a:off x="6986990" y="2972994"/>
            <a:ext cx="320040" cy="0"/>
          </a:xfrm>
          <a:prstGeom prst="line">
            <a:avLst/>
          </a:prstGeom>
          <a:noFill/>
          <a:ln w="28575">
            <a:solidFill>
              <a:srgbClr val="5C7A9E"/>
            </a:solidFill>
            <a:prstDash val="solid"/>
            <a:tailEnd type="triangle"/>
          </a:ln>
        </p:spPr>
        <p:txBody>
          <a:bodyPr/>
          <a:lstStyle/>
          <a:p>
            <a:endParaRPr lang="en-US"/>
          </a:p>
        </p:txBody>
      </p:sp>
      <p:pic>
        <p:nvPicPr>
          <p:cNvPr id="33" name="Picture 32">
            <a:extLst>
              <a:ext uri="{FF2B5EF4-FFF2-40B4-BE49-F238E27FC236}">
                <a16:creationId xmlns:a16="http://schemas.microsoft.com/office/drawing/2014/main" id="{05A0A30D-CCFE-8F6F-1A17-C50DD93A6D4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96672" y="4456705"/>
            <a:ext cx="3383280" cy="900957"/>
          </a:xfrm>
          <a:prstGeom prst="rect">
            <a:avLst/>
          </a:prstGeom>
          <a:ln>
            <a:solidFill>
              <a:srgbClr val="7030A0"/>
            </a:solidFill>
          </a:ln>
        </p:spPr>
      </p:pic>
      <p:cxnSp>
        <p:nvCxnSpPr>
          <p:cNvPr id="45" name="Straight Connector 44">
            <a:extLst>
              <a:ext uri="{FF2B5EF4-FFF2-40B4-BE49-F238E27FC236}">
                <a16:creationId xmlns:a16="http://schemas.microsoft.com/office/drawing/2014/main" id="{D12BD0D6-6121-A33F-BD8C-5EB9C91718FF}"/>
              </a:ext>
            </a:extLst>
          </p:cNvPr>
          <p:cNvCxnSpPr>
            <a:cxnSpLocks/>
          </p:cNvCxnSpPr>
          <p:nvPr/>
        </p:nvCxnSpPr>
        <p:spPr>
          <a:xfrm flipV="1">
            <a:off x="6372200" y="4037013"/>
            <a:ext cx="0" cy="400099"/>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826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05E0A-1FFA-C4D3-0089-528E6A7D9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77D94-8CF2-6D9F-3103-6C4982D6F1E1}"/>
              </a:ext>
            </a:extLst>
          </p:cNvPr>
          <p:cNvSpPr>
            <a:spLocks noGrp="1"/>
          </p:cNvSpPr>
          <p:nvPr>
            <p:ph type="title"/>
          </p:nvPr>
        </p:nvSpPr>
        <p:spPr>
          <a:xfrm>
            <a:off x="2493005" y="236425"/>
            <a:ext cx="5842992" cy="1143000"/>
          </a:xfrm>
        </p:spPr>
        <p:txBody>
          <a:bodyPr/>
          <a:lstStyle/>
          <a:p>
            <a:r>
              <a:rPr lang="en-US" dirty="0"/>
              <a:t>Framing and exploring</a:t>
            </a:r>
          </a:p>
        </p:txBody>
      </p:sp>
      <p:sp>
        <p:nvSpPr>
          <p:cNvPr id="3" name="Content Placeholder 2">
            <a:extLst>
              <a:ext uri="{FF2B5EF4-FFF2-40B4-BE49-F238E27FC236}">
                <a16:creationId xmlns:a16="http://schemas.microsoft.com/office/drawing/2014/main" id="{DEFB796A-2AAA-F452-AF01-A609726C52C1}"/>
              </a:ext>
            </a:extLst>
          </p:cNvPr>
          <p:cNvSpPr>
            <a:spLocks noGrp="1"/>
          </p:cNvSpPr>
          <p:nvPr>
            <p:ph idx="1"/>
          </p:nvPr>
        </p:nvSpPr>
        <p:spPr>
          <a:xfrm>
            <a:off x="395536" y="1540358"/>
            <a:ext cx="8229600" cy="448482"/>
          </a:xfrm>
        </p:spPr>
        <p:txBody>
          <a:bodyPr/>
          <a:lstStyle/>
          <a:p>
            <a:pPr marL="0" indent="0">
              <a:buNone/>
            </a:pPr>
            <a:r>
              <a:rPr lang="en-US" sz="1600" b="1" dirty="0"/>
              <a:t>Frame and explore before modelling</a:t>
            </a:r>
          </a:p>
          <a:p>
            <a:pPr marL="0" indent="0">
              <a:buNone/>
            </a:pPr>
            <a:endParaRPr lang="en-US" sz="1800" dirty="0"/>
          </a:p>
        </p:txBody>
      </p:sp>
      <p:sp>
        <p:nvSpPr>
          <p:cNvPr id="26" name="Content Placeholder 2">
            <a:extLst>
              <a:ext uri="{FF2B5EF4-FFF2-40B4-BE49-F238E27FC236}">
                <a16:creationId xmlns:a16="http://schemas.microsoft.com/office/drawing/2014/main" id="{08E84511-C3A5-CB2A-F54B-90BDB5632511}"/>
              </a:ext>
            </a:extLst>
          </p:cNvPr>
          <p:cNvSpPr txBox="1">
            <a:spLocks/>
          </p:cNvSpPr>
          <p:nvPr/>
        </p:nvSpPr>
        <p:spPr bwMode="auto">
          <a:xfrm>
            <a:off x="346849" y="3017353"/>
            <a:ext cx="3840548" cy="38406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We need an </a:t>
            </a:r>
            <a:r>
              <a:rPr lang="en-US" sz="1400" b="1" dirty="0"/>
              <a:t>input</a:t>
            </a:r>
            <a:r>
              <a:rPr lang="en-US" sz="1400" dirty="0"/>
              <a:t> and </a:t>
            </a:r>
            <a:r>
              <a:rPr lang="en-US" sz="1400" b="1" dirty="0"/>
              <a:t>output/target</a:t>
            </a:r>
          </a:p>
          <a:p>
            <a:endParaRPr lang="en-US" sz="1400" dirty="0"/>
          </a:p>
          <a:p>
            <a:r>
              <a:rPr lang="en-US" sz="1400" dirty="0"/>
              <a:t>What type of problem do we have at hand? </a:t>
            </a:r>
            <a:r>
              <a:rPr lang="en-US" sz="1400" b="1" dirty="0"/>
              <a:t>Regression</a:t>
            </a:r>
            <a:r>
              <a:rPr lang="en-US" sz="1400" dirty="0"/>
              <a:t>, </a:t>
            </a:r>
            <a:r>
              <a:rPr lang="en-US" sz="1400" b="1" dirty="0"/>
              <a:t>classification</a:t>
            </a:r>
            <a:r>
              <a:rPr lang="en-US" sz="1400" dirty="0"/>
              <a:t>, </a:t>
            </a:r>
            <a:r>
              <a:rPr lang="en-US" sz="1400" b="1" dirty="0"/>
              <a:t>control</a:t>
            </a:r>
            <a:r>
              <a:rPr lang="en-US" sz="1400" dirty="0"/>
              <a:t>? Can we reframe the problem? Does it help?</a:t>
            </a:r>
          </a:p>
          <a:p>
            <a:endParaRPr lang="en-US" sz="1400" dirty="0"/>
          </a:p>
          <a:p>
            <a:r>
              <a:rPr lang="en-US" sz="1400" dirty="0"/>
              <a:t>What does “good enough” mean?  </a:t>
            </a:r>
            <a:endParaRPr lang="en-US" sz="1400" dirty="0">
              <a:solidFill>
                <a:srgbClr val="7030A0"/>
              </a:solidFill>
            </a:endParaRPr>
          </a:p>
        </p:txBody>
      </p:sp>
      <p:sp>
        <p:nvSpPr>
          <p:cNvPr id="11" name="TextBox 10">
            <a:extLst>
              <a:ext uri="{FF2B5EF4-FFF2-40B4-BE49-F238E27FC236}">
                <a16:creationId xmlns:a16="http://schemas.microsoft.com/office/drawing/2014/main" id="{9BFE2A4C-5DC3-F267-417D-EB57D92E593E}"/>
              </a:ext>
            </a:extLst>
          </p:cNvPr>
          <p:cNvSpPr txBox="1"/>
          <p:nvPr/>
        </p:nvSpPr>
        <p:spPr>
          <a:xfrm>
            <a:off x="379186" y="2179763"/>
            <a:ext cx="8136904" cy="338554"/>
          </a:xfrm>
          <a:prstGeom prst="rect">
            <a:avLst/>
          </a:prstGeom>
          <a:noFill/>
        </p:spPr>
        <p:txBody>
          <a:bodyPr wrap="square">
            <a:spAutoFit/>
          </a:bodyPr>
          <a:lstStyle/>
          <a:p>
            <a:pPr marL="0" indent="0">
              <a:buNone/>
            </a:pPr>
            <a:r>
              <a:rPr lang="en-US" sz="1600" b="1" dirty="0">
                <a:solidFill>
                  <a:srgbClr val="7030A0"/>
                </a:solidFill>
              </a:rPr>
              <a:t>Asking the “right” questions</a:t>
            </a:r>
            <a:endParaRPr lang="en-US" sz="1600" b="1" dirty="0"/>
          </a:p>
        </p:txBody>
      </p:sp>
      <p:sp>
        <p:nvSpPr>
          <p:cNvPr id="8" name="Shape 4">
            <a:extLst>
              <a:ext uri="{FF2B5EF4-FFF2-40B4-BE49-F238E27FC236}">
                <a16:creationId xmlns:a16="http://schemas.microsoft.com/office/drawing/2014/main" id="{38C6FA11-2040-E3A4-F8BD-8D1F13694EFD}"/>
              </a:ext>
            </a:extLst>
          </p:cNvPr>
          <p:cNvSpPr/>
          <p:nvPr/>
        </p:nvSpPr>
        <p:spPr>
          <a:xfrm>
            <a:off x="4326348" y="1379425"/>
            <a:ext cx="4470803" cy="4065800"/>
          </a:xfrm>
          <a:prstGeom prst="roundRect">
            <a:avLst>
              <a:gd name="adj" fmla="val 1957"/>
            </a:avLst>
          </a:prstGeom>
          <a:solidFill>
            <a:srgbClr val="FFFFFF"/>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9" name="Content Placeholder 2">
            <a:extLst>
              <a:ext uri="{FF2B5EF4-FFF2-40B4-BE49-F238E27FC236}">
                <a16:creationId xmlns:a16="http://schemas.microsoft.com/office/drawing/2014/main" id="{3A4E1F8F-BFBA-9942-8177-200FF7B2CD01}"/>
              </a:ext>
            </a:extLst>
          </p:cNvPr>
          <p:cNvSpPr txBox="1">
            <a:spLocks/>
          </p:cNvSpPr>
          <p:nvPr/>
        </p:nvSpPr>
        <p:spPr bwMode="auto">
          <a:xfrm>
            <a:off x="5352137" y="1691661"/>
            <a:ext cx="3266921" cy="4484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t>Applied to: RL for airfoil design</a:t>
            </a:r>
            <a:endParaRPr lang="en-US" sz="1200" dirty="0"/>
          </a:p>
          <a:p>
            <a:pPr marL="0" indent="0">
              <a:buFont typeface="Arial" pitchFamily="34" charset="0"/>
              <a:buNone/>
            </a:pPr>
            <a:endParaRPr lang="en-US" sz="1600" dirty="0"/>
          </a:p>
          <a:p>
            <a:pPr marL="0" indent="0">
              <a:buFont typeface="Arial" pitchFamily="34" charset="0"/>
              <a:buNone/>
            </a:pPr>
            <a:endParaRPr lang="en-US" sz="1600" dirty="0"/>
          </a:p>
        </p:txBody>
      </p:sp>
      <p:sp>
        <p:nvSpPr>
          <p:cNvPr id="10" name="Shape 5">
            <a:extLst>
              <a:ext uri="{FF2B5EF4-FFF2-40B4-BE49-F238E27FC236}">
                <a16:creationId xmlns:a16="http://schemas.microsoft.com/office/drawing/2014/main" id="{5F158390-61B6-7AB3-31D9-2ABEFA89F2A7}"/>
              </a:ext>
            </a:extLst>
          </p:cNvPr>
          <p:cNvSpPr/>
          <p:nvPr/>
        </p:nvSpPr>
        <p:spPr>
          <a:xfrm>
            <a:off x="4557919" y="1549015"/>
            <a:ext cx="594360" cy="594360"/>
          </a:xfrm>
          <a:prstGeom prst="ellipse">
            <a:avLst/>
          </a:prstGeom>
          <a:solidFill>
            <a:srgbClr val="7030A0"/>
          </a:solidFill>
          <a:ln/>
        </p:spPr>
        <p:txBody>
          <a:bodyPr/>
          <a:lstStyle/>
          <a:p>
            <a:endParaRPr lang="en-US"/>
          </a:p>
        </p:txBody>
      </p:sp>
      <p:pic>
        <p:nvPicPr>
          <p:cNvPr id="12" name="Image 0" descr="/home/claude/ml_intro_deck/icons/clipboard_white.png">
            <a:extLst>
              <a:ext uri="{FF2B5EF4-FFF2-40B4-BE49-F238E27FC236}">
                <a16:creationId xmlns:a16="http://schemas.microsoft.com/office/drawing/2014/main" id="{819E33A4-8C98-59C9-CEF5-41E2614D7792}"/>
              </a:ext>
            </a:extLst>
          </p:cNvPr>
          <p:cNvPicPr>
            <a:picLocks noChangeAspect="1"/>
          </p:cNvPicPr>
          <p:nvPr/>
        </p:nvPicPr>
        <p:blipFill>
          <a:blip r:embed="rId3"/>
          <a:stretch>
            <a:fillRect/>
          </a:stretch>
        </p:blipFill>
        <p:spPr>
          <a:xfrm>
            <a:off x="4700565" y="1691661"/>
            <a:ext cx="309067" cy="309067"/>
          </a:xfrm>
          <a:prstGeom prst="rect">
            <a:avLst/>
          </a:prstGeom>
        </p:spPr>
      </p:pic>
      <p:sp>
        <p:nvSpPr>
          <p:cNvPr id="13" name="Content Placeholder 2">
            <a:extLst>
              <a:ext uri="{FF2B5EF4-FFF2-40B4-BE49-F238E27FC236}">
                <a16:creationId xmlns:a16="http://schemas.microsoft.com/office/drawing/2014/main" id="{A9433D0F-58A9-A3AB-C317-81D59306FFBE}"/>
              </a:ext>
            </a:extLst>
          </p:cNvPr>
          <p:cNvSpPr txBox="1">
            <a:spLocks/>
          </p:cNvSpPr>
          <p:nvPr/>
        </p:nvSpPr>
        <p:spPr bwMode="auto">
          <a:xfrm>
            <a:off x="4700565" y="2419360"/>
            <a:ext cx="3840548" cy="27469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b="1" dirty="0">
                <a:solidFill>
                  <a:srgbClr val="7030A0"/>
                </a:solidFill>
              </a:rPr>
              <a:t>Input: </a:t>
            </a:r>
            <a:r>
              <a:rPr lang="en-US" sz="1400" dirty="0"/>
              <a:t>Drag and lift coefficients for a design</a:t>
            </a:r>
            <a:endParaRPr lang="en-US" sz="1400" b="1" dirty="0"/>
          </a:p>
          <a:p>
            <a:endParaRPr lang="en-US" sz="1400" dirty="0"/>
          </a:p>
          <a:p>
            <a:r>
              <a:rPr lang="en-US" sz="1400" b="1" dirty="0">
                <a:solidFill>
                  <a:srgbClr val="7030A0"/>
                </a:solidFill>
              </a:rPr>
              <a:t>Output: </a:t>
            </a:r>
            <a:r>
              <a:rPr lang="en-US" sz="1400" dirty="0"/>
              <a:t>Design which achieves the max lift with min drag.</a:t>
            </a:r>
          </a:p>
          <a:p>
            <a:endParaRPr lang="en-US" sz="1400" dirty="0"/>
          </a:p>
          <a:p>
            <a:r>
              <a:rPr lang="en-US" sz="1400" b="1" dirty="0">
                <a:solidFill>
                  <a:srgbClr val="7030A0"/>
                </a:solidFill>
              </a:rPr>
              <a:t>Task: </a:t>
            </a:r>
            <a:r>
              <a:rPr lang="en-US" sz="1400" dirty="0"/>
              <a:t>Reinforcement learning, requires an </a:t>
            </a:r>
            <a:r>
              <a:rPr lang="en-US" sz="1400" dirty="0">
                <a:solidFill>
                  <a:srgbClr val="7030A0"/>
                </a:solidFill>
              </a:rPr>
              <a:t>action</a:t>
            </a:r>
            <a:r>
              <a:rPr lang="en-US" sz="1400" dirty="0"/>
              <a:t> (geometry modification)</a:t>
            </a:r>
          </a:p>
          <a:p>
            <a:endParaRPr lang="en-US" sz="1400" dirty="0"/>
          </a:p>
          <a:p>
            <a:r>
              <a:rPr lang="en-US" sz="1400" b="1" dirty="0">
                <a:solidFill>
                  <a:srgbClr val="7030A0"/>
                </a:solidFill>
              </a:rPr>
              <a:t>Success: </a:t>
            </a:r>
            <a:r>
              <a:rPr lang="en-US" sz="1400" dirty="0"/>
              <a:t>best performing airfoil, or airfoils based on the geometry</a:t>
            </a:r>
            <a:endParaRPr lang="en-US" sz="1400" dirty="0">
              <a:solidFill>
                <a:srgbClr val="7030A0"/>
              </a:solidFill>
            </a:endParaRPr>
          </a:p>
        </p:txBody>
      </p:sp>
    </p:spTree>
    <p:extLst>
      <p:ext uri="{BB962C8B-B14F-4D97-AF65-F5344CB8AC3E}">
        <p14:creationId xmlns:p14="http://schemas.microsoft.com/office/powerpoint/2010/main" val="1378396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0A498-00D2-E6F8-F335-D64848590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98B8E-B233-4F3F-6CC5-4D4D6DE082B7}"/>
              </a:ext>
            </a:extLst>
          </p:cNvPr>
          <p:cNvSpPr>
            <a:spLocks noGrp="1"/>
          </p:cNvSpPr>
          <p:nvPr>
            <p:ph type="title"/>
          </p:nvPr>
        </p:nvSpPr>
        <p:spPr>
          <a:xfrm>
            <a:off x="2493005" y="236425"/>
            <a:ext cx="5842992" cy="1143000"/>
          </a:xfrm>
        </p:spPr>
        <p:txBody>
          <a:bodyPr/>
          <a:lstStyle/>
          <a:p>
            <a:r>
              <a:rPr lang="en-US" dirty="0"/>
              <a:t>Framing and exploring</a:t>
            </a:r>
          </a:p>
        </p:txBody>
      </p:sp>
      <p:sp>
        <p:nvSpPr>
          <p:cNvPr id="3" name="Content Placeholder 2">
            <a:extLst>
              <a:ext uri="{FF2B5EF4-FFF2-40B4-BE49-F238E27FC236}">
                <a16:creationId xmlns:a16="http://schemas.microsoft.com/office/drawing/2014/main" id="{EB8F54BA-F9E7-5FC7-4E78-3BC5D8B1775C}"/>
              </a:ext>
            </a:extLst>
          </p:cNvPr>
          <p:cNvSpPr>
            <a:spLocks noGrp="1"/>
          </p:cNvSpPr>
          <p:nvPr>
            <p:ph idx="1"/>
          </p:nvPr>
        </p:nvSpPr>
        <p:spPr>
          <a:xfrm>
            <a:off x="395536" y="1540358"/>
            <a:ext cx="8229600" cy="448482"/>
          </a:xfrm>
        </p:spPr>
        <p:txBody>
          <a:bodyPr/>
          <a:lstStyle/>
          <a:p>
            <a:pPr marL="0" indent="0">
              <a:buNone/>
            </a:pPr>
            <a:r>
              <a:rPr lang="en-US" sz="1600" b="1" dirty="0"/>
              <a:t>Frame and explore before modelling</a:t>
            </a:r>
          </a:p>
          <a:p>
            <a:pPr marL="0" indent="0">
              <a:buNone/>
            </a:pPr>
            <a:endParaRPr lang="en-US" sz="1800" dirty="0"/>
          </a:p>
        </p:txBody>
      </p:sp>
      <p:sp>
        <p:nvSpPr>
          <p:cNvPr id="26" name="Content Placeholder 2">
            <a:extLst>
              <a:ext uri="{FF2B5EF4-FFF2-40B4-BE49-F238E27FC236}">
                <a16:creationId xmlns:a16="http://schemas.microsoft.com/office/drawing/2014/main" id="{E60A3305-FC8D-0957-26BB-3FA1C6372B6E}"/>
              </a:ext>
            </a:extLst>
          </p:cNvPr>
          <p:cNvSpPr txBox="1">
            <a:spLocks/>
          </p:cNvSpPr>
          <p:nvPr/>
        </p:nvSpPr>
        <p:spPr bwMode="auto">
          <a:xfrm>
            <a:off x="611560" y="2780928"/>
            <a:ext cx="5256584" cy="38406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Look at raw data/few samples/run a few cases/make some animations. </a:t>
            </a:r>
            <a:r>
              <a:rPr lang="en-US" sz="1400" dirty="0">
                <a:solidFill>
                  <a:srgbClr val="7030A0"/>
                </a:solidFill>
              </a:rPr>
              <a:t>What is ”normal” or expected. </a:t>
            </a:r>
            <a:r>
              <a:rPr lang="en-US" sz="1400" dirty="0" err="1"/>
              <a:t>Recognise</a:t>
            </a:r>
            <a:r>
              <a:rPr lang="en-US" sz="1400" dirty="0"/>
              <a:t> if something is going wrong downstream</a:t>
            </a:r>
          </a:p>
          <a:p>
            <a:endParaRPr lang="en-US" sz="1400" dirty="0"/>
          </a:p>
          <a:p>
            <a:r>
              <a:rPr lang="en-US" sz="1400" dirty="0"/>
              <a:t>Check distributions and ranges (if required), e.g. is my data Gaussian? If not, maybe I can’t expect to represent it well with some methods.</a:t>
            </a:r>
          </a:p>
          <a:p>
            <a:endParaRPr lang="en-US" sz="1400" dirty="0"/>
          </a:p>
          <a:p>
            <a:r>
              <a:rPr lang="en-US" sz="1400" dirty="0"/>
              <a:t>Experimental/real data might be noise and contain </a:t>
            </a:r>
            <a:r>
              <a:rPr lang="en-US" sz="1400" dirty="0">
                <a:solidFill>
                  <a:srgbClr val="7030A0"/>
                </a:solidFill>
              </a:rPr>
              <a:t>outliers</a:t>
            </a:r>
            <a:r>
              <a:rPr lang="en-US" sz="1400" dirty="0"/>
              <a:t>. Plan how to treat these. </a:t>
            </a:r>
          </a:p>
          <a:p>
            <a:endParaRPr lang="en-US" sz="1400" dirty="0"/>
          </a:p>
          <a:p>
            <a:r>
              <a:rPr lang="en-US" sz="1400" dirty="0"/>
              <a:t>Check if the relevant data is evenly distributed. </a:t>
            </a:r>
            <a:r>
              <a:rPr lang="en-US" sz="1400" dirty="0">
                <a:solidFill>
                  <a:srgbClr val="7030A0"/>
                </a:solidFill>
              </a:rPr>
              <a:t>Is my training data statistically similar to the test/evaluation case?</a:t>
            </a:r>
          </a:p>
        </p:txBody>
      </p:sp>
      <p:sp>
        <p:nvSpPr>
          <p:cNvPr id="11" name="TextBox 10">
            <a:extLst>
              <a:ext uri="{FF2B5EF4-FFF2-40B4-BE49-F238E27FC236}">
                <a16:creationId xmlns:a16="http://schemas.microsoft.com/office/drawing/2014/main" id="{0247CA9A-A47F-86BD-6B3E-2484597DFCA9}"/>
              </a:ext>
            </a:extLst>
          </p:cNvPr>
          <p:cNvSpPr txBox="1"/>
          <p:nvPr/>
        </p:nvSpPr>
        <p:spPr>
          <a:xfrm>
            <a:off x="466164" y="2191863"/>
            <a:ext cx="8136904" cy="338554"/>
          </a:xfrm>
          <a:prstGeom prst="rect">
            <a:avLst/>
          </a:prstGeom>
          <a:noFill/>
        </p:spPr>
        <p:txBody>
          <a:bodyPr wrap="square">
            <a:spAutoFit/>
          </a:bodyPr>
          <a:lstStyle/>
          <a:p>
            <a:pPr marL="0" indent="0">
              <a:buNone/>
            </a:pPr>
            <a:r>
              <a:rPr lang="en-US" sz="1600" b="1" dirty="0">
                <a:solidFill>
                  <a:srgbClr val="7030A0"/>
                </a:solidFill>
              </a:rPr>
              <a:t>Common questions</a:t>
            </a:r>
            <a:endParaRPr lang="en-US" sz="1600" b="1" dirty="0"/>
          </a:p>
        </p:txBody>
      </p:sp>
      <p:pic>
        <p:nvPicPr>
          <p:cNvPr id="6" name="Picture 5">
            <a:extLst>
              <a:ext uri="{FF2B5EF4-FFF2-40B4-BE49-F238E27FC236}">
                <a16:creationId xmlns:a16="http://schemas.microsoft.com/office/drawing/2014/main" id="{5F58F90E-F03C-8EB1-1982-20A7D495A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2200" y="1268760"/>
            <a:ext cx="1713796" cy="4864968"/>
          </a:xfrm>
          <a:prstGeom prst="rect">
            <a:avLst/>
          </a:prstGeom>
        </p:spPr>
      </p:pic>
    </p:spTree>
    <p:extLst>
      <p:ext uri="{BB962C8B-B14F-4D97-AF65-F5344CB8AC3E}">
        <p14:creationId xmlns:p14="http://schemas.microsoft.com/office/powerpoint/2010/main" val="104878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B0635-9B02-E8EE-FFD7-0BDE81568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3DDB4-702F-BC0D-470C-E5A96CB41E95}"/>
              </a:ext>
            </a:extLst>
          </p:cNvPr>
          <p:cNvSpPr>
            <a:spLocks noGrp="1"/>
          </p:cNvSpPr>
          <p:nvPr>
            <p:ph type="title"/>
          </p:nvPr>
        </p:nvSpPr>
        <p:spPr>
          <a:xfrm>
            <a:off x="2493005" y="236425"/>
            <a:ext cx="6340100" cy="1143000"/>
          </a:xfrm>
        </p:spPr>
        <p:txBody>
          <a:bodyPr/>
          <a:lstStyle/>
          <a:p>
            <a:r>
              <a:rPr lang="en-US" dirty="0"/>
              <a:t>Splitting the data</a:t>
            </a:r>
          </a:p>
        </p:txBody>
      </p:sp>
      <p:sp>
        <p:nvSpPr>
          <p:cNvPr id="4" name="TextBox 3">
            <a:extLst>
              <a:ext uri="{FF2B5EF4-FFF2-40B4-BE49-F238E27FC236}">
                <a16:creationId xmlns:a16="http://schemas.microsoft.com/office/drawing/2014/main" id="{4A389B34-01F1-1487-8170-54F3010D0D44}"/>
              </a:ext>
            </a:extLst>
          </p:cNvPr>
          <p:cNvSpPr txBox="1"/>
          <p:nvPr/>
        </p:nvSpPr>
        <p:spPr>
          <a:xfrm>
            <a:off x="373387" y="1553049"/>
            <a:ext cx="8459718" cy="338554"/>
          </a:xfrm>
          <a:prstGeom prst="rect">
            <a:avLst/>
          </a:prstGeom>
          <a:noFill/>
        </p:spPr>
        <p:txBody>
          <a:bodyPr wrap="square" rtlCol="0">
            <a:spAutoFit/>
          </a:bodyPr>
          <a:lstStyle/>
          <a:p>
            <a:r>
              <a:rPr lang="en-US" sz="1600" dirty="0"/>
              <a:t>Need to be careful</a:t>
            </a:r>
          </a:p>
        </p:txBody>
      </p:sp>
      <p:sp>
        <p:nvSpPr>
          <p:cNvPr id="12" name="TextBox 11">
            <a:extLst>
              <a:ext uri="{FF2B5EF4-FFF2-40B4-BE49-F238E27FC236}">
                <a16:creationId xmlns:a16="http://schemas.microsoft.com/office/drawing/2014/main" id="{63D2E159-ED25-E8A3-DAB7-6B4F8EE52852}"/>
              </a:ext>
            </a:extLst>
          </p:cNvPr>
          <p:cNvSpPr txBox="1"/>
          <p:nvPr/>
        </p:nvSpPr>
        <p:spPr>
          <a:xfrm>
            <a:off x="483787" y="2096209"/>
            <a:ext cx="3782517" cy="4278094"/>
          </a:xfrm>
          <a:prstGeom prst="rect">
            <a:avLst/>
          </a:prstGeom>
          <a:noFill/>
        </p:spPr>
        <p:txBody>
          <a:bodyPr wrap="square" rtlCol="0">
            <a:spAutoFit/>
          </a:bodyPr>
          <a:lstStyle/>
          <a:p>
            <a:pPr marL="285750" indent="-285750">
              <a:buFont typeface="Arial" panose="020B0604020202020204" pitchFamily="34" charset="0"/>
              <a:buChar char="•"/>
            </a:pPr>
            <a:r>
              <a:rPr lang="en-US" sz="1600" b="1" dirty="0"/>
              <a:t>Time windows: </a:t>
            </a:r>
            <a:r>
              <a:rPr lang="en-US" sz="1600" dirty="0"/>
              <a:t>ensure that the same data does not end in different windows or that data is discontinuous. E.g. if we are predicting time series across trajectories, make sure pairs are confined within the trajectory.</a:t>
            </a:r>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t>Data is </a:t>
            </a:r>
            <a:r>
              <a:rPr lang="en-US" sz="1600" b="1" dirty="0" err="1"/>
              <a:t>repesentative</a:t>
            </a:r>
            <a:r>
              <a:rPr lang="en-US" sz="1600" b="1" dirty="0"/>
              <a:t>: </a:t>
            </a:r>
            <a:r>
              <a:rPr lang="en-US" sz="1600" dirty="0"/>
              <a:t>if we are looking for e.g. defects, make sure that there are enough in each time window.</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Test your setup: </a:t>
            </a:r>
            <a:r>
              <a:rPr lang="en-US" sz="1600" dirty="0"/>
              <a:t>taking a very small subset of data can be useful to test end-to-end process. Very good control what is going in and out</a:t>
            </a:r>
          </a:p>
        </p:txBody>
      </p:sp>
      <p:sp>
        <p:nvSpPr>
          <p:cNvPr id="13" name="Shape 5">
            <a:extLst>
              <a:ext uri="{FF2B5EF4-FFF2-40B4-BE49-F238E27FC236}">
                <a16:creationId xmlns:a16="http://schemas.microsoft.com/office/drawing/2014/main" id="{B039473A-44E8-E8E5-B1F8-AC74C34D1BD6}"/>
              </a:ext>
            </a:extLst>
          </p:cNvPr>
          <p:cNvSpPr/>
          <p:nvPr/>
        </p:nvSpPr>
        <p:spPr>
          <a:xfrm>
            <a:off x="4572000" y="2790507"/>
            <a:ext cx="2831724" cy="541784"/>
          </a:xfrm>
          <a:prstGeom prst="rect">
            <a:avLst/>
          </a:prstGeom>
          <a:solidFill>
            <a:schemeClr val="accent4">
              <a:lumMod val="75000"/>
            </a:schemeClr>
          </a:solidFill>
          <a:ln/>
        </p:spPr>
        <p:txBody>
          <a:bodyPr/>
          <a:lstStyle/>
          <a:p>
            <a:endParaRPr lang="en-US" dirty="0"/>
          </a:p>
        </p:txBody>
      </p:sp>
      <p:sp>
        <p:nvSpPr>
          <p:cNvPr id="14" name="Shape 6">
            <a:extLst>
              <a:ext uri="{FF2B5EF4-FFF2-40B4-BE49-F238E27FC236}">
                <a16:creationId xmlns:a16="http://schemas.microsoft.com/office/drawing/2014/main" id="{F9412330-2EC5-F1AB-C216-E069C7FF9903}"/>
              </a:ext>
            </a:extLst>
          </p:cNvPr>
          <p:cNvSpPr/>
          <p:nvPr/>
        </p:nvSpPr>
        <p:spPr>
          <a:xfrm>
            <a:off x="7403724" y="2790507"/>
            <a:ext cx="1213596" cy="541784"/>
          </a:xfrm>
          <a:prstGeom prst="rect">
            <a:avLst/>
          </a:prstGeom>
          <a:solidFill>
            <a:srgbClr val="E8871E"/>
          </a:solidFill>
          <a:ln/>
        </p:spPr>
        <p:txBody>
          <a:bodyPr/>
          <a:lstStyle/>
          <a:p>
            <a:endParaRPr lang="en-US"/>
          </a:p>
        </p:txBody>
      </p:sp>
      <p:sp>
        <p:nvSpPr>
          <p:cNvPr id="16" name="TextBox 15">
            <a:extLst>
              <a:ext uri="{FF2B5EF4-FFF2-40B4-BE49-F238E27FC236}">
                <a16:creationId xmlns:a16="http://schemas.microsoft.com/office/drawing/2014/main" id="{B4A989D9-CEB1-18F3-B302-4B0DFF349869}"/>
              </a:ext>
            </a:extLst>
          </p:cNvPr>
          <p:cNvSpPr txBox="1"/>
          <p:nvPr/>
        </p:nvSpPr>
        <p:spPr>
          <a:xfrm>
            <a:off x="5268051" y="2876733"/>
            <a:ext cx="1381532" cy="369332"/>
          </a:xfrm>
          <a:prstGeom prst="rect">
            <a:avLst/>
          </a:prstGeom>
          <a:noFill/>
        </p:spPr>
        <p:txBody>
          <a:bodyPr wrap="none" rtlCol="0">
            <a:spAutoFit/>
          </a:bodyPr>
          <a:lstStyle/>
          <a:p>
            <a:r>
              <a:rPr lang="en-US" dirty="0">
                <a:solidFill>
                  <a:schemeClr val="bg1"/>
                </a:solidFill>
              </a:rPr>
              <a:t>Training set</a:t>
            </a:r>
          </a:p>
        </p:txBody>
      </p:sp>
      <p:sp>
        <p:nvSpPr>
          <p:cNvPr id="17" name="TextBox 16">
            <a:extLst>
              <a:ext uri="{FF2B5EF4-FFF2-40B4-BE49-F238E27FC236}">
                <a16:creationId xmlns:a16="http://schemas.microsoft.com/office/drawing/2014/main" id="{2D497FE2-C386-DDC2-27A2-7D12FF8292E8}"/>
              </a:ext>
            </a:extLst>
          </p:cNvPr>
          <p:cNvSpPr txBox="1"/>
          <p:nvPr/>
        </p:nvSpPr>
        <p:spPr>
          <a:xfrm>
            <a:off x="7706560" y="2876733"/>
            <a:ext cx="607923" cy="369332"/>
          </a:xfrm>
          <a:prstGeom prst="rect">
            <a:avLst/>
          </a:prstGeom>
          <a:noFill/>
        </p:spPr>
        <p:txBody>
          <a:bodyPr wrap="none" rtlCol="0">
            <a:spAutoFit/>
          </a:bodyPr>
          <a:lstStyle/>
          <a:p>
            <a:r>
              <a:rPr lang="en-US" dirty="0">
                <a:solidFill>
                  <a:schemeClr val="bg1"/>
                </a:solidFill>
              </a:rPr>
              <a:t>Test</a:t>
            </a:r>
          </a:p>
        </p:txBody>
      </p:sp>
      <p:sp>
        <p:nvSpPr>
          <p:cNvPr id="18" name="TextBox 17">
            <a:extLst>
              <a:ext uri="{FF2B5EF4-FFF2-40B4-BE49-F238E27FC236}">
                <a16:creationId xmlns:a16="http://schemas.microsoft.com/office/drawing/2014/main" id="{1F7A23B4-8B75-99F2-CD8B-883C2434B451}"/>
              </a:ext>
            </a:extLst>
          </p:cNvPr>
          <p:cNvSpPr txBox="1"/>
          <p:nvPr/>
        </p:nvSpPr>
        <p:spPr>
          <a:xfrm>
            <a:off x="4603246" y="3430741"/>
            <a:ext cx="3641162" cy="646331"/>
          </a:xfrm>
          <a:prstGeom prst="rect">
            <a:avLst/>
          </a:prstGeom>
          <a:noFill/>
        </p:spPr>
        <p:txBody>
          <a:bodyPr wrap="square" rtlCol="0">
            <a:spAutoFit/>
          </a:bodyPr>
          <a:lstStyle/>
          <a:p>
            <a:r>
              <a:rPr lang="en-US" sz="1200" dirty="0">
                <a:solidFill>
                  <a:schemeClr val="bg1">
                    <a:lumMod val="50000"/>
                  </a:schemeClr>
                </a:solidFill>
              </a:rPr>
              <a:t>The model learns in the training set and we hold out a test set to give an honest estimation of the performance. Typically training set ~80% of data</a:t>
            </a:r>
          </a:p>
        </p:txBody>
      </p:sp>
    </p:spTree>
    <p:extLst>
      <p:ext uri="{BB962C8B-B14F-4D97-AF65-F5344CB8AC3E}">
        <p14:creationId xmlns:p14="http://schemas.microsoft.com/office/powerpoint/2010/main" val="114525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7373-B950-B472-222D-0785B8164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74904-79E9-3805-A444-08635E18769C}"/>
              </a:ext>
            </a:extLst>
          </p:cNvPr>
          <p:cNvSpPr>
            <a:spLocks noGrp="1"/>
          </p:cNvSpPr>
          <p:nvPr>
            <p:ph type="title"/>
          </p:nvPr>
        </p:nvSpPr>
        <p:spPr>
          <a:xfrm>
            <a:off x="2493005" y="236425"/>
            <a:ext cx="6340100" cy="1143000"/>
          </a:xfrm>
        </p:spPr>
        <p:txBody>
          <a:bodyPr/>
          <a:lstStyle/>
          <a:p>
            <a:r>
              <a:rPr lang="en-US" dirty="0"/>
              <a:t>Preprocessing</a:t>
            </a:r>
          </a:p>
        </p:txBody>
      </p:sp>
      <p:sp>
        <p:nvSpPr>
          <p:cNvPr id="4" name="TextBox 3">
            <a:extLst>
              <a:ext uri="{FF2B5EF4-FFF2-40B4-BE49-F238E27FC236}">
                <a16:creationId xmlns:a16="http://schemas.microsoft.com/office/drawing/2014/main" id="{89A9AA0A-786D-40CA-2F83-723555A9FF0C}"/>
              </a:ext>
            </a:extLst>
          </p:cNvPr>
          <p:cNvSpPr txBox="1"/>
          <p:nvPr/>
        </p:nvSpPr>
        <p:spPr>
          <a:xfrm>
            <a:off x="373387" y="1553049"/>
            <a:ext cx="8459718" cy="338554"/>
          </a:xfrm>
          <a:prstGeom prst="rect">
            <a:avLst/>
          </a:prstGeom>
          <a:noFill/>
        </p:spPr>
        <p:txBody>
          <a:bodyPr wrap="square" rtlCol="0">
            <a:spAutoFit/>
          </a:bodyPr>
          <a:lstStyle/>
          <a:p>
            <a:r>
              <a:rPr lang="en-US" sz="1600" dirty="0"/>
              <a:t>Machine learning is essentially Statistics and we need to prepare our data: </a:t>
            </a:r>
            <a:r>
              <a:rPr lang="en-US" sz="1600" b="1" dirty="0">
                <a:solidFill>
                  <a:srgbClr val="7030A0"/>
                </a:solidFill>
              </a:rPr>
              <a:t>preprocessing</a:t>
            </a:r>
          </a:p>
        </p:txBody>
      </p:sp>
      <p:sp>
        <p:nvSpPr>
          <p:cNvPr id="3" name="Rectangle 2">
            <a:extLst>
              <a:ext uri="{FF2B5EF4-FFF2-40B4-BE49-F238E27FC236}">
                <a16:creationId xmlns:a16="http://schemas.microsoft.com/office/drawing/2014/main" id="{CAE53D03-8062-F934-C8DB-5BF3392EBC07}"/>
              </a:ext>
            </a:extLst>
          </p:cNvPr>
          <p:cNvSpPr/>
          <p:nvPr/>
        </p:nvSpPr>
        <p:spPr>
          <a:xfrm>
            <a:off x="539552" y="1999138"/>
            <a:ext cx="8136904" cy="9978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 name="Rectangle 4">
            <a:extLst>
              <a:ext uri="{FF2B5EF4-FFF2-40B4-BE49-F238E27FC236}">
                <a16:creationId xmlns:a16="http://schemas.microsoft.com/office/drawing/2014/main" id="{DAC2F257-2D9B-9FAE-2014-CAD8C5E0B7B7}"/>
              </a:ext>
            </a:extLst>
          </p:cNvPr>
          <p:cNvSpPr/>
          <p:nvPr/>
        </p:nvSpPr>
        <p:spPr>
          <a:xfrm>
            <a:off x="539552" y="3501008"/>
            <a:ext cx="8136904" cy="974761"/>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52BF3F-3CD1-7D0F-0C52-FABDE2AA166D}"/>
              </a:ext>
            </a:extLst>
          </p:cNvPr>
          <p:cNvSpPr txBox="1"/>
          <p:nvPr/>
        </p:nvSpPr>
        <p:spPr>
          <a:xfrm>
            <a:off x="545954" y="2287567"/>
            <a:ext cx="2517610" cy="646331"/>
          </a:xfrm>
          <a:prstGeom prst="rect">
            <a:avLst/>
          </a:prstGeom>
          <a:noFill/>
        </p:spPr>
        <p:txBody>
          <a:bodyPr wrap="square" rtlCol="0">
            <a:spAutoFit/>
          </a:bodyPr>
          <a:lstStyle/>
          <a:p>
            <a:pPr algn="ctr"/>
            <a:r>
              <a:rPr lang="en-US" b="1" dirty="0" err="1"/>
              <a:t>Normalise</a:t>
            </a:r>
            <a:r>
              <a:rPr lang="en-US" b="1" dirty="0"/>
              <a:t> and scale</a:t>
            </a:r>
          </a:p>
          <a:p>
            <a:endParaRPr lang="en-US" dirty="0"/>
          </a:p>
        </p:txBody>
      </p:sp>
      <p:sp>
        <p:nvSpPr>
          <p:cNvPr id="7" name="TextBox 6">
            <a:extLst>
              <a:ext uri="{FF2B5EF4-FFF2-40B4-BE49-F238E27FC236}">
                <a16:creationId xmlns:a16="http://schemas.microsoft.com/office/drawing/2014/main" id="{1EBEAE08-E922-031E-7112-6133AED44010}"/>
              </a:ext>
            </a:extLst>
          </p:cNvPr>
          <p:cNvSpPr txBox="1"/>
          <p:nvPr/>
        </p:nvSpPr>
        <p:spPr>
          <a:xfrm>
            <a:off x="3302319" y="2287567"/>
            <a:ext cx="5187246" cy="461665"/>
          </a:xfrm>
          <a:prstGeom prst="rect">
            <a:avLst/>
          </a:prstGeom>
          <a:noFill/>
        </p:spPr>
        <p:txBody>
          <a:bodyPr wrap="square">
            <a:spAutoFit/>
          </a:bodyPr>
          <a:lstStyle/>
          <a:p>
            <a:pPr algn="ctr"/>
            <a:r>
              <a:rPr lang="en-US" sz="1200" dirty="0"/>
              <a:t>Often required to put inputs on comparable scales, otherwise one feature might dominate. E.g. the different velocity components in a flow field</a:t>
            </a:r>
          </a:p>
        </p:txBody>
      </p:sp>
      <p:sp>
        <p:nvSpPr>
          <p:cNvPr id="8" name="Rectangle 7">
            <a:extLst>
              <a:ext uri="{FF2B5EF4-FFF2-40B4-BE49-F238E27FC236}">
                <a16:creationId xmlns:a16="http://schemas.microsoft.com/office/drawing/2014/main" id="{6B000AFF-EE95-2D7C-39CB-65C9E669A8D8}"/>
              </a:ext>
            </a:extLst>
          </p:cNvPr>
          <p:cNvSpPr/>
          <p:nvPr/>
        </p:nvSpPr>
        <p:spPr>
          <a:xfrm>
            <a:off x="534794" y="5039827"/>
            <a:ext cx="8136904" cy="9978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TextBox 8">
            <a:extLst>
              <a:ext uri="{FF2B5EF4-FFF2-40B4-BE49-F238E27FC236}">
                <a16:creationId xmlns:a16="http://schemas.microsoft.com/office/drawing/2014/main" id="{ECAAE670-E391-4B56-247C-34266BCE547C}"/>
              </a:ext>
            </a:extLst>
          </p:cNvPr>
          <p:cNvSpPr txBox="1"/>
          <p:nvPr/>
        </p:nvSpPr>
        <p:spPr>
          <a:xfrm>
            <a:off x="148575" y="3773916"/>
            <a:ext cx="3312368" cy="646331"/>
          </a:xfrm>
          <a:prstGeom prst="rect">
            <a:avLst/>
          </a:prstGeom>
          <a:noFill/>
        </p:spPr>
        <p:txBody>
          <a:bodyPr wrap="square" rtlCol="0">
            <a:spAutoFit/>
          </a:bodyPr>
          <a:lstStyle/>
          <a:p>
            <a:pPr algn="ctr"/>
            <a:r>
              <a:rPr lang="en-US" b="1" dirty="0"/>
              <a:t>Encode carefully</a:t>
            </a:r>
          </a:p>
          <a:p>
            <a:endParaRPr lang="en-US" dirty="0"/>
          </a:p>
        </p:txBody>
      </p:sp>
      <p:sp>
        <p:nvSpPr>
          <p:cNvPr id="10" name="TextBox 9">
            <a:extLst>
              <a:ext uri="{FF2B5EF4-FFF2-40B4-BE49-F238E27FC236}">
                <a16:creationId xmlns:a16="http://schemas.microsoft.com/office/drawing/2014/main" id="{76A3C80D-9FD1-EBED-4213-FE3F9E8802A7}"/>
              </a:ext>
            </a:extLst>
          </p:cNvPr>
          <p:cNvSpPr txBox="1"/>
          <p:nvPr/>
        </p:nvSpPr>
        <p:spPr>
          <a:xfrm>
            <a:off x="3203848" y="3677748"/>
            <a:ext cx="5187246" cy="646331"/>
          </a:xfrm>
          <a:prstGeom prst="rect">
            <a:avLst/>
          </a:prstGeom>
          <a:noFill/>
        </p:spPr>
        <p:txBody>
          <a:bodyPr wrap="square">
            <a:spAutoFit/>
          </a:bodyPr>
          <a:lstStyle/>
          <a:p>
            <a:pPr algn="ctr"/>
            <a:r>
              <a:rPr lang="en-US" sz="1200" dirty="0">
                <a:sym typeface="Wingdings" pitchFamily="2" charset="2"/>
              </a:rPr>
              <a:t>If you are encoding (finding representations) do this carefully: take patches of relevant size or use dynamically relevant times. E.g. if your data is asymmetric, ensure this is considered in design</a:t>
            </a:r>
            <a:endParaRPr lang="en-US" sz="1200" dirty="0"/>
          </a:p>
        </p:txBody>
      </p:sp>
      <p:sp>
        <p:nvSpPr>
          <p:cNvPr id="11" name="TextBox 10">
            <a:extLst>
              <a:ext uri="{FF2B5EF4-FFF2-40B4-BE49-F238E27FC236}">
                <a16:creationId xmlns:a16="http://schemas.microsoft.com/office/drawing/2014/main" id="{60B8423A-B849-0509-2FF0-C6E71379A346}"/>
              </a:ext>
            </a:extLst>
          </p:cNvPr>
          <p:cNvSpPr txBox="1"/>
          <p:nvPr/>
        </p:nvSpPr>
        <p:spPr>
          <a:xfrm>
            <a:off x="349338" y="5306071"/>
            <a:ext cx="3312368" cy="646331"/>
          </a:xfrm>
          <a:prstGeom prst="rect">
            <a:avLst/>
          </a:prstGeom>
          <a:noFill/>
        </p:spPr>
        <p:txBody>
          <a:bodyPr wrap="square" rtlCol="0">
            <a:spAutoFit/>
          </a:bodyPr>
          <a:lstStyle/>
          <a:p>
            <a:pPr algn="ctr"/>
            <a:r>
              <a:rPr lang="en-US" b="1" dirty="0"/>
              <a:t>Feature engineering</a:t>
            </a:r>
          </a:p>
          <a:p>
            <a:endParaRPr lang="en-US" dirty="0"/>
          </a:p>
        </p:txBody>
      </p:sp>
      <p:sp>
        <p:nvSpPr>
          <p:cNvPr id="15" name="TextBox 14">
            <a:extLst>
              <a:ext uri="{FF2B5EF4-FFF2-40B4-BE49-F238E27FC236}">
                <a16:creationId xmlns:a16="http://schemas.microsoft.com/office/drawing/2014/main" id="{42CC5EBE-A338-49DA-FB2E-BDD3EA8A6E1B}"/>
              </a:ext>
            </a:extLst>
          </p:cNvPr>
          <p:cNvSpPr txBox="1"/>
          <p:nvPr/>
        </p:nvSpPr>
        <p:spPr>
          <a:xfrm>
            <a:off x="3551160" y="5220832"/>
            <a:ext cx="4839934" cy="646331"/>
          </a:xfrm>
          <a:prstGeom prst="rect">
            <a:avLst/>
          </a:prstGeom>
          <a:noFill/>
        </p:spPr>
        <p:txBody>
          <a:bodyPr wrap="square">
            <a:spAutoFit/>
          </a:bodyPr>
          <a:lstStyle/>
          <a:p>
            <a:pPr algn="ctr"/>
            <a:r>
              <a:rPr lang="en-US" sz="1200" dirty="0">
                <a:sym typeface="Wingdings" pitchFamily="2" charset="2"/>
              </a:rPr>
              <a:t>Balance the addition of manual features. See example Jupyter notebooks. Adding more information about the system helps small datasets, bigger models can learn on their own</a:t>
            </a:r>
            <a:endParaRPr lang="en-US" sz="1200" dirty="0"/>
          </a:p>
        </p:txBody>
      </p:sp>
    </p:spTree>
    <p:extLst>
      <p:ext uri="{BB962C8B-B14F-4D97-AF65-F5344CB8AC3E}">
        <p14:creationId xmlns:p14="http://schemas.microsoft.com/office/powerpoint/2010/main" val="3155776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01B88-6F1B-8E0E-3A17-E8426FC7D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18680-9B3F-F6E0-1CA5-628054558E0C}"/>
              </a:ext>
            </a:extLst>
          </p:cNvPr>
          <p:cNvSpPr>
            <a:spLocks noGrp="1"/>
          </p:cNvSpPr>
          <p:nvPr>
            <p:ph type="title"/>
          </p:nvPr>
        </p:nvSpPr>
        <p:spPr>
          <a:xfrm>
            <a:off x="2493005" y="236425"/>
            <a:ext cx="6340100" cy="1143000"/>
          </a:xfrm>
        </p:spPr>
        <p:txBody>
          <a:bodyPr/>
          <a:lstStyle/>
          <a:p>
            <a:r>
              <a:rPr lang="en-US" dirty="0"/>
              <a:t>Setting strong baselines</a:t>
            </a:r>
          </a:p>
        </p:txBody>
      </p:sp>
      <p:sp>
        <p:nvSpPr>
          <p:cNvPr id="4" name="TextBox 3">
            <a:extLst>
              <a:ext uri="{FF2B5EF4-FFF2-40B4-BE49-F238E27FC236}">
                <a16:creationId xmlns:a16="http://schemas.microsoft.com/office/drawing/2014/main" id="{1BC72333-10F0-EE98-219A-40EFA0A5BD25}"/>
              </a:ext>
            </a:extLst>
          </p:cNvPr>
          <p:cNvSpPr txBox="1"/>
          <p:nvPr/>
        </p:nvSpPr>
        <p:spPr>
          <a:xfrm>
            <a:off x="373387" y="1553049"/>
            <a:ext cx="8459718" cy="584775"/>
          </a:xfrm>
          <a:prstGeom prst="rect">
            <a:avLst/>
          </a:prstGeom>
          <a:noFill/>
        </p:spPr>
        <p:txBody>
          <a:bodyPr wrap="square" rtlCol="0">
            <a:spAutoFit/>
          </a:bodyPr>
          <a:lstStyle/>
          <a:p>
            <a:r>
              <a:rPr lang="en-US" sz="1600" dirty="0"/>
              <a:t>Ensure a fair comparison of the methods. Important when comparing a model’s output and cost. </a:t>
            </a:r>
            <a:endParaRPr lang="en-US" sz="1600" b="1" dirty="0">
              <a:solidFill>
                <a:srgbClr val="7030A0"/>
              </a:solidFill>
            </a:endParaRPr>
          </a:p>
        </p:txBody>
      </p:sp>
      <p:sp>
        <p:nvSpPr>
          <p:cNvPr id="12" name="Rectangle 11">
            <a:extLst>
              <a:ext uri="{FF2B5EF4-FFF2-40B4-BE49-F238E27FC236}">
                <a16:creationId xmlns:a16="http://schemas.microsoft.com/office/drawing/2014/main" id="{C0711E2B-C65D-BBDF-87D3-E3CFC578FD1A}"/>
              </a:ext>
            </a:extLst>
          </p:cNvPr>
          <p:cNvSpPr/>
          <p:nvPr/>
        </p:nvSpPr>
        <p:spPr>
          <a:xfrm>
            <a:off x="373387" y="2276872"/>
            <a:ext cx="2736304" cy="280831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Rectangle 12">
            <a:extLst>
              <a:ext uri="{FF2B5EF4-FFF2-40B4-BE49-F238E27FC236}">
                <a16:creationId xmlns:a16="http://schemas.microsoft.com/office/drawing/2014/main" id="{5E13ED82-93C2-7F22-D9E4-F56C3102FE50}"/>
              </a:ext>
            </a:extLst>
          </p:cNvPr>
          <p:cNvSpPr/>
          <p:nvPr/>
        </p:nvSpPr>
        <p:spPr>
          <a:xfrm>
            <a:off x="3259049" y="2276872"/>
            <a:ext cx="2736304" cy="2808311"/>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1A8B169-95CA-9347-9EA4-9252ABD52032}"/>
              </a:ext>
            </a:extLst>
          </p:cNvPr>
          <p:cNvSpPr/>
          <p:nvPr/>
        </p:nvSpPr>
        <p:spPr>
          <a:xfrm>
            <a:off x="6144711" y="2276872"/>
            <a:ext cx="2736304" cy="2808311"/>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3A227FD-5386-1EB8-DD52-87F72193235F}"/>
              </a:ext>
            </a:extLst>
          </p:cNvPr>
          <p:cNvSpPr txBox="1"/>
          <p:nvPr/>
        </p:nvSpPr>
        <p:spPr>
          <a:xfrm>
            <a:off x="482734" y="2564904"/>
            <a:ext cx="2517610" cy="1077218"/>
          </a:xfrm>
          <a:prstGeom prst="rect">
            <a:avLst/>
          </a:prstGeom>
          <a:noFill/>
        </p:spPr>
        <p:txBody>
          <a:bodyPr wrap="square" rtlCol="0">
            <a:spAutoFit/>
          </a:bodyPr>
          <a:lstStyle/>
          <a:p>
            <a:pPr algn="ctr"/>
            <a:r>
              <a:rPr lang="en-US" b="1" dirty="0"/>
              <a:t>Naive</a:t>
            </a:r>
          </a:p>
          <a:p>
            <a:endParaRPr lang="en-US" dirty="0"/>
          </a:p>
          <a:p>
            <a:pPr algn="ctr"/>
            <a:r>
              <a:rPr lang="en-US" sz="1400" dirty="0"/>
              <a:t>In time series and prediction tasks: </a:t>
            </a:r>
            <a:r>
              <a:rPr lang="en-US" sz="1400" b="1" dirty="0">
                <a:solidFill>
                  <a:srgbClr val="7030A0"/>
                </a:solidFill>
              </a:rPr>
              <a:t>Identity</a:t>
            </a:r>
            <a:endParaRPr lang="en-US" sz="1200" b="1" dirty="0"/>
          </a:p>
        </p:txBody>
      </p:sp>
      <p:sp>
        <p:nvSpPr>
          <p:cNvPr id="17" name="TextBox 16">
            <a:extLst>
              <a:ext uri="{FF2B5EF4-FFF2-40B4-BE49-F238E27FC236}">
                <a16:creationId xmlns:a16="http://schemas.microsoft.com/office/drawing/2014/main" id="{072DF123-706F-CD8A-EB80-BD094BD80C36}"/>
              </a:ext>
            </a:extLst>
          </p:cNvPr>
          <p:cNvSpPr txBox="1"/>
          <p:nvPr/>
        </p:nvSpPr>
        <p:spPr>
          <a:xfrm>
            <a:off x="518155" y="4176923"/>
            <a:ext cx="2450942" cy="646331"/>
          </a:xfrm>
          <a:prstGeom prst="rect">
            <a:avLst/>
          </a:prstGeom>
          <a:noFill/>
        </p:spPr>
        <p:txBody>
          <a:bodyPr wrap="square">
            <a:spAutoFit/>
          </a:bodyPr>
          <a:lstStyle/>
          <a:p>
            <a:pPr algn="ctr"/>
            <a:r>
              <a:rPr lang="en-US" sz="1200" dirty="0">
                <a:sym typeface="Wingdings" pitchFamily="2" charset="2"/>
              </a:rPr>
              <a:t>Future is identical to present state (identity when predicting outputs)</a:t>
            </a:r>
            <a:endParaRPr lang="en-US" sz="1200" dirty="0"/>
          </a:p>
        </p:txBody>
      </p:sp>
      <p:sp>
        <p:nvSpPr>
          <p:cNvPr id="18" name="TextBox 17">
            <a:extLst>
              <a:ext uri="{FF2B5EF4-FFF2-40B4-BE49-F238E27FC236}">
                <a16:creationId xmlns:a16="http://schemas.microsoft.com/office/drawing/2014/main" id="{B1084A66-3196-A4AB-78B5-456027F5D6BC}"/>
              </a:ext>
            </a:extLst>
          </p:cNvPr>
          <p:cNvSpPr txBox="1"/>
          <p:nvPr/>
        </p:nvSpPr>
        <p:spPr>
          <a:xfrm>
            <a:off x="3331056" y="2420888"/>
            <a:ext cx="2592290" cy="2000548"/>
          </a:xfrm>
          <a:prstGeom prst="rect">
            <a:avLst/>
          </a:prstGeom>
          <a:noFill/>
        </p:spPr>
        <p:txBody>
          <a:bodyPr wrap="square" rtlCol="0">
            <a:spAutoFit/>
          </a:bodyPr>
          <a:lstStyle/>
          <a:p>
            <a:pPr algn="ctr"/>
            <a:r>
              <a:rPr lang="en-US" b="1" dirty="0"/>
              <a:t>Mean/majority prediction</a:t>
            </a:r>
          </a:p>
          <a:p>
            <a:endParaRPr lang="en-US" dirty="0"/>
          </a:p>
          <a:p>
            <a:pPr algn="ctr"/>
            <a:r>
              <a:rPr lang="en-US" sz="1400" dirty="0">
                <a:solidFill>
                  <a:schemeClr val="tx2">
                    <a:lumMod val="75000"/>
                  </a:schemeClr>
                </a:solidFill>
              </a:rPr>
              <a:t>For regression tasks, predicting the mean is the first task to beat. For classification tasks, predicting the majority is the one to beat</a:t>
            </a:r>
            <a:endParaRPr lang="en-US" sz="1200" dirty="0"/>
          </a:p>
        </p:txBody>
      </p:sp>
      <p:sp>
        <p:nvSpPr>
          <p:cNvPr id="20" name="TextBox 19">
            <a:extLst>
              <a:ext uri="{FF2B5EF4-FFF2-40B4-BE49-F238E27FC236}">
                <a16:creationId xmlns:a16="http://schemas.microsoft.com/office/drawing/2014/main" id="{142DEF59-E0D1-6BB9-87B1-502BAA98F426}"/>
              </a:ext>
            </a:extLst>
          </p:cNvPr>
          <p:cNvSpPr txBox="1"/>
          <p:nvPr/>
        </p:nvSpPr>
        <p:spPr>
          <a:xfrm>
            <a:off x="6195124" y="2420888"/>
            <a:ext cx="2592290" cy="2000548"/>
          </a:xfrm>
          <a:prstGeom prst="rect">
            <a:avLst/>
          </a:prstGeom>
          <a:noFill/>
        </p:spPr>
        <p:txBody>
          <a:bodyPr wrap="square" rtlCol="0">
            <a:spAutoFit/>
          </a:bodyPr>
          <a:lstStyle/>
          <a:p>
            <a:pPr algn="ctr"/>
            <a:r>
              <a:rPr lang="en-US" b="1" dirty="0"/>
              <a:t>Linear/logistic regression</a:t>
            </a:r>
          </a:p>
          <a:p>
            <a:endParaRPr lang="en-US" dirty="0"/>
          </a:p>
          <a:p>
            <a:pPr algn="ctr"/>
            <a:r>
              <a:rPr lang="en-US" sz="1400" dirty="0">
                <a:sym typeface="Wingdings" pitchFamily="2" charset="2"/>
              </a:rPr>
              <a:t>Simplest interpretable model to beat. Linear regression for regression tasks, logistic regression for classification tasks</a:t>
            </a:r>
            <a:endParaRPr lang="en-US" sz="1200" dirty="0"/>
          </a:p>
        </p:txBody>
      </p:sp>
      <p:pic>
        <p:nvPicPr>
          <p:cNvPr id="22" name="Picture 21">
            <a:extLst>
              <a:ext uri="{FF2B5EF4-FFF2-40B4-BE49-F238E27FC236}">
                <a16:creationId xmlns:a16="http://schemas.microsoft.com/office/drawing/2014/main" id="{3F45B5AE-1D4E-DC22-39BE-E92F4F81D4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0300" y="4907073"/>
            <a:ext cx="5220072" cy="1934072"/>
          </a:xfrm>
          <a:prstGeom prst="rect">
            <a:avLst/>
          </a:prstGeom>
        </p:spPr>
      </p:pic>
    </p:spTree>
    <p:extLst>
      <p:ext uri="{BB962C8B-B14F-4D97-AF65-F5344CB8AC3E}">
        <p14:creationId xmlns:p14="http://schemas.microsoft.com/office/powerpoint/2010/main" val="1068507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AB095-8172-DC8D-6B84-8C250549A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6EF39-E3E0-6587-6EF8-7748DABF0687}"/>
              </a:ext>
            </a:extLst>
          </p:cNvPr>
          <p:cNvSpPr>
            <a:spLocks noGrp="1"/>
          </p:cNvSpPr>
          <p:nvPr>
            <p:ph type="title"/>
          </p:nvPr>
        </p:nvSpPr>
        <p:spPr>
          <a:xfrm>
            <a:off x="2493005" y="236425"/>
            <a:ext cx="6340100" cy="1143000"/>
          </a:xfrm>
        </p:spPr>
        <p:txBody>
          <a:bodyPr/>
          <a:lstStyle/>
          <a:p>
            <a:r>
              <a:rPr lang="en-US" dirty="0"/>
              <a:t>The metrics of success</a:t>
            </a:r>
          </a:p>
        </p:txBody>
      </p:sp>
      <p:sp>
        <p:nvSpPr>
          <p:cNvPr id="4" name="TextBox 3">
            <a:extLst>
              <a:ext uri="{FF2B5EF4-FFF2-40B4-BE49-F238E27FC236}">
                <a16:creationId xmlns:a16="http://schemas.microsoft.com/office/drawing/2014/main" id="{10420E9A-1D1C-BCFD-CA73-9084BAD4B152}"/>
              </a:ext>
            </a:extLst>
          </p:cNvPr>
          <p:cNvSpPr txBox="1"/>
          <p:nvPr/>
        </p:nvSpPr>
        <p:spPr>
          <a:xfrm>
            <a:off x="373387" y="1553049"/>
            <a:ext cx="8459718" cy="338554"/>
          </a:xfrm>
          <a:prstGeom prst="rect">
            <a:avLst/>
          </a:prstGeom>
          <a:noFill/>
        </p:spPr>
        <p:txBody>
          <a:bodyPr wrap="square" rtlCol="0">
            <a:spAutoFit/>
          </a:bodyPr>
          <a:lstStyle/>
          <a:p>
            <a:r>
              <a:rPr lang="en-US" sz="1600" dirty="0"/>
              <a:t>What we </a:t>
            </a:r>
            <a:r>
              <a:rPr lang="en-US" sz="1600" dirty="0" err="1"/>
              <a:t>optimise</a:t>
            </a:r>
            <a:r>
              <a:rPr lang="en-US" sz="1600" dirty="0"/>
              <a:t> for defines how good the models are </a:t>
            </a:r>
            <a:endParaRPr lang="en-US" sz="1600" b="1" dirty="0">
              <a:solidFill>
                <a:srgbClr val="7030A0"/>
              </a:solidFill>
            </a:endParaRPr>
          </a:p>
        </p:txBody>
      </p:sp>
      <p:sp>
        <p:nvSpPr>
          <p:cNvPr id="12" name="Rectangle 11">
            <a:extLst>
              <a:ext uri="{FF2B5EF4-FFF2-40B4-BE49-F238E27FC236}">
                <a16:creationId xmlns:a16="http://schemas.microsoft.com/office/drawing/2014/main" id="{4F409A2D-1803-A8A9-9294-223A89C46564}"/>
              </a:ext>
            </a:extLst>
          </p:cNvPr>
          <p:cNvSpPr/>
          <p:nvPr/>
        </p:nvSpPr>
        <p:spPr>
          <a:xfrm>
            <a:off x="373387" y="2276872"/>
            <a:ext cx="2736304" cy="280831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Rectangle 12">
            <a:extLst>
              <a:ext uri="{FF2B5EF4-FFF2-40B4-BE49-F238E27FC236}">
                <a16:creationId xmlns:a16="http://schemas.microsoft.com/office/drawing/2014/main" id="{70D15F26-669F-95D4-FB7C-E01837944597}"/>
              </a:ext>
            </a:extLst>
          </p:cNvPr>
          <p:cNvSpPr/>
          <p:nvPr/>
        </p:nvSpPr>
        <p:spPr>
          <a:xfrm>
            <a:off x="3259049" y="2276872"/>
            <a:ext cx="2736304" cy="2808311"/>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C9B54A4-8AAB-26A7-CE91-B044781B2416}"/>
              </a:ext>
            </a:extLst>
          </p:cNvPr>
          <p:cNvSpPr/>
          <p:nvPr/>
        </p:nvSpPr>
        <p:spPr>
          <a:xfrm>
            <a:off x="6144711" y="2276872"/>
            <a:ext cx="2736304" cy="2808311"/>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7949A42-D1C2-344F-8A15-F0C11EAB14CF}"/>
              </a:ext>
            </a:extLst>
          </p:cNvPr>
          <p:cNvSpPr txBox="1"/>
          <p:nvPr/>
        </p:nvSpPr>
        <p:spPr>
          <a:xfrm>
            <a:off x="482734" y="2564904"/>
            <a:ext cx="2517610" cy="1692771"/>
          </a:xfrm>
          <a:prstGeom prst="rect">
            <a:avLst/>
          </a:prstGeom>
          <a:noFill/>
        </p:spPr>
        <p:txBody>
          <a:bodyPr wrap="square" rtlCol="0">
            <a:spAutoFit/>
          </a:bodyPr>
          <a:lstStyle/>
          <a:p>
            <a:pPr algn="ctr"/>
            <a:r>
              <a:rPr lang="en-US" b="1" dirty="0"/>
              <a:t>Regression</a:t>
            </a:r>
          </a:p>
          <a:p>
            <a:endParaRPr lang="en-US" dirty="0"/>
          </a:p>
          <a:p>
            <a:pPr algn="ctr"/>
            <a:r>
              <a:rPr lang="en-US" sz="1400" dirty="0"/>
              <a:t>MSE for smooth solutions, L1 norms for sparsity, weight different elements differently.</a:t>
            </a:r>
          </a:p>
          <a:p>
            <a:pPr algn="ctr"/>
            <a:endParaRPr lang="en-US" sz="1400" b="1" dirty="0"/>
          </a:p>
          <a:p>
            <a:pPr algn="ctr"/>
            <a:endParaRPr lang="en-US" sz="1200" b="1" dirty="0"/>
          </a:p>
        </p:txBody>
      </p:sp>
      <p:sp>
        <p:nvSpPr>
          <p:cNvPr id="17" name="TextBox 16">
            <a:extLst>
              <a:ext uri="{FF2B5EF4-FFF2-40B4-BE49-F238E27FC236}">
                <a16:creationId xmlns:a16="http://schemas.microsoft.com/office/drawing/2014/main" id="{53E34AAD-42A3-6E5B-4F3A-1DEAEC451A21}"/>
              </a:ext>
            </a:extLst>
          </p:cNvPr>
          <p:cNvSpPr txBox="1"/>
          <p:nvPr/>
        </p:nvSpPr>
        <p:spPr>
          <a:xfrm>
            <a:off x="518155" y="4176923"/>
            <a:ext cx="2450942" cy="461665"/>
          </a:xfrm>
          <a:prstGeom prst="rect">
            <a:avLst/>
          </a:prstGeom>
          <a:noFill/>
        </p:spPr>
        <p:txBody>
          <a:bodyPr wrap="square">
            <a:spAutoFit/>
          </a:bodyPr>
          <a:lstStyle/>
          <a:p>
            <a:pPr algn="ctr"/>
            <a:r>
              <a:rPr lang="en-US" sz="1200" dirty="0">
                <a:solidFill>
                  <a:srgbClr val="7030A0"/>
                </a:solidFill>
                <a:sym typeface="Wingdings" pitchFamily="2" charset="2"/>
              </a:rPr>
              <a:t>Compare against baseline and against other</a:t>
            </a:r>
            <a:endParaRPr lang="en-US" sz="1200" dirty="0">
              <a:solidFill>
                <a:srgbClr val="7030A0"/>
              </a:solidFill>
            </a:endParaRPr>
          </a:p>
        </p:txBody>
      </p:sp>
      <p:sp>
        <p:nvSpPr>
          <p:cNvPr id="18" name="TextBox 17">
            <a:extLst>
              <a:ext uri="{FF2B5EF4-FFF2-40B4-BE49-F238E27FC236}">
                <a16:creationId xmlns:a16="http://schemas.microsoft.com/office/drawing/2014/main" id="{04B027DD-4EF4-2EFE-25B4-D92AC7BBC483}"/>
              </a:ext>
            </a:extLst>
          </p:cNvPr>
          <p:cNvSpPr txBox="1"/>
          <p:nvPr/>
        </p:nvSpPr>
        <p:spPr>
          <a:xfrm>
            <a:off x="3331056" y="2673620"/>
            <a:ext cx="2592290" cy="1508105"/>
          </a:xfrm>
          <a:prstGeom prst="rect">
            <a:avLst/>
          </a:prstGeom>
          <a:noFill/>
        </p:spPr>
        <p:txBody>
          <a:bodyPr wrap="square" rtlCol="0">
            <a:spAutoFit/>
          </a:bodyPr>
          <a:lstStyle/>
          <a:p>
            <a:pPr algn="ctr"/>
            <a:r>
              <a:rPr lang="en-US" b="1" dirty="0"/>
              <a:t>Uncertainty</a:t>
            </a:r>
          </a:p>
          <a:p>
            <a:endParaRPr lang="en-US" dirty="0"/>
          </a:p>
          <a:p>
            <a:pPr algn="ctr"/>
            <a:r>
              <a:rPr lang="en-US" sz="1400" dirty="0">
                <a:solidFill>
                  <a:schemeClr val="tx2">
                    <a:lumMod val="75000"/>
                  </a:schemeClr>
                </a:solidFill>
              </a:rPr>
              <a:t>Calibration and coverage, i.e. does 90% interval actually contain the truth 90% of the time?</a:t>
            </a:r>
            <a:endParaRPr lang="en-US" sz="1200" dirty="0"/>
          </a:p>
        </p:txBody>
      </p:sp>
      <p:sp>
        <p:nvSpPr>
          <p:cNvPr id="20" name="TextBox 19">
            <a:extLst>
              <a:ext uri="{FF2B5EF4-FFF2-40B4-BE49-F238E27FC236}">
                <a16:creationId xmlns:a16="http://schemas.microsoft.com/office/drawing/2014/main" id="{79947ACF-744B-DD10-650D-2F0EC50071FA}"/>
              </a:ext>
            </a:extLst>
          </p:cNvPr>
          <p:cNvSpPr txBox="1"/>
          <p:nvPr/>
        </p:nvSpPr>
        <p:spPr>
          <a:xfrm>
            <a:off x="6178364" y="2657236"/>
            <a:ext cx="2592290" cy="1508105"/>
          </a:xfrm>
          <a:prstGeom prst="rect">
            <a:avLst/>
          </a:prstGeom>
          <a:noFill/>
        </p:spPr>
        <p:txBody>
          <a:bodyPr wrap="square" rtlCol="0">
            <a:spAutoFit/>
          </a:bodyPr>
          <a:lstStyle/>
          <a:p>
            <a:pPr algn="ctr"/>
            <a:r>
              <a:rPr lang="en-US" b="1" dirty="0"/>
              <a:t>Control</a:t>
            </a:r>
          </a:p>
          <a:p>
            <a:endParaRPr lang="en-US" dirty="0"/>
          </a:p>
          <a:p>
            <a:pPr algn="ctr"/>
            <a:r>
              <a:rPr lang="en-US" sz="1400" dirty="0">
                <a:sym typeface="Wingdings" pitchFamily="2" charset="2"/>
              </a:rPr>
              <a:t>We </a:t>
            </a:r>
            <a:r>
              <a:rPr lang="en-US" sz="1400" dirty="0" err="1">
                <a:sym typeface="Wingdings" pitchFamily="2" charset="2"/>
              </a:rPr>
              <a:t>optimise</a:t>
            </a:r>
            <a:r>
              <a:rPr lang="en-US" sz="1400" dirty="0">
                <a:sym typeface="Wingdings" pitchFamily="2" charset="2"/>
              </a:rPr>
              <a:t> cumulative rewards, but the present might be more important than the past, there is some tuning.</a:t>
            </a:r>
            <a:endParaRPr lang="en-US" sz="1200" dirty="0"/>
          </a:p>
        </p:txBody>
      </p:sp>
    </p:spTree>
    <p:extLst>
      <p:ext uri="{BB962C8B-B14F-4D97-AF65-F5344CB8AC3E}">
        <p14:creationId xmlns:p14="http://schemas.microsoft.com/office/powerpoint/2010/main" val="2523246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6A061-CA6C-3434-46CC-1FA375001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83E1E-7022-CA18-4F65-6359728BB207}"/>
              </a:ext>
            </a:extLst>
          </p:cNvPr>
          <p:cNvSpPr>
            <a:spLocks noGrp="1"/>
          </p:cNvSpPr>
          <p:nvPr>
            <p:ph type="title"/>
          </p:nvPr>
        </p:nvSpPr>
        <p:spPr>
          <a:xfrm>
            <a:off x="2493005" y="236425"/>
            <a:ext cx="6340100" cy="1143000"/>
          </a:xfrm>
        </p:spPr>
        <p:txBody>
          <a:bodyPr/>
          <a:lstStyle/>
          <a:p>
            <a:r>
              <a:rPr lang="en-US" dirty="0"/>
              <a:t>Debugging and sanity check</a:t>
            </a:r>
          </a:p>
        </p:txBody>
      </p:sp>
      <p:sp>
        <p:nvSpPr>
          <p:cNvPr id="3" name="Rectangle 2">
            <a:extLst>
              <a:ext uri="{FF2B5EF4-FFF2-40B4-BE49-F238E27FC236}">
                <a16:creationId xmlns:a16="http://schemas.microsoft.com/office/drawing/2014/main" id="{B851C4E0-3702-BA2D-158E-71947694D21D}"/>
              </a:ext>
            </a:extLst>
          </p:cNvPr>
          <p:cNvSpPr/>
          <p:nvPr/>
        </p:nvSpPr>
        <p:spPr>
          <a:xfrm>
            <a:off x="539552" y="1999138"/>
            <a:ext cx="8136904" cy="9978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 name="Rectangle 4">
            <a:extLst>
              <a:ext uri="{FF2B5EF4-FFF2-40B4-BE49-F238E27FC236}">
                <a16:creationId xmlns:a16="http://schemas.microsoft.com/office/drawing/2014/main" id="{9EB1B018-3400-03B2-825B-CE78EAFE2DBF}"/>
              </a:ext>
            </a:extLst>
          </p:cNvPr>
          <p:cNvSpPr/>
          <p:nvPr/>
        </p:nvSpPr>
        <p:spPr>
          <a:xfrm>
            <a:off x="539552" y="3501008"/>
            <a:ext cx="8136904" cy="974761"/>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FC55612-3127-6560-96E0-22ADE3B23211}"/>
              </a:ext>
            </a:extLst>
          </p:cNvPr>
          <p:cNvSpPr txBox="1"/>
          <p:nvPr/>
        </p:nvSpPr>
        <p:spPr>
          <a:xfrm>
            <a:off x="545954" y="2287567"/>
            <a:ext cx="2517610" cy="646331"/>
          </a:xfrm>
          <a:prstGeom prst="rect">
            <a:avLst/>
          </a:prstGeom>
          <a:noFill/>
        </p:spPr>
        <p:txBody>
          <a:bodyPr wrap="square" rtlCol="0">
            <a:spAutoFit/>
          </a:bodyPr>
          <a:lstStyle/>
          <a:p>
            <a:pPr algn="ctr"/>
            <a:r>
              <a:rPr lang="en-US" b="1" dirty="0"/>
              <a:t>Use a tiny subset</a:t>
            </a:r>
          </a:p>
          <a:p>
            <a:endParaRPr lang="en-US" dirty="0"/>
          </a:p>
        </p:txBody>
      </p:sp>
      <p:sp>
        <p:nvSpPr>
          <p:cNvPr id="7" name="TextBox 6">
            <a:extLst>
              <a:ext uri="{FF2B5EF4-FFF2-40B4-BE49-F238E27FC236}">
                <a16:creationId xmlns:a16="http://schemas.microsoft.com/office/drawing/2014/main" id="{3D057F25-9D3D-8123-0869-202EDBDBECEB}"/>
              </a:ext>
            </a:extLst>
          </p:cNvPr>
          <p:cNvSpPr txBox="1"/>
          <p:nvPr/>
        </p:nvSpPr>
        <p:spPr>
          <a:xfrm>
            <a:off x="3302319" y="2287567"/>
            <a:ext cx="5187246" cy="461665"/>
          </a:xfrm>
          <a:prstGeom prst="rect">
            <a:avLst/>
          </a:prstGeom>
          <a:noFill/>
        </p:spPr>
        <p:txBody>
          <a:bodyPr wrap="square">
            <a:spAutoFit/>
          </a:bodyPr>
          <a:lstStyle/>
          <a:p>
            <a:pPr algn="ctr"/>
            <a:r>
              <a:rPr lang="en-US" sz="1200" dirty="0"/>
              <a:t>Let the model overfit when you already know the answer. This should point out structural issues with the methodology</a:t>
            </a:r>
          </a:p>
        </p:txBody>
      </p:sp>
      <p:sp>
        <p:nvSpPr>
          <p:cNvPr id="8" name="Rectangle 7">
            <a:extLst>
              <a:ext uri="{FF2B5EF4-FFF2-40B4-BE49-F238E27FC236}">
                <a16:creationId xmlns:a16="http://schemas.microsoft.com/office/drawing/2014/main" id="{FC473FDB-E7B5-8672-2628-6974F44F0D96}"/>
              </a:ext>
            </a:extLst>
          </p:cNvPr>
          <p:cNvSpPr/>
          <p:nvPr/>
        </p:nvSpPr>
        <p:spPr>
          <a:xfrm>
            <a:off x="534794" y="5039827"/>
            <a:ext cx="8136904" cy="9978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TextBox 8">
            <a:extLst>
              <a:ext uri="{FF2B5EF4-FFF2-40B4-BE49-F238E27FC236}">
                <a16:creationId xmlns:a16="http://schemas.microsoft.com/office/drawing/2014/main" id="{8AD1EE3A-F997-526B-FA2D-AB52884CBB66}"/>
              </a:ext>
            </a:extLst>
          </p:cNvPr>
          <p:cNvSpPr txBox="1"/>
          <p:nvPr/>
        </p:nvSpPr>
        <p:spPr>
          <a:xfrm>
            <a:off x="148575" y="3773916"/>
            <a:ext cx="3312368" cy="646331"/>
          </a:xfrm>
          <a:prstGeom prst="rect">
            <a:avLst/>
          </a:prstGeom>
          <a:noFill/>
        </p:spPr>
        <p:txBody>
          <a:bodyPr wrap="square" rtlCol="0">
            <a:spAutoFit/>
          </a:bodyPr>
          <a:lstStyle/>
          <a:p>
            <a:pPr algn="ctr"/>
            <a:r>
              <a:rPr lang="en-US" b="1" dirty="0"/>
              <a:t>Watch the loss</a:t>
            </a:r>
          </a:p>
          <a:p>
            <a:endParaRPr lang="en-US" dirty="0"/>
          </a:p>
        </p:txBody>
      </p:sp>
      <p:sp>
        <p:nvSpPr>
          <p:cNvPr id="10" name="TextBox 9">
            <a:extLst>
              <a:ext uri="{FF2B5EF4-FFF2-40B4-BE49-F238E27FC236}">
                <a16:creationId xmlns:a16="http://schemas.microsoft.com/office/drawing/2014/main" id="{9A0EA6E2-B119-D446-DDD7-CC54A8F9103A}"/>
              </a:ext>
            </a:extLst>
          </p:cNvPr>
          <p:cNvSpPr txBox="1"/>
          <p:nvPr/>
        </p:nvSpPr>
        <p:spPr>
          <a:xfrm>
            <a:off x="3203848" y="3677748"/>
            <a:ext cx="5187246" cy="461665"/>
          </a:xfrm>
          <a:prstGeom prst="rect">
            <a:avLst/>
          </a:prstGeom>
          <a:noFill/>
        </p:spPr>
        <p:txBody>
          <a:bodyPr wrap="square">
            <a:spAutoFit/>
          </a:bodyPr>
          <a:lstStyle/>
          <a:p>
            <a:pPr algn="ctr"/>
            <a:r>
              <a:rPr lang="en-US" sz="1200" dirty="0">
                <a:sym typeface="Wingdings" pitchFamily="2" charset="2"/>
              </a:rPr>
              <a:t>Check if your loss is decreasing, stagnating or spiking, it usually tries to tell us something.</a:t>
            </a:r>
            <a:endParaRPr lang="en-US" sz="1200" dirty="0"/>
          </a:p>
        </p:txBody>
      </p:sp>
      <p:sp>
        <p:nvSpPr>
          <p:cNvPr id="11" name="TextBox 10">
            <a:extLst>
              <a:ext uri="{FF2B5EF4-FFF2-40B4-BE49-F238E27FC236}">
                <a16:creationId xmlns:a16="http://schemas.microsoft.com/office/drawing/2014/main" id="{B57836FB-79FB-EAAE-B66D-558E26CD6F92}"/>
              </a:ext>
            </a:extLst>
          </p:cNvPr>
          <p:cNvSpPr txBox="1"/>
          <p:nvPr/>
        </p:nvSpPr>
        <p:spPr>
          <a:xfrm>
            <a:off x="349338" y="5306071"/>
            <a:ext cx="3312368" cy="646331"/>
          </a:xfrm>
          <a:prstGeom prst="rect">
            <a:avLst/>
          </a:prstGeom>
          <a:noFill/>
        </p:spPr>
        <p:txBody>
          <a:bodyPr wrap="square" rtlCol="0">
            <a:spAutoFit/>
          </a:bodyPr>
          <a:lstStyle/>
          <a:p>
            <a:pPr algn="ctr"/>
            <a:r>
              <a:rPr lang="en-US" b="1" dirty="0"/>
              <a:t>Check shapes and stats</a:t>
            </a:r>
          </a:p>
          <a:p>
            <a:endParaRPr lang="en-US" dirty="0"/>
          </a:p>
        </p:txBody>
      </p:sp>
      <p:sp>
        <p:nvSpPr>
          <p:cNvPr id="15" name="TextBox 14">
            <a:extLst>
              <a:ext uri="{FF2B5EF4-FFF2-40B4-BE49-F238E27FC236}">
                <a16:creationId xmlns:a16="http://schemas.microsoft.com/office/drawing/2014/main" id="{B43C5289-A70C-CDCE-43A8-8520B5A239F0}"/>
              </a:ext>
            </a:extLst>
          </p:cNvPr>
          <p:cNvSpPr txBox="1"/>
          <p:nvPr/>
        </p:nvSpPr>
        <p:spPr>
          <a:xfrm>
            <a:off x="3551160" y="5220832"/>
            <a:ext cx="4839934" cy="461665"/>
          </a:xfrm>
          <a:prstGeom prst="rect">
            <a:avLst/>
          </a:prstGeom>
          <a:noFill/>
        </p:spPr>
        <p:txBody>
          <a:bodyPr wrap="square">
            <a:spAutoFit/>
          </a:bodyPr>
          <a:lstStyle/>
          <a:p>
            <a:pPr algn="ctr"/>
            <a:r>
              <a:rPr lang="en-US" sz="1200" dirty="0">
                <a:sym typeface="Wingdings" pitchFamily="2" charset="2"/>
              </a:rPr>
              <a:t>Make sure the data has the shape and size you want. Check the statistics are what you expect.</a:t>
            </a:r>
            <a:endParaRPr lang="en-US" sz="1200" dirty="0"/>
          </a:p>
        </p:txBody>
      </p:sp>
    </p:spTree>
    <p:extLst>
      <p:ext uri="{BB962C8B-B14F-4D97-AF65-F5344CB8AC3E}">
        <p14:creationId xmlns:p14="http://schemas.microsoft.com/office/powerpoint/2010/main" val="2603694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07329-03F4-D3EB-F3E0-FFF19F054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D1A4-1B1A-8EAC-CB37-661784512377}"/>
              </a:ext>
            </a:extLst>
          </p:cNvPr>
          <p:cNvSpPr>
            <a:spLocks noGrp="1"/>
          </p:cNvSpPr>
          <p:nvPr>
            <p:ph type="title"/>
          </p:nvPr>
        </p:nvSpPr>
        <p:spPr>
          <a:xfrm>
            <a:off x="2493005" y="236425"/>
            <a:ext cx="6340100" cy="1143000"/>
          </a:xfrm>
        </p:spPr>
        <p:txBody>
          <a:bodyPr/>
          <a:lstStyle/>
          <a:p>
            <a:r>
              <a:rPr lang="en-US" dirty="0"/>
              <a:t>Iterate several times</a:t>
            </a:r>
          </a:p>
        </p:txBody>
      </p:sp>
      <p:sp>
        <p:nvSpPr>
          <p:cNvPr id="4" name="TextBox 3">
            <a:extLst>
              <a:ext uri="{FF2B5EF4-FFF2-40B4-BE49-F238E27FC236}">
                <a16:creationId xmlns:a16="http://schemas.microsoft.com/office/drawing/2014/main" id="{813ED3FD-BAFF-D0EF-279F-6B96C3C67799}"/>
              </a:ext>
            </a:extLst>
          </p:cNvPr>
          <p:cNvSpPr txBox="1"/>
          <p:nvPr/>
        </p:nvSpPr>
        <p:spPr>
          <a:xfrm>
            <a:off x="373387" y="1553049"/>
            <a:ext cx="8459718" cy="584775"/>
          </a:xfrm>
          <a:prstGeom prst="rect">
            <a:avLst/>
          </a:prstGeom>
          <a:noFill/>
        </p:spPr>
        <p:txBody>
          <a:bodyPr wrap="square" rtlCol="0">
            <a:spAutoFit/>
          </a:bodyPr>
          <a:lstStyle/>
          <a:p>
            <a:r>
              <a:rPr lang="en-US" sz="1600" dirty="0"/>
              <a:t>Don’t run just once! (if you can afford it). These are statistical methods, the best model might be one single run away, but also important to know what the average model does.</a:t>
            </a:r>
            <a:endParaRPr lang="en-US" sz="1600" b="1" dirty="0">
              <a:solidFill>
                <a:srgbClr val="7030A0"/>
              </a:solidFill>
            </a:endParaRPr>
          </a:p>
        </p:txBody>
      </p:sp>
      <p:sp>
        <p:nvSpPr>
          <p:cNvPr id="12" name="Rectangle 11">
            <a:extLst>
              <a:ext uri="{FF2B5EF4-FFF2-40B4-BE49-F238E27FC236}">
                <a16:creationId xmlns:a16="http://schemas.microsoft.com/office/drawing/2014/main" id="{66EE681F-4A23-D56E-DB1C-57254AFE9545}"/>
              </a:ext>
            </a:extLst>
          </p:cNvPr>
          <p:cNvSpPr/>
          <p:nvPr/>
        </p:nvSpPr>
        <p:spPr>
          <a:xfrm>
            <a:off x="373387" y="2564904"/>
            <a:ext cx="2736304" cy="280831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Rectangle 12">
            <a:extLst>
              <a:ext uri="{FF2B5EF4-FFF2-40B4-BE49-F238E27FC236}">
                <a16:creationId xmlns:a16="http://schemas.microsoft.com/office/drawing/2014/main" id="{A6B5A6C3-21B5-F9E4-C287-F5B46D4A1794}"/>
              </a:ext>
            </a:extLst>
          </p:cNvPr>
          <p:cNvSpPr/>
          <p:nvPr/>
        </p:nvSpPr>
        <p:spPr>
          <a:xfrm>
            <a:off x="3259049" y="2564904"/>
            <a:ext cx="2736304" cy="2808311"/>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C6CCF17-8044-C746-3F05-569B87A28D71}"/>
              </a:ext>
            </a:extLst>
          </p:cNvPr>
          <p:cNvSpPr/>
          <p:nvPr/>
        </p:nvSpPr>
        <p:spPr>
          <a:xfrm>
            <a:off x="6144711" y="2564904"/>
            <a:ext cx="2736304" cy="2808311"/>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500928F-610C-CB43-7086-47BC1AD4075A}"/>
              </a:ext>
            </a:extLst>
          </p:cNvPr>
          <p:cNvSpPr txBox="1"/>
          <p:nvPr/>
        </p:nvSpPr>
        <p:spPr>
          <a:xfrm>
            <a:off x="482734" y="3322728"/>
            <a:ext cx="2517610" cy="1292662"/>
          </a:xfrm>
          <a:prstGeom prst="rect">
            <a:avLst/>
          </a:prstGeom>
          <a:noFill/>
        </p:spPr>
        <p:txBody>
          <a:bodyPr wrap="square" rtlCol="0">
            <a:spAutoFit/>
          </a:bodyPr>
          <a:lstStyle/>
          <a:p>
            <a:pPr algn="ctr"/>
            <a:r>
              <a:rPr lang="en-US" b="1" dirty="0"/>
              <a:t>Test set</a:t>
            </a:r>
          </a:p>
          <a:p>
            <a:endParaRPr lang="en-US" dirty="0"/>
          </a:p>
          <a:p>
            <a:pPr algn="ctr"/>
            <a:r>
              <a:rPr lang="en-US" sz="1400" dirty="0"/>
              <a:t>Don’t use it while setting your hyperparameters, otherwise it is just validation data</a:t>
            </a:r>
            <a:endParaRPr lang="en-US" sz="1200" b="1" dirty="0"/>
          </a:p>
        </p:txBody>
      </p:sp>
      <p:sp>
        <p:nvSpPr>
          <p:cNvPr id="18" name="TextBox 17">
            <a:extLst>
              <a:ext uri="{FF2B5EF4-FFF2-40B4-BE49-F238E27FC236}">
                <a16:creationId xmlns:a16="http://schemas.microsoft.com/office/drawing/2014/main" id="{896612C9-A7A5-BFFE-E466-25B49D3C5270}"/>
              </a:ext>
            </a:extLst>
          </p:cNvPr>
          <p:cNvSpPr txBox="1"/>
          <p:nvPr/>
        </p:nvSpPr>
        <p:spPr>
          <a:xfrm>
            <a:off x="3331056" y="2968785"/>
            <a:ext cx="2592290" cy="2000548"/>
          </a:xfrm>
          <a:prstGeom prst="rect">
            <a:avLst/>
          </a:prstGeom>
          <a:noFill/>
        </p:spPr>
        <p:txBody>
          <a:bodyPr wrap="square" rtlCol="0">
            <a:spAutoFit/>
          </a:bodyPr>
          <a:lstStyle/>
          <a:p>
            <a:pPr algn="ctr"/>
            <a:r>
              <a:rPr lang="en-US" b="1" dirty="0"/>
              <a:t>Be fair in comparing models</a:t>
            </a:r>
          </a:p>
          <a:p>
            <a:endParaRPr lang="en-US" dirty="0"/>
          </a:p>
          <a:p>
            <a:pPr algn="ctr"/>
            <a:r>
              <a:rPr lang="en-US" sz="1400" dirty="0">
                <a:solidFill>
                  <a:schemeClr val="tx2">
                    <a:lumMod val="75000"/>
                  </a:schemeClr>
                </a:solidFill>
              </a:rPr>
              <a:t>A model that has trained for longer might perform better, report training/testing/datasets when reporting models to avoid being biased</a:t>
            </a:r>
            <a:endParaRPr lang="en-US" sz="1200" dirty="0"/>
          </a:p>
        </p:txBody>
      </p:sp>
      <p:sp>
        <p:nvSpPr>
          <p:cNvPr id="20" name="TextBox 19">
            <a:extLst>
              <a:ext uri="{FF2B5EF4-FFF2-40B4-BE49-F238E27FC236}">
                <a16:creationId xmlns:a16="http://schemas.microsoft.com/office/drawing/2014/main" id="{ADAAE13B-9606-2FAB-DBB7-5C564C80C8D4}"/>
              </a:ext>
            </a:extLst>
          </p:cNvPr>
          <p:cNvSpPr txBox="1"/>
          <p:nvPr/>
        </p:nvSpPr>
        <p:spPr>
          <a:xfrm>
            <a:off x="6216718" y="2968785"/>
            <a:ext cx="2592290" cy="1938992"/>
          </a:xfrm>
          <a:prstGeom prst="rect">
            <a:avLst/>
          </a:prstGeom>
          <a:noFill/>
        </p:spPr>
        <p:txBody>
          <a:bodyPr wrap="square" rtlCol="0">
            <a:spAutoFit/>
          </a:bodyPr>
          <a:lstStyle/>
          <a:p>
            <a:pPr algn="ctr"/>
            <a:r>
              <a:rPr lang="en-US" b="1" dirty="0"/>
              <a:t>Model cherry-picking</a:t>
            </a:r>
          </a:p>
          <a:p>
            <a:endParaRPr lang="en-US" dirty="0"/>
          </a:p>
          <a:p>
            <a:pPr algn="ctr"/>
            <a:r>
              <a:rPr lang="en-US" sz="1400" dirty="0">
                <a:sym typeface="Wingdings" pitchFamily="2" charset="2"/>
              </a:rPr>
              <a:t>It is ok to use the best model across runs for production but keep a log of the spread and report it. This is valuable for the wider community and important in reliable AI.</a:t>
            </a:r>
            <a:endParaRPr lang="en-US" sz="1200" dirty="0"/>
          </a:p>
        </p:txBody>
      </p:sp>
      <p:sp>
        <p:nvSpPr>
          <p:cNvPr id="3" name="TextBox 2">
            <a:extLst>
              <a:ext uri="{FF2B5EF4-FFF2-40B4-BE49-F238E27FC236}">
                <a16:creationId xmlns:a16="http://schemas.microsoft.com/office/drawing/2014/main" id="{D553BE91-B8A5-AE3A-1ED2-24F8981E67DB}"/>
              </a:ext>
            </a:extLst>
          </p:cNvPr>
          <p:cNvSpPr txBox="1"/>
          <p:nvPr/>
        </p:nvSpPr>
        <p:spPr>
          <a:xfrm>
            <a:off x="479650" y="5785663"/>
            <a:ext cx="8459718" cy="338554"/>
          </a:xfrm>
          <a:prstGeom prst="rect">
            <a:avLst/>
          </a:prstGeom>
          <a:noFill/>
        </p:spPr>
        <p:txBody>
          <a:bodyPr wrap="square" rtlCol="0">
            <a:spAutoFit/>
          </a:bodyPr>
          <a:lstStyle/>
          <a:p>
            <a:r>
              <a:rPr lang="en-US" sz="1600" b="1" dirty="0">
                <a:solidFill>
                  <a:srgbClr val="7030A0"/>
                </a:solidFill>
              </a:rPr>
              <a:t>Know when to stop! </a:t>
            </a:r>
            <a:r>
              <a:rPr lang="en-US" sz="1600" dirty="0"/>
              <a:t>At some points there might be diminishing returns to your model</a:t>
            </a:r>
            <a:endParaRPr lang="en-US" sz="1600" b="1" dirty="0">
              <a:solidFill>
                <a:srgbClr val="7030A0"/>
              </a:solidFill>
            </a:endParaRPr>
          </a:p>
        </p:txBody>
      </p:sp>
    </p:spTree>
    <p:extLst>
      <p:ext uri="{BB962C8B-B14F-4D97-AF65-F5344CB8AC3E}">
        <p14:creationId xmlns:p14="http://schemas.microsoft.com/office/powerpoint/2010/main" val="3110528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659B-E568-20BA-8FF3-C4AD0CCBE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EF5C5-828E-3F29-871A-DE07E3CABFCF}"/>
              </a:ext>
            </a:extLst>
          </p:cNvPr>
          <p:cNvSpPr>
            <a:spLocks noGrp="1"/>
          </p:cNvSpPr>
          <p:nvPr>
            <p:ph type="title"/>
          </p:nvPr>
        </p:nvSpPr>
        <p:spPr>
          <a:xfrm>
            <a:off x="2493005" y="236425"/>
            <a:ext cx="6340100" cy="1143000"/>
          </a:xfrm>
        </p:spPr>
        <p:txBody>
          <a:bodyPr/>
          <a:lstStyle/>
          <a:p>
            <a:r>
              <a:rPr lang="en-US" dirty="0"/>
              <a:t>Version control and reproducibility</a:t>
            </a:r>
          </a:p>
        </p:txBody>
      </p:sp>
      <p:sp>
        <p:nvSpPr>
          <p:cNvPr id="4" name="TextBox 3">
            <a:extLst>
              <a:ext uri="{FF2B5EF4-FFF2-40B4-BE49-F238E27FC236}">
                <a16:creationId xmlns:a16="http://schemas.microsoft.com/office/drawing/2014/main" id="{035E7662-1D9E-6D44-E70C-88A55BAB35E6}"/>
              </a:ext>
            </a:extLst>
          </p:cNvPr>
          <p:cNvSpPr txBox="1"/>
          <p:nvPr/>
        </p:nvSpPr>
        <p:spPr>
          <a:xfrm>
            <a:off x="373387" y="1553049"/>
            <a:ext cx="8459718" cy="584775"/>
          </a:xfrm>
          <a:prstGeom prst="rect">
            <a:avLst/>
          </a:prstGeom>
          <a:noFill/>
        </p:spPr>
        <p:txBody>
          <a:bodyPr wrap="square" rtlCol="0">
            <a:spAutoFit/>
          </a:bodyPr>
          <a:lstStyle/>
          <a:p>
            <a:r>
              <a:rPr lang="en-US" sz="1600" dirty="0"/>
              <a:t>We are making progress in the code but it is important to keep track of what we are doing. Important if we share code, add new features, or work across platforms</a:t>
            </a:r>
            <a:endParaRPr lang="en-US" sz="1600" b="1" dirty="0">
              <a:solidFill>
                <a:srgbClr val="7030A0"/>
              </a:solidFill>
            </a:endParaRPr>
          </a:p>
        </p:txBody>
      </p:sp>
      <p:sp>
        <p:nvSpPr>
          <p:cNvPr id="5" name="Shape 4">
            <a:extLst>
              <a:ext uri="{FF2B5EF4-FFF2-40B4-BE49-F238E27FC236}">
                <a16:creationId xmlns:a16="http://schemas.microsoft.com/office/drawing/2014/main" id="{8D84D66C-E27D-E46B-0B8A-2FFB3843847A}"/>
              </a:ext>
            </a:extLst>
          </p:cNvPr>
          <p:cNvSpPr/>
          <p:nvPr/>
        </p:nvSpPr>
        <p:spPr>
          <a:xfrm>
            <a:off x="359826" y="2348880"/>
            <a:ext cx="8459718" cy="3096344"/>
          </a:xfrm>
          <a:prstGeom prst="roundRect">
            <a:avLst>
              <a:gd name="adj" fmla="val 1957"/>
            </a:avLst>
          </a:prstGeom>
          <a:solidFill>
            <a:srgbClr val="FFFFFF"/>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6" name="Content Placeholder 2">
            <a:extLst>
              <a:ext uri="{FF2B5EF4-FFF2-40B4-BE49-F238E27FC236}">
                <a16:creationId xmlns:a16="http://schemas.microsoft.com/office/drawing/2014/main" id="{B80E3DC7-2CB2-451D-26A1-4A79A8962081}"/>
              </a:ext>
            </a:extLst>
          </p:cNvPr>
          <p:cNvSpPr txBox="1">
            <a:spLocks/>
          </p:cNvSpPr>
          <p:nvPr/>
        </p:nvSpPr>
        <p:spPr bwMode="auto">
          <a:xfrm>
            <a:off x="706291" y="3424279"/>
            <a:ext cx="7731417" cy="19387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rgbClr val="7030A0"/>
                </a:solidFill>
              </a:rPr>
              <a:t>Why we want version control?</a:t>
            </a:r>
          </a:p>
          <a:p>
            <a:pPr marL="0" indent="0">
              <a:buNone/>
            </a:pPr>
            <a:endParaRPr lang="en-US" sz="1600" b="1" dirty="0">
              <a:solidFill>
                <a:srgbClr val="7030A0"/>
              </a:solidFill>
            </a:endParaRPr>
          </a:p>
          <a:p>
            <a:r>
              <a:rPr lang="en-US" sz="1600" dirty="0"/>
              <a:t>Keep your working space tidy! No project_final_final_realfinal_final_v3.py</a:t>
            </a:r>
          </a:p>
          <a:p>
            <a:r>
              <a:rPr lang="en-US" sz="1600" dirty="0"/>
              <a:t>You can work in parallel and easily combine code and documentation</a:t>
            </a:r>
          </a:p>
          <a:p>
            <a:r>
              <a:rPr lang="en-US" sz="1600" dirty="0"/>
              <a:t>A safety net: if something breaks, you can always go back to a previous version</a:t>
            </a:r>
          </a:p>
          <a:p>
            <a:pPr marL="0" indent="0">
              <a:buFont typeface="Arial" pitchFamily="34" charset="0"/>
              <a:buNone/>
            </a:pPr>
            <a:endParaRPr lang="en-US" sz="1600" dirty="0">
              <a:solidFill>
                <a:srgbClr val="7030A0"/>
              </a:solidFill>
            </a:endParaRPr>
          </a:p>
        </p:txBody>
      </p:sp>
      <p:sp>
        <p:nvSpPr>
          <p:cNvPr id="7" name="Shape 5">
            <a:extLst>
              <a:ext uri="{FF2B5EF4-FFF2-40B4-BE49-F238E27FC236}">
                <a16:creationId xmlns:a16="http://schemas.microsoft.com/office/drawing/2014/main" id="{D44CEC37-F7A2-AA19-245C-0746C3C2ECBF}"/>
              </a:ext>
            </a:extLst>
          </p:cNvPr>
          <p:cNvSpPr/>
          <p:nvPr/>
        </p:nvSpPr>
        <p:spPr>
          <a:xfrm>
            <a:off x="657007" y="2636912"/>
            <a:ext cx="594360" cy="594360"/>
          </a:xfrm>
          <a:prstGeom prst="ellipse">
            <a:avLst/>
          </a:prstGeom>
          <a:solidFill>
            <a:srgbClr val="7030A0"/>
          </a:solidFill>
          <a:ln/>
        </p:spPr>
        <p:txBody>
          <a:bodyPr/>
          <a:lstStyle/>
          <a:p>
            <a:endParaRPr lang="en-US"/>
          </a:p>
        </p:txBody>
      </p:sp>
      <p:pic>
        <p:nvPicPr>
          <p:cNvPr id="8" name="Image 0" descr="/home/claude/ml_intro_deck/icons/clipboard_white.png">
            <a:extLst>
              <a:ext uri="{FF2B5EF4-FFF2-40B4-BE49-F238E27FC236}">
                <a16:creationId xmlns:a16="http://schemas.microsoft.com/office/drawing/2014/main" id="{114BFF9E-ED8D-49DF-9B78-4D3644410319}"/>
              </a:ext>
            </a:extLst>
          </p:cNvPr>
          <p:cNvPicPr>
            <a:picLocks noChangeAspect="1"/>
          </p:cNvPicPr>
          <p:nvPr/>
        </p:nvPicPr>
        <p:blipFill>
          <a:blip r:embed="rId3"/>
          <a:stretch>
            <a:fillRect/>
          </a:stretch>
        </p:blipFill>
        <p:spPr>
          <a:xfrm>
            <a:off x="799653" y="2779558"/>
            <a:ext cx="309067" cy="309067"/>
          </a:xfrm>
          <a:prstGeom prst="rect">
            <a:avLst/>
          </a:prstGeom>
        </p:spPr>
      </p:pic>
      <p:sp>
        <p:nvSpPr>
          <p:cNvPr id="9" name="TextBox 8">
            <a:extLst>
              <a:ext uri="{FF2B5EF4-FFF2-40B4-BE49-F238E27FC236}">
                <a16:creationId xmlns:a16="http://schemas.microsoft.com/office/drawing/2014/main" id="{0A0F1584-2449-CD60-A571-FB0FF838DEDA}"/>
              </a:ext>
            </a:extLst>
          </p:cNvPr>
          <p:cNvSpPr txBox="1"/>
          <p:nvPr/>
        </p:nvSpPr>
        <p:spPr>
          <a:xfrm>
            <a:off x="373387" y="5756026"/>
            <a:ext cx="8459718" cy="584775"/>
          </a:xfrm>
          <a:prstGeom prst="rect">
            <a:avLst/>
          </a:prstGeom>
          <a:noFill/>
        </p:spPr>
        <p:txBody>
          <a:bodyPr wrap="square" rtlCol="0">
            <a:spAutoFit/>
          </a:bodyPr>
          <a:lstStyle/>
          <a:p>
            <a:r>
              <a:rPr lang="en-US" sz="1600" dirty="0"/>
              <a:t>We suggest using git and </a:t>
            </a:r>
            <a:r>
              <a:rPr lang="en-US" sz="1600" dirty="0" err="1"/>
              <a:t>github</a:t>
            </a:r>
            <a:r>
              <a:rPr lang="en-US" sz="1600" dirty="0"/>
              <a:t> for this. You can create a public (or private project) to collaborate with others.</a:t>
            </a:r>
            <a:endParaRPr lang="en-US" sz="1600" b="1" dirty="0">
              <a:solidFill>
                <a:srgbClr val="7030A0"/>
              </a:solidFill>
            </a:endParaRPr>
          </a:p>
        </p:txBody>
      </p:sp>
    </p:spTree>
    <p:extLst>
      <p:ext uri="{BB962C8B-B14F-4D97-AF65-F5344CB8AC3E}">
        <p14:creationId xmlns:p14="http://schemas.microsoft.com/office/powerpoint/2010/main" val="1065590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48DA6-499E-F425-DEDD-EA4F216DD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92B95-4FD4-0356-2047-7B80CEBFF4AE}"/>
              </a:ext>
            </a:extLst>
          </p:cNvPr>
          <p:cNvSpPr>
            <a:spLocks noGrp="1"/>
          </p:cNvSpPr>
          <p:nvPr>
            <p:ph type="title"/>
          </p:nvPr>
        </p:nvSpPr>
        <p:spPr>
          <a:xfrm>
            <a:off x="2493005" y="236425"/>
            <a:ext cx="6340100" cy="1143000"/>
          </a:xfrm>
        </p:spPr>
        <p:txBody>
          <a:bodyPr/>
          <a:lstStyle/>
          <a:p>
            <a:r>
              <a:rPr lang="en-US" dirty="0"/>
              <a:t>Version control and reproducibility</a:t>
            </a:r>
          </a:p>
        </p:txBody>
      </p:sp>
      <p:sp>
        <p:nvSpPr>
          <p:cNvPr id="5" name="Shape 4">
            <a:extLst>
              <a:ext uri="{FF2B5EF4-FFF2-40B4-BE49-F238E27FC236}">
                <a16:creationId xmlns:a16="http://schemas.microsoft.com/office/drawing/2014/main" id="{5C0AD7D6-3478-58FF-013C-E1908F78E5D0}"/>
              </a:ext>
            </a:extLst>
          </p:cNvPr>
          <p:cNvSpPr/>
          <p:nvPr/>
        </p:nvSpPr>
        <p:spPr>
          <a:xfrm>
            <a:off x="342141" y="1700807"/>
            <a:ext cx="8459718" cy="4920767"/>
          </a:xfrm>
          <a:prstGeom prst="roundRect">
            <a:avLst>
              <a:gd name="adj" fmla="val 1957"/>
            </a:avLst>
          </a:prstGeom>
          <a:solidFill>
            <a:srgbClr val="FFFFFF"/>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6" name="Content Placeholder 2">
            <a:extLst>
              <a:ext uri="{FF2B5EF4-FFF2-40B4-BE49-F238E27FC236}">
                <a16:creationId xmlns:a16="http://schemas.microsoft.com/office/drawing/2014/main" id="{67A66636-42E9-EDAE-3EB0-178E30F9C31D}"/>
              </a:ext>
            </a:extLst>
          </p:cNvPr>
          <p:cNvSpPr txBox="1">
            <a:spLocks/>
          </p:cNvSpPr>
          <p:nvPr/>
        </p:nvSpPr>
        <p:spPr bwMode="auto">
          <a:xfrm>
            <a:off x="688606" y="2776207"/>
            <a:ext cx="7731417" cy="36771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rgbClr val="7030A0"/>
                </a:solidFill>
              </a:rPr>
              <a:t>Some important words</a:t>
            </a:r>
          </a:p>
          <a:p>
            <a:pPr marL="0" indent="0">
              <a:buNone/>
            </a:pPr>
            <a:endParaRPr lang="en-US" sz="1600" b="1" dirty="0">
              <a:solidFill>
                <a:srgbClr val="7030A0"/>
              </a:solidFill>
            </a:endParaRPr>
          </a:p>
          <a:p>
            <a:r>
              <a:rPr lang="en-US" sz="1600" dirty="0"/>
              <a:t>A </a:t>
            </a:r>
            <a:r>
              <a:rPr lang="en-US" sz="1600" b="1" dirty="0"/>
              <a:t>repository</a:t>
            </a:r>
            <a:r>
              <a:rPr lang="en-US" sz="1600" dirty="0"/>
              <a:t>: the project whole history, stored on </a:t>
            </a:r>
            <a:r>
              <a:rPr lang="en-US" sz="1600" dirty="0" err="1"/>
              <a:t>github</a:t>
            </a:r>
            <a:r>
              <a:rPr lang="en-US" sz="1600" dirty="0"/>
              <a:t> and shared with the group members.</a:t>
            </a:r>
          </a:p>
          <a:p>
            <a:pPr marL="0" indent="0">
              <a:buNone/>
            </a:pPr>
            <a:endParaRPr lang="en-US" sz="1600" dirty="0"/>
          </a:p>
          <a:p>
            <a:r>
              <a:rPr lang="en-US" sz="1600" dirty="0"/>
              <a:t>A </a:t>
            </a:r>
            <a:r>
              <a:rPr lang="en-US" sz="1600" b="1" dirty="0"/>
              <a:t>commit</a:t>
            </a:r>
            <a:r>
              <a:rPr lang="en-US" sz="1600" dirty="0"/>
              <a:t>: a saved snapshots of your changes with a brief description of what they are.</a:t>
            </a:r>
          </a:p>
          <a:p>
            <a:endParaRPr lang="en-US" sz="1600" dirty="0"/>
          </a:p>
          <a:p>
            <a:r>
              <a:rPr lang="en-US" sz="1600" dirty="0"/>
              <a:t>A </a:t>
            </a:r>
            <a:r>
              <a:rPr lang="en-US" sz="1600" b="1" dirty="0"/>
              <a:t>branch</a:t>
            </a:r>
            <a:r>
              <a:rPr lang="en-US" sz="1600" dirty="0"/>
              <a:t>: an independent line of work, typically implementing a feature, that will be merged with the main once done.</a:t>
            </a:r>
          </a:p>
          <a:p>
            <a:endParaRPr lang="en-US" sz="1600" dirty="0"/>
          </a:p>
          <a:p>
            <a:r>
              <a:rPr lang="en-US" sz="1600" dirty="0"/>
              <a:t>Remote: the shared copy on </a:t>
            </a:r>
            <a:r>
              <a:rPr lang="en-US" sz="1600" dirty="0" err="1"/>
              <a:t>github</a:t>
            </a:r>
            <a:r>
              <a:rPr lang="en-US" sz="1600" dirty="0"/>
              <a:t> that everyone pulls and pushes to.</a:t>
            </a:r>
          </a:p>
          <a:p>
            <a:pPr marL="0" indent="0">
              <a:buFont typeface="Arial" pitchFamily="34" charset="0"/>
              <a:buNone/>
            </a:pPr>
            <a:endParaRPr lang="en-US" sz="1600" dirty="0">
              <a:solidFill>
                <a:srgbClr val="7030A0"/>
              </a:solidFill>
            </a:endParaRPr>
          </a:p>
        </p:txBody>
      </p:sp>
      <p:sp>
        <p:nvSpPr>
          <p:cNvPr id="7" name="Shape 5">
            <a:extLst>
              <a:ext uri="{FF2B5EF4-FFF2-40B4-BE49-F238E27FC236}">
                <a16:creationId xmlns:a16="http://schemas.microsoft.com/office/drawing/2014/main" id="{8B92D38C-3DA2-BC79-643D-DF96A22FCC9A}"/>
              </a:ext>
            </a:extLst>
          </p:cNvPr>
          <p:cNvSpPr/>
          <p:nvPr/>
        </p:nvSpPr>
        <p:spPr>
          <a:xfrm>
            <a:off x="639322" y="1988840"/>
            <a:ext cx="594360" cy="594360"/>
          </a:xfrm>
          <a:prstGeom prst="ellipse">
            <a:avLst/>
          </a:prstGeom>
          <a:solidFill>
            <a:srgbClr val="7030A0"/>
          </a:solidFill>
          <a:ln/>
        </p:spPr>
        <p:txBody>
          <a:bodyPr/>
          <a:lstStyle/>
          <a:p>
            <a:endParaRPr lang="en-US"/>
          </a:p>
        </p:txBody>
      </p:sp>
      <p:pic>
        <p:nvPicPr>
          <p:cNvPr id="8" name="Image 0" descr="/home/claude/ml_intro_deck/icons/clipboard_white.png">
            <a:extLst>
              <a:ext uri="{FF2B5EF4-FFF2-40B4-BE49-F238E27FC236}">
                <a16:creationId xmlns:a16="http://schemas.microsoft.com/office/drawing/2014/main" id="{185ECDDB-3B88-EA4D-9122-0D975935ACB0}"/>
              </a:ext>
            </a:extLst>
          </p:cNvPr>
          <p:cNvPicPr>
            <a:picLocks noChangeAspect="1"/>
          </p:cNvPicPr>
          <p:nvPr/>
        </p:nvPicPr>
        <p:blipFill>
          <a:blip r:embed="rId3"/>
          <a:stretch>
            <a:fillRect/>
          </a:stretch>
        </p:blipFill>
        <p:spPr>
          <a:xfrm>
            <a:off x="781968" y="2131486"/>
            <a:ext cx="309067" cy="309067"/>
          </a:xfrm>
          <a:prstGeom prst="rect">
            <a:avLst/>
          </a:prstGeom>
        </p:spPr>
      </p:pic>
    </p:spTree>
    <p:extLst>
      <p:ext uri="{BB962C8B-B14F-4D97-AF65-F5344CB8AC3E}">
        <p14:creationId xmlns:p14="http://schemas.microsoft.com/office/powerpoint/2010/main" val="2421332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106AF-C73D-6904-D281-0AD011DAF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C8111-AD3A-3EBE-0785-D7D76970D9FA}"/>
              </a:ext>
            </a:extLst>
          </p:cNvPr>
          <p:cNvSpPr>
            <a:spLocks noGrp="1"/>
          </p:cNvSpPr>
          <p:nvPr>
            <p:ph type="title"/>
          </p:nvPr>
        </p:nvSpPr>
        <p:spPr>
          <a:xfrm>
            <a:off x="2493005" y="236425"/>
            <a:ext cx="5842992" cy="1143000"/>
          </a:xfrm>
        </p:spPr>
        <p:txBody>
          <a:bodyPr/>
          <a:lstStyle/>
          <a:p>
            <a:r>
              <a:rPr lang="en-US" dirty="0"/>
              <a:t>What to do this afternoon?</a:t>
            </a:r>
          </a:p>
        </p:txBody>
      </p:sp>
      <p:sp>
        <p:nvSpPr>
          <p:cNvPr id="6" name="Shape 4">
            <a:extLst>
              <a:ext uri="{FF2B5EF4-FFF2-40B4-BE49-F238E27FC236}">
                <a16:creationId xmlns:a16="http://schemas.microsoft.com/office/drawing/2014/main" id="{BD9F98EB-C5B1-3D21-80A5-C69469B20331}"/>
              </a:ext>
            </a:extLst>
          </p:cNvPr>
          <p:cNvSpPr/>
          <p:nvPr/>
        </p:nvSpPr>
        <p:spPr>
          <a:xfrm>
            <a:off x="683568" y="1643902"/>
            <a:ext cx="6687656" cy="4353664"/>
          </a:xfrm>
          <a:prstGeom prst="roundRect">
            <a:avLst>
              <a:gd name="adj" fmla="val 1957"/>
            </a:avLst>
          </a:prstGeom>
          <a:solidFill>
            <a:schemeClr val="accent4">
              <a:lumMod val="40000"/>
              <a:lumOff val="60000"/>
            </a:schemeClr>
          </a:solidFill>
          <a:ln w="12700">
            <a:solidFill>
              <a:srgbClr val="E3E9F0"/>
            </a:solidFill>
            <a:prstDash val="solid"/>
          </a:ln>
          <a:effectLst>
            <a:outerShdw blurRad="63500" dist="25400" dir="5400000" algn="bl" rotWithShape="0">
              <a:srgbClr val="1B2A4A">
                <a:alpha val="10000"/>
              </a:srgbClr>
            </a:outerShdw>
          </a:effectLst>
        </p:spPr>
        <p:txBody>
          <a:bodyPr/>
          <a:lstStyle/>
          <a:p>
            <a:endParaRPr lang="en-US"/>
          </a:p>
        </p:txBody>
      </p:sp>
      <p:sp>
        <p:nvSpPr>
          <p:cNvPr id="7" name="Shape 5">
            <a:extLst>
              <a:ext uri="{FF2B5EF4-FFF2-40B4-BE49-F238E27FC236}">
                <a16:creationId xmlns:a16="http://schemas.microsoft.com/office/drawing/2014/main" id="{A9D82870-E366-50C0-E2BA-BFFB90276B0E}"/>
              </a:ext>
            </a:extLst>
          </p:cNvPr>
          <p:cNvSpPr/>
          <p:nvPr/>
        </p:nvSpPr>
        <p:spPr>
          <a:xfrm>
            <a:off x="845820" y="1916832"/>
            <a:ext cx="594360" cy="594360"/>
          </a:xfrm>
          <a:prstGeom prst="ellipse">
            <a:avLst/>
          </a:prstGeom>
          <a:solidFill>
            <a:srgbClr val="7030A0"/>
          </a:solidFill>
          <a:ln/>
        </p:spPr>
        <p:txBody>
          <a:bodyPr/>
          <a:lstStyle/>
          <a:p>
            <a:endParaRPr lang="en-US"/>
          </a:p>
        </p:txBody>
      </p:sp>
      <p:pic>
        <p:nvPicPr>
          <p:cNvPr id="8" name="Image 0" descr="/home/claude/ml_intro_deck/icons/clipboard_white.png">
            <a:extLst>
              <a:ext uri="{FF2B5EF4-FFF2-40B4-BE49-F238E27FC236}">
                <a16:creationId xmlns:a16="http://schemas.microsoft.com/office/drawing/2014/main" id="{3450A769-3C45-AB5E-6C54-9C3F92CA9312}"/>
              </a:ext>
            </a:extLst>
          </p:cNvPr>
          <p:cNvPicPr>
            <a:picLocks noChangeAspect="1"/>
          </p:cNvPicPr>
          <p:nvPr/>
        </p:nvPicPr>
        <p:blipFill>
          <a:blip r:embed="rId3"/>
          <a:stretch>
            <a:fillRect/>
          </a:stretch>
        </p:blipFill>
        <p:spPr>
          <a:xfrm>
            <a:off x="988466" y="2059478"/>
            <a:ext cx="309067" cy="309067"/>
          </a:xfrm>
          <a:prstGeom prst="rect">
            <a:avLst/>
          </a:prstGeom>
          <a:noFill/>
        </p:spPr>
      </p:pic>
      <p:sp>
        <p:nvSpPr>
          <p:cNvPr id="10" name="Text 7">
            <a:extLst>
              <a:ext uri="{FF2B5EF4-FFF2-40B4-BE49-F238E27FC236}">
                <a16:creationId xmlns:a16="http://schemas.microsoft.com/office/drawing/2014/main" id="{036CE97D-423E-F241-C4EB-8919E6DD33AF}"/>
              </a:ext>
            </a:extLst>
          </p:cNvPr>
          <p:cNvSpPr/>
          <p:nvPr/>
        </p:nvSpPr>
        <p:spPr>
          <a:xfrm>
            <a:off x="2221073" y="3820734"/>
            <a:ext cx="4174811" cy="868680"/>
          </a:xfrm>
          <a:prstGeom prst="rect">
            <a:avLst/>
          </a:prstGeom>
          <a:noFill/>
          <a:ln/>
        </p:spPr>
        <p:txBody>
          <a:bodyPr wrap="square" lIns="0" tIns="0" rIns="0" bIns="0" rtlCol="0" anchor="t"/>
          <a:lstStyle/>
          <a:p>
            <a:pPr marL="342900" indent="-342900">
              <a:lnSpc>
                <a:spcPct val="120000"/>
              </a:lnSpc>
              <a:buSzPct val="100000"/>
              <a:buChar char="•"/>
            </a:pPr>
            <a:r>
              <a:rPr lang="en-US" sz="1250" dirty="0">
                <a:solidFill>
                  <a:srgbClr val="1B2A4A"/>
                </a:solidFill>
                <a:latin typeface="Calibri" pitchFamily="34" charset="0"/>
                <a:ea typeface="Calibri" pitchFamily="34" charset="-122"/>
                <a:cs typeface="Calibri" pitchFamily="34" charset="-120"/>
              </a:rPr>
              <a:t>Prepare a </a:t>
            </a:r>
            <a:r>
              <a:rPr lang="en-US" sz="1250" dirty="0" err="1">
                <a:solidFill>
                  <a:srgbClr val="1B2A4A"/>
                </a:solidFill>
                <a:latin typeface="Calibri" pitchFamily="34" charset="0"/>
                <a:ea typeface="Calibri" pitchFamily="34" charset="-122"/>
                <a:cs typeface="Calibri" pitchFamily="34" charset="-120"/>
              </a:rPr>
              <a:t>dataloader</a:t>
            </a:r>
            <a:r>
              <a:rPr lang="en-US" sz="1250" dirty="0">
                <a:solidFill>
                  <a:srgbClr val="1B2A4A"/>
                </a:solidFill>
                <a:latin typeface="Calibri" pitchFamily="34" charset="0"/>
                <a:ea typeface="Calibri" pitchFamily="34" charset="-122"/>
                <a:cs typeface="Calibri" pitchFamily="34" charset="-120"/>
              </a:rPr>
              <a:t> with your data, and get started on the whole pipeline. If you are already at the ML stage, feel free to discuss this with the TAs</a:t>
            </a:r>
            <a:endParaRPr lang="en-US" sz="1250" dirty="0"/>
          </a:p>
        </p:txBody>
      </p:sp>
      <p:sp>
        <p:nvSpPr>
          <p:cNvPr id="11" name="Text 8">
            <a:extLst>
              <a:ext uri="{FF2B5EF4-FFF2-40B4-BE49-F238E27FC236}">
                <a16:creationId xmlns:a16="http://schemas.microsoft.com/office/drawing/2014/main" id="{9CAEB12C-52C9-2C65-B352-5D36AC1F50A6}"/>
              </a:ext>
            </a:extLst>
          </p:cNvPr>
          <p:cNvSpPr/>
          <p:nvPr/>
        </p:nvSpPr>
        <p:spPr>
          <a:xfrm>
            <a:off x="2221073" y="2697448"/>
            <a:ext cx="3244984" cy="868680"/>
          </a:xfrm>
          <a:prstGeom prst="rect">
            <a:avLst/>
          </a:prstGeom>
          <a:noFill/>
          <a:ln/>
        </p:spPr>
        <p:txBody>
          <a:bodyPr wrap="square" lIns="0" tIns="0" rIns="0" bIns="0" rtlCol="0" anchor="t"/>
          <a:lstStyle/>
          <a:p>
            <a:pPr marL="342900" indent="-342900">
              <a:lnSpc>
                <a:spcPct val="120000"/>
              </a:lnSpc>
              <a:buSzPct val="100000"/>
              <a:buChar char="•"/>
            </a:pPr>
            <a:r>
              <a:rPr lang="en-US" sz="1250" dirty="0">
                <a:solidFill>
                  <a:srgbClr val="1B2A4A"/>
                </a:solidFill>
                <a:latin typeface="Calibri" pitchFamily="34" charset="0"/>
                <a:ea typeface="Calibri" pitchFamily="34" charset="-122"/>
                <a:cs typeface="Calibri" pitchFamily="34" charset="-120"/>
              </a:rPr>
              <a:t>Set up a </a:t>
            </a:r>
            <a:r>
              <a:rPr lang="en-US" sz="1250" dirty="0" err="1">
                <a:solidFill>
                  <a:srgbClr val="1B2A4A"/>
                </a:solidFill>
                <a:latin typeface="Calibri" pitchFamily="34" charset="0"/>
                <a:ea typeface="Calibri" pitchFamily="34" charset="-122"/>
                <a:cs typeface="Calibri" pitchFamily="34" charset="-120"/>
              </a:rPr>
              <a:t>github</a:t>
            </a:r>
            <a:r>
              <a:rPr lang="en-US" sz="1250" dirty="0">
                <a:solidFill>
                  <a:srgbClr val="1B2A4A"/>
                </a:solidFill>
                <a:latin typeface="Calibri" pitchFamily="34" charset="0"/>
                <a:ea typeface="Calibri" pitchFamily="34" charset="-122"/>
                <a:cs typeface="Calibri" pitchFamily="34" charset="-120"/>
              </a:rPr>
              <a:t> repository, make sure you can do a commit, pull, push, create a branch and pull request. Share it with others in the group</a:t>
            </a:r>
            <a:endParaRPr lang="en-US" sz="1250" dirty="0"/>
          </a:p>
        </p:txBody>
      </p:sp>
      <p:sp>
        <p:nvSpPr>
          <p:cNvPr id="12" name="Text 9">
            <a:extLst>
              <a:ext uri="{FF2B5EF4-FFF2-40B4-BE49-F238E27FC236}">
                <a16:creationId xmlns:a16="http://schemas.microsoft.com/office/drawing/2014/main" id="{5F09FBE7-354F-782A-F0C2-12BBDA23802B}"/>
              </a:ext>
            </a:extLst>
          </p:cNvPr>
          <p:cNvSpPr/>
          <p:nvPr/>
        </p:nvSpPr>
        <p:spPr>
          <a:xfrm>
            <a:off x="2197388" y="5008592"/>
            <a:ext cx="3100968" cy="868680"/>
          </a:xfrm>
          <a:prstGeom prst="rect">
            <a:avLst/>
          </a:prstGeom>
          <a:noFill/>
          <a:ln/>
        </p:spPr>
        <p:txBody>
          <a:bodyPr wrap="square" lIns="0" tIns="0" rIns="0" bIns="0" rtlCol="0" anchor="t"/>
          <a:lstStyle/>
          <a:p>
            <a:pPr marL="342900" indent="-342900">
              <a:lnSpc>
                <a:spcPct val="120000"/>
              </a:lnSpc>
              <a:buSzPct val="100000"/>
              <a:buChar char="•"/>
            </a:pPr>
            <a:r>
              <a:rPr lang="en-US" sz="1250" dirty="0">
                <a:solidFill>
                  <a:srgbClr val="1B2A4A"/>
                </a:solidFill>
                <a:latin typeface="Calibri" pitchFamily="34" charset="0"/>
                <a:ea typeface="Calibri" pitchFamily="34" charset="-122"/>
                <a:cs typeface="Calibri" pitchFamily="34" charset="-120"/>
              </a:rPr>
              <a:t>If you have time, prepare the slides about the physical background for the presentation</a:t>
            </a:r>
            <a:endParaRPr lang="en-US" sz="1250" dirty="0"/>
          </a:p>
        </p:txBody>
      </p:sp>
      <p:sp>
        <p:nvSpPr>
          <p:cNvPr id="3" name="Text 7">
            <a:extLst>
              <a:ext uri="{FF2B5EF4-FFF2-40B4-BE49-F238E27FC236}">
                <a16:creationId xmlns:a16="http://schemas.microsoft.com/office/drawing/2014/main" id="{A3EDDD7F-1D19-DF7D-5FDB-4C14186066FE}"/>
              </a:ext>
            </a:extLst>
          </p:cNvPr>
          <p:cNvSpPr/>
          <p:nvPr/>
        </p:nvSpPr>
        <p:spPr>
          <a:xfrm>
            <a:off x="2199185" y="1936157"/>
            <a:ext cx="4174811" cy="868680"/>
          </a:xfrm>
          <a:prstGeom prst="rect">
            <a:avLst/>
          </a:prstGeom>
          <a:noFill/>
          <a:ln/>
        </p:spPr>
        <p:txBody>
          <a:bodyPr wrap="square" lIns="0" tIns="0" rIns="0" bIns="0" rtlCol="0" anchor="t"/>
          <a:lstStyle/>
          <a:p>
            <a:pPr marL="342900" indent="-342900">
              <a:lnSpc>
                <a:spcPct val="120000"/>
              </a:lnSpc>
              <a:buSzPct val="100000"/>
              <a:buChar char="•"/>
            </a:pPr>
            <a:r>
              <a:rPr lang="en-US" sz="1250" dirty="0">
                <a:solidFill>
                  <a:srgbClr val="1B2A4A"/>
                </a:solidFill>
                <a:latin typeface="Calibri" pitchFamily="34" charset="0"/>
                <a:ea typeface="Calibri" pitchFamily="34" charset="-122"/>
                <a:cs typeface="Calibri" pitchFamily="34" charset="-120"/>
              </a:rPr>
              <a:t>Make a rough plan for the project, discuss it with the TAs to see if it is reasonable </a:t>
            </a:r>
            <a:endParaRPr lang="en-US" sz="1250" dirty="0"/>
          </a:p>
        </p:txBody>
      </p:sp>
    </p:spTree>
    <p:extLst>
      <p:ext uri="{BB962C8B-B14F-4D97-AF65-F5344CB8AC3E}">
        <p14:creationId xmlns:p14="http://schemas.microsoft.com/office/powerpoint/2010/main" val="740934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216FE-EDCB-801E-6D96-190617578049}"/>
            </a:ext>
          </a:extLst>
        </p:cNvPr>
        <p:cNvGrpSpPr/>
        <p:nvPr/>
      </p:nvGrpSpPr>
      <p:grpSpPr>
        <a:xfrm>
          <a:off x="0" y="0"/>
          <a:ext cx="0" cy="0"/>
          <a:chOff x="0" y="0"/>
          <a:chExt cx="0" cy="0"/>
        </a:xfrm>
      </p:grpSpPr>
      <p:sp>
        <p:nvSpPr>
          <p:cNvPr id="3076" name="Rectangle 6">
            <a:extLst>
              <a:ext uri="{FF2B5EF4-FFF2-40B4-BE49-F238E27FC236}">
                <a16:creationId xmlns:a16="http://schemas.microsoft.com/office/drawing/2014/main" id="{D70E520F-317A-53E4-70FC-0D12CE01C788}"/>
              </a:ext>
            </a:extLst>
          </p:cNvPr>
          <p:cNvSpPr>
            <a:spLocks noChangeArrowheads="1"/>
          </p:cNvSpPr>
          <p:nvPr/>
        </p:nvSpPr>
        <p:spPr bwMode="auto">
          <a:xfrm>
            <a:off x="406400" y="2209106"/>
            <a:ext cx="82184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defRPr/>
            </a:pPr>
            <a:r>
              <a:rPr lang="en-GB" sz="3000" b="1" dirty="0">
                <a:solidFill>
                  <a:schemeClr val="tx1">
                    <a:lumMod val="65000"/>
                    <a:lumOff val="35000"/>
                  </a:schemeClr>
                </a:solidFill>
                <a:latin typeface="Arial"/>
                <a:cs typeface="Arial"/>
              </a:rPr>
              <a:t>Thank you for your attention!</a:t>
            </a:r>
          </a:p>
          <a:p>
            <a:pPr>
              <a:defRPr/>
            </a:pPr>
            <a:endParaRPr lang="en-US" sz="3000" dirty="0">
              <a:solidFill>
                <a:schemeClr val="tx1">
                  <a:lumMod val="65000"/>
                  <a:lumOff val="35000"/>
                </a:schemeClr>
              </a:solidFill>
              <a:latin typeface="Arial"/>
              <a:cs typeface="Arial"/>
            </a:endParaRPr>
          </a:p>
        </p:txBody>
      </p:sp>
      <p:sp>
        <p:nvSpPr>
          <p:cNvPr id="15362" name="Rectangle 7">
            <a:extLst>
              <a:ext uri="{FF2B5EF4-FFF2-40B4-BE49-F238E27FC236}">
                <a16:creationId xmlns:a16="http://schemas.microsoft.com/office/drawing/2014/main" id="{4726091D-645F-2A9C-E895-C6F932FC10BF}"/>
              </a:ext>
            </a:extLst>
          </p:cNvPr>
          <p:cNvSpPr>
            <a:spLocks noChangeArrowheads="1"/>
          </p:cNvSpPr>
          <p:nvPr/>
        </p:nvSpPr>
        <p:spPr bwMode="auto">
          <a:xfrm>
            <a:off x="1104899" y="3818228"/>
            <a:ext cx="6821488" cy="937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0000"/>
              </a:lnSpc>
            </a:pPr>
            <a:r>
              <a:rPr lang="en-GB" sz="2400" b="1" dirty="0">
                <a:cs typeface="Arial" charset="0"/>
              </a:rPr>
              <a:t>Happy to take any questions</a:t>
            </a:r>
          </a:p>
          <a:p>
            <a:pPr algn="ctr">
              <a:lnSpc>
                <a:spcPct val="120000"/>
              </a:lnSpc>
            </a:pPr>
            <a:endParaRPr lang="en-GB" sz="2400" dirty="0">
              <a:solidFill>
                <a:srgbClr val="595959"/>
              </a:solidFill>
              <a:cs typeface="Arial" charset="0"/>
            </a:endParaRPr>
          </a:p>
        </p:txBody>
      </p:sp>
      <p:cxnSp>
        <p:nvCxnSpPr>
          <p:cNvPr id="10" name="Straight Connector 9">
            <a:extLst>
              <a:ext uri="{FF2B5EF4-FFF2-40B4-BE49-F238E27FC236}">
                <a16:creationId xmlns:a16="http://schemas.microsoft.com/office/drawing/2014/main" id="{802CBAE7-8823-EABB-256B-9BB32D81EA74}"/>
              </a:ext>
            </a:extLst>
          </p:cNvPr>
          <p:cNvCxnSpPr>
            <a:cxnSpLocks noChangeShapeType="1"/>
          </p:cNvCxnSpPr>
          <p:nvPr/>
        </p:nvCxnSpPr>
        <p:spPr bwMode="auto">
          <a:xfrm>
            <a:off x="519113" y="2809875"/>
            <a:ext cx="7013575"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pic>
        <p:nvPicPr>
          <p:cNvPr id="15364" name="Picture 2" descr="TAB_col_white_background.eps">
            <a:extLst>
              <a:ext uri="{FF2B5EF4-FFF2-40B4-BE49-F238E27FC236}">
                <a16:creationId xmlns:a16="http://schemas.microsoft.com/office/drawing/2014/main" id="{1EE07ADF-BC38-032E-F0A8-8C51E0AF42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875" y="509588"/>
            <a:ext cx="16637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9753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ro to ML" id="{BF33F6EA-1390-7A4D-83EB-6ECF2FF31E46}" vid="{A1D538FE-21FE-9A48-BEE6-019F6DA707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24447</TotalTime>
  <Words>2332</Words>
  <Application>Microsoft Macintosh PowerPoint</Application>
  <PresentationFormat>On-screen Show (4:3)</PresentationFormat>
  <Paragraphs>266</Paragraphs>
  <Slides>24</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Wingdings</vt:lpstr>
      <vt:lpstr>Office Theme</vt:lpstr>
      <vt:lpstr>PowerPoint Presentation</vt:lpstr>
      <vt:lpstr>Project choices</vt:lpstr>
      <vt:lpstr>Project choices</vt:lpstr>
      <vt:lpstr>Project technicalities</vt:lpstr>
      <vt:lpstr>The project list</vt:lpstr>
      <vt:lpstr>A note about genAI</vt:lpstr>
      <vt:lpstr>A sample of projects</vt:lpstr>
      <vt:lpstr>A sample of projects</vt:lpstr>
      <vt:lpstr>A sample of projects</vt:lpstr>
      <vt:lpstr>The scope of the project</vt:lpstr>
      <vt:lpstr>The problem + ML pipeline</vt:lpstr>
      <vt:lpstr>The problem + ML pipeline</vt:lpstr>
      <vt:lpstr>Framing and exploring</vt:lpstr>
      <vt:lpstr>Framing and exploring</vt:lpstr>
      <vt:lpstr>Splitting the data</vt:lpstr>
      <vt:lpstr>Preprocessing</vt:lpstr>
      <vt:lpstr>Setting strong baselines</vt:lpstr>
      <vt:lpstr>The metrics of success</vt:lpstr>
      <vt:lpstr>Debugging and sanity check</vt:lpstr>
      <vt:lpstr>Iterate several times</vt:lpstr>
      <vt:lpstr>Version control and reproducibility</vt:lpstr>
      <vt:lpstr>Version control and reproducibility</vt:lpstr>
      <vt:lpstr>What to do this afternoon?</vt:lpstr>
      <vt:lpstr>PowerPoint Presentation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MZYSSPB2</dc:creator>
  <cp:lastModifiedBy>Miguel Beneitez</cp:lastModifiedBy>
  <cp:revision>384</cp:revision>
  <dcterms:created xsi:type="dcterms:W3CDTF">2012-06-12T15:56:20Z</dcterms:created>
  <dcterms:modified xsi:type="dcterms:W3CDTF">2026-08-17T17:52:57Z</dcterms:modified>
</cp:coreProperties>
</file>