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8" r:id="rId2"/>
    <p:sldId id="281" r:id="rId3"/>
    <p:sldId id="303" r:id="rId4"/>
    <p:sldId id="318" r:id="rId5"/>
    <p:sldId id="319" r:id="rId6"/>
    <p:sldId id="320" r:id="rId7"/>
    <p:sldId id="317" r:id="rId8"/>
    <p:sldId id="321" r:id="rId9"/>
    <p:sldId id="322" r:id="rId10"/>
    <p:sldId id="323" r:id="rId11"/>
    <p:sldId id="324" r:id="rId12"/>
    <p:sldId id="325" r:id="rId13"/>
    <p:sldId id="310" r:id="rId14"/>
    <p:sldId id="326" r:id="rId15"/>
    <p:sldId id="327" r:id="rId16"/>
    <p:sldId id="329" r:id="rId17"/>
    <p:sldId id="312" r:id="rId18"/>
    <p:sldId id="330" r:id="rId19"/>
    <p:sldId id="331" r:id="rId20"/>
    <p:sldId id="332" r:id="rId21"/>
    <p:sldId id="333" r:id="rId22"/>
    <p:sldId id="335" r:id="rId23"/>
    <p:sldId id="334" r:id="rId24"/>
    <p:sldId id="336" r:id="rId25"/>
    <p:sldId id="337" r:id="rId26"/>
    <p:sldId id="338" r:id="rId27"/>
    <p:sldId id="339" r:id="rId28"/>
    <p:sldId id="340" r:id="rId29"/>
    <p:sldId id="341" r:id="rId30"/>
    <p:sldId id="270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54"/>
    <p:restoredTop sz="94384"/>
  </p:normalViewPr>
  <p:slideViewPr>
    <p:cSldViewPr>
      <p:cViewPr varScale="1">
        <p:scale>
          <a:sx n="120" d="100"/>
          <a:sy n="120" d="100"/>
        </p:scale>
        <p:origin x="23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CCAEB-7496-4C12-9A08-526B0D813A46}" type="datetimeFigureOut">
              <a:rPr lang="en-GB" smtClean="0"/>
              <a:pPr/>
              <a:t>22/08/2026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8D4E6-F64F-4999-AC2A-A008E685C04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2246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4F8EB-822C-CDE6-C67E-1FB2DAD35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20872-1D9E-B218-2A03-E66794E9C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B56CA-7E95-C90A-A2CA-90F9E39DB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A204B-818D-5703-4669-FFA4CDE3E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405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CC4BB-30A8-4D9F-D449-7A41845DC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39E28-FBE4-A5F9-944A-CE53F1CCC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B1CBB-8BC9-6066-EAFA-1A21211A4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D61D4-4C00-89B5-47EF-81CF7FD8A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9980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008AE-294E-7EAC-4CBD-A6C0863B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11EB4-36B1-D0B4-40D1-6A98A3040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86588-280A-4CA3-4564-73B3E11DA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D73C2-C169-0746-C57F-EEC7B4667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0259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0178E-7F0E-E66A-0753-3988041CB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76855-B7D3-3C99-611A-4DB92C16D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90621-2DC9-18ED-C379-72B13D927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2ED10-E907-3812-1433-D3F6734B4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1051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54DD-09DC-DDC6-6287-81A7DFFD7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00C7F-72CA-ADAF-500A-850E42E8E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95FAF-4885-5099-50AA-BC453935C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F8744-0611-907B-A072-503208561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6228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F56F-1937-A5EE-A589-C8888261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36BCD-8B52-57DF-A725-C79133E25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207F8-42B2-987D-A151-BDCB522FF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EC681-89D2-D7CB-BC22-FB4793E90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6663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1B57C-2181-32F9-E4D4-02BA150A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8684F-CCDF-3184-488D-8C98E06C4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12B62-22B0-64C0-175E-F4ABA6D9B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46D3E-D0CA-A601-A148-760644E03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2863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1E7B7-CA01-39DD-85D7-614A69FD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BD92C-279A-0F34-A511-3B0DA2E8E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EAF73-CA30-AD08-2E58-99FF3C76E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C3853-B0B2-A96E-0578-6B53A36A7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9448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B4A27-BB0C-368A-4472-B8E0E68B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40E46-7B58-F129-DA34-CB7C993D5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81BFB-C076-6125-BEBB-05F47C045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16E33-0A33-9F81-E848-84089956A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645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8B91E-6A3F-669E-2087-1D6E5F75D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81F86-C4D6-0B7A-0F65-A6962D69C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7E192-932E-04B5-745C-04D0DBEE9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7039B-DEA7-E2EE-1CB3-5584B8496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1638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D1E7F-AF30-40E0-DE07-3643639F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227A0C-074B-4F8C-A4DB-D0FBFF442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A1D7F-4977-F1BC-4887-5ACAFBD5F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FA95C-98F3-E36A-85E2-C3C4EE3C5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79718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941F-6D1E-DA3C-8AAF-AA483EAB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7C255-726D-8E72-3DD4-4A89F2E26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97B2B-2CF6-B189-1673-631A12D9B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E2A88-0DEB-4757-6F4D-ED8065C45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883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E778-F15E-2AF9-6AD4-0606D497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D599F-7D1A-2D20-2EE2-52CAE0980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1B8B7-C41B-64E3-96A2-C59AC0B34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9B0A7-9C2D-F77C-496E-4CF59737E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79808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7C14E-CF72-D79E-2A36-A7907B9F7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10F0F-5179-142B-0598-F9C69B635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98345-2279-0BB5-F4E0-648D70478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507AA-B495-C9AA-7089-CF2B347BE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8335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8B24E-D625-EA28-B777-A034510FB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B5224-FABC-64A3-C6BC-CA5C717A3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EDD1B-A178-AED7-2743-F1C08BABB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849C0-67BD-00AA-9DE8-77213276D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542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102C9-E763-1CDF-7022-B751DA557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0CB60-1C65-97BE-F3D6-878719402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D4A29-75C6-F047-84AB-7F3124899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8B35D-A2F0-A01B-0CA4-6C56C7E5B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1452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D3BB0-5370-B9DD-6416-2127965F1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C55F6-CCA3-99B0-D652-E9AEA5A57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D837B-662E-9F10-767A-E1D087588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2B1ED-A12B-86ED-D387-9DE49D73E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93995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BD760-3EDD-0973-94C7-8AF146A4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D76C2-D03E-50B3-C72E-BE33853FA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5E139-54C1-F744-DEB1-AFE9A5D04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F3799-D73D-CBA6-F44D-555CE1CF2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76244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2565-0BE2-E453-2B88-E30571798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26767-07A0-16D3-83D9-209D7707B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8365A-6C2E-0644-CA03-97F76486D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6A0C8-BB8F-4DD5-61E0-870185611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772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F2F57-244D-A27B-9763-4714A201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88CB7-DE0D-C3AC-2E12-79FB15BF5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58599-F51A-1372-BE16-C9B1645B8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1FE34-CD8A-AA8F-5F67-05D9275CE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5936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6CB4C-E406-F606-BB8F-DAB4E7B6C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538EF-2DF8-AE7C-2A0D-0608E4B9D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C4012-60CC-EE64-DF26-73CC1AAEB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45EA6-D93B-D7F5-35CA-8CE173680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85810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53A56-41BB-69FB-6418-0371ED437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7D81B-B2E7-9A83-B694-7DC1A3E78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0A011-0C29-E7EA-9C48-E5BA7E048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5C71D-22E1-466D-11BA-08E4CCFFF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5880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2B4C8-082F-3FFA-3872-6478F98B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05E34-1BE8-1152-EF5C-D3E8F8A26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65A2F-DCC9-E980-ED2A-720EC6EC5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3695D-3B9C-CED7-4E88-CCD9063BD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2516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FCE70-6882-D9E7-77CD-A53FDF52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AA018-AABC-353E-9A55-8A1E22A11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280CB-FC31-A5B9-3491-BA60958B5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AF1D4-9787-9C0F-6206-22BD32A3E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16892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38F10-F9DC-E589-DAB6-9C1C316B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75A72-1A88-C2FA-178C-88E589EF0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09B0C-03B5-861E-C887-63D98CB9F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5BE84-B85E-F698-4A08-A1F05D7E4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3757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B0689-7EE2-2BA5-57CA-3B64DF7AF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A2329-DF4D-BFE3-3D75-DCFDE06E8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DAFFF-F738-5711-82DC-DCF31AF73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BF8E7-E2E7-72CC-4115-04508C2FA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60916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CB595-CE21-9585-EDB3-502350BB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20CCB-1093-E9E7-FF5F-9A61D84F2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94AD2-62AC-CE62-5100-E4374B075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21302-1593-DB2F-14B3-9B20B0D1A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4870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1EC2C-BB8C-A851-F3F3-9B84626DD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F1F4D-5CFF-A9E8-6020-3318B3C8E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6838E-0080-BC58-8EC3-107CABF2C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F36FC-A7A6-D8B7-873D-9B9C8E86D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4359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1775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2130425"/>
            <a:ext cx="7772400" cy="1470025"/>
          </a:xfrm>
        </p:spPr>
        <p:txBody>
          <a:bodyPr/>
          <a:lstStyle>
            <a:lvl1pPr>
              <a:defRPr sz="32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3886200"/>
            <a:ext cx="6400800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7AB759-530A-46AC-842F-B07144F002F9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AD8A0A-4898-40BF-9009-4DA7E611EAC1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492896"/>
            <a:ext cx="8229600" cy="36332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2B6232-AB33-4513-9527-F98CEC472D23}" type="datetimeFigureOut">
              <a:rPr lang="en-GB" smtClean="0"/>
              <a:pPr/>
              <a:t>22/08/2026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8A139-7ABE-46A1-B082-C2C77667394C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5CD916-7149-4247-856D-87DAB39295C7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ACF840-035C-411F-BA81-AF7A8ED78138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2492896"/>
            <a:ext cx="4038600" cy="3633267"/>
          </a:xfrm>
        </p:spPr>
        <p:txBody>
          <a:bodyPr/>
          <a:lstStyle>
            <a:lvl1pPr>
              <a:defRPr sz="2800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6536" y="2492896"/>
            <a:ext cx="4038600" cy="36332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D09641-23CB-4E80-A5B0-5F03D2E94610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7FA264-F771-4264-8DF0-4BB7F0DA3C69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880" y="2348880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068959"/>
            <a:ext cx="4040188" cy="305720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2344" y="2348880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3361" y="3068960"/>
            <a:ext cx="4041775" cy="305720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9A4E03-F40B-4399-AC2E-A4C6E9D600B3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2BDDC-0BFC-44A0-A4BA-47C3E99EB1AA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FE8F7DA-80EC-4CF7-AB7B-078F533B953B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4E6293-7DA2-4D9E-8605-5715E69AF2C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AE269B-21F6-4A71-848B-6E891C314B78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89173-A1D5-421E-B384-2A426DF314C2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86830"/>
            <a:ext cx="3008313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6752"/>
            <a:ext cx="5111750" cy="492941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9648B1-3911-4AC2-8E3A-DF4A70CC86E7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3D388-5704-4C64-A883-D899E857066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AAA9A3-945F-42AF-BCAE-8459AEA58868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74E2F5-7E8D-47B8-82FB-3832A72B6BDB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3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FF8105-8845-4543-9ED8-9E57E8E42CB7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FF8E4D-CDF4-4B1F-BD52-35BFB528DB8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56792"/>
            <a:ext cx="2057400" cy="4569371"/>
          </a:xfrm>
        </p:spPr>
        <p:txBody>
          <a:bodyPr vert="eaVer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56792"/>
            <a:ext cx="6019800" cy="4569371"/>
          </a:xfrm>
        </p:spPr>
        <p:txBody>
          <a:bodyPr vert="eaVert"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976883-B614-42E6-9595-363FA777B038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15344-E335-44E9-ACDC-CB4826450486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67544" y="1268760"/>
            <a:ext cx="584299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492896"/>
            <a:ext cx="8229600" cy="3633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56A7D1D-6254-4063-974C-6A2AE04E4B91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6878614-5F41-4702-8E44-D9C8B2874F5D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6"/>
          <p:cNvSpPr>
            <a:spLocks noChangeArrowheads="1"/>
          </p:cNvSpPr>
          <p:nvPr/>
        </p:nvSpPr>
        <p:spPr bwMode="auto">
          <a:xfrm>
            <a:off x="406400" y="2152689"/>
            <a:ext cx="82184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Reinforcement Learning I</a:t>
            </a:r>
          </a:p>
        </p:txBody>
      </p:sp>
      <p:sp>
        <p:nvSpPr>
          <p:cNvPr id="15362" name="Rectangle 7"/>
          <p:cNvSpPr>
            <a:spLocks noChangeArrowheads="1"/>
          </p:cNvSpPr>
          <p:nvPr/>
        </p:nvSpPr>
        <p:spPr bwMode="auto">
          <a:xfrm>
            <a:off x="406400" y="4295775"/>
            <a:ext cx="8414072" cy="1381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2400" dirty="0">
                <a:solidFill>
                  <a:srgbClr val="595959"/>
                </a:solidFill>
                <a:cs typeface="Arial" charset="0"/>
              </a:rPr>
              <a:t>M. Beneitez – </a:t>
            </a:r>
            <a:r>
              <a:rPr lang="en-GB" sz="2400" dirty="0" err="1">
                <a:solidFill>
                  <a:srgbClr val="595959"/>
                </a:solidFill>
                <a:cs typeface="Arial" charset="0"/>
              </a:rPr>
              <a:t>miguel.beneitez@manchester.ac.uk</a:t>
            </a:r>
            <a:endParaRPr lang="en-GB" sz="2400" dirty="0">
              <a:solidFill>
                <a:srgbClr val="595959"/>
              </a:solidFill>
              <a:cs typeface="Arial" charset="0"/>
            </a:endParaRPr>
          </a:p>
          <a:p>
            <a:pPr>
              <a:lnSpc>
                <a:spcPct val="120000"/>
              </a:lnSpc>
            </a:pPr>
            <a:r>
              <a:rPr lang="en-GB" sz="2400" dirty="0">
                <a:solidFill>
                  <a:srgbClr val="595959"/>
                </a:solidFill>
                <a:cs typeface="Arial" charset="0"/>
              </a:rPr>
              <a:t>Summer School in Hands-on ML 2026</a:t>
            </a:r>
          </a:p>
          <a:p>
            <a:pPr>
              <a:lnSpc>
                <a:spcPct val="120000"/>
              </a:lnSpc>
            </a:pPr>
            <a:endParaRPr lang="en-GB" sz="2400" dirty="0">
              <a:solidFill>
                <a:srgbClr val="595959"/>
              </a:solidFill>
              <a:cs typeface="Arial" charset="0"/>
            </a:endParaRPr>
          </a:p>
        </p:txBody>
      </p: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519113" y="2809875"/>
            <a:ext cx="7013575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364" name="Picture 2" descr="TAB_col_white_background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668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8B54-20F1-01E9-B538-B45A6002B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F997-F386-4AB2-1C41-066DC536A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Reinforcement learning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6A7E1B-FFDA-DB37-40B6-B45C5D48529D}"/>
              </a:ext>
            </a:extLst>
          </p:cNvPr>
          <p:cNvSpPr txBox="1"/>
          <p:nvPr/>
        </p:nvSpPr>
        <p:spPr>
          <a:xfrm>
            <a:off x="342141" y="1461991"/>
            <a:ext cx="845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is reinforcement learning? Learning through interaction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300C41-FFC5-FFDD-2AD9-9779FE101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821242"/>
            <a:ext cx="5880100" cy="3479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ADA840-6811-F107-6A6D-8E5A889425B9}"/>
              </a:ext>
            </a:extLst>
          </p:cNvPr>
          <p:cNvSpPr txBox="1"/>
          <p:nvPr/>
        </p:nvSpPr>
        <p:spPr>
          <a:xfrm>
            <a:off x="467544" y="5396009"/>
            <a:ext cx="84597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takes actions in an environment; the environment evolves and returns a new state and a reward signal. Over repeated interaction, the agent learns a policy that </a:t>
            </a:r>
            <a:r>
              <a:rPr lang="en-US" sz="1600" dirty="0" err="1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maximises</a:t>
            </a:r>
            <a:r>
              <a:rPr lang="en-US" sz="16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cumulative reward.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9528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B53AD-C80A-8C7D-E588-AE2D4AC0A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E457-1003-C927-D958-0A165B89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8FC0A-E3CD-1BC4-D0F5-1A66AA9D2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448482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Today’s content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2267D92C-23BD-A8B0-DF78-91380F119870}"/>
              </a:ext>
            </a:extLst>
          </p:cNvPr>
          <p:cNvSpPr txBox="1">
            <a:spLocks/>
          </p:cNvSpPr>
          <p:nvPr/>
        </p:nvSpPr>
        <p:spPr bwMode="auto">
          <a:xfrm>
            <a:off x="405291" y="2331156"/>
            <a:ext cx="4248472" cy="334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Core concepts about reinforcement learning. Why do we learn? How do we learn?</a:t>
            </a:r>
          </a:p>
          <a:p>
            <a:endParaRPr lang="en-US" sz="1600" dirty="0"/>
          </a:p>
          <a:p>
            <a:r>
              <a:rPr lang="en-US" sz="1600" dirty="0"/>
              <a:t>What is a </a:t>
            </a:r>
            <a:r>
              <a:rPr lang="en-US" sz="1600" dirty="0">
                <a:solidFill>
                  <a:srgbClr val="7030A0"/>
                </a:solidFill>
              </a:rPr>
              <a:t>Markov decision process </a:t>
            </a:r>
            <a:r>
              <a:rPr lang="en-US" sz="1600" dirty="0"/>
              <a:t>(MDP). Some formal work through dynamic programming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7030A0"/>
                </a:solidFill>
              </a:rPr>
              <a:t>Q-learning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7030A0"/>
                </a:solidFill>
              </a:rPr>
              <a:t>the Bellman equation</a:t>
            </a:r>
          </a:p>
          <a:p>
            <a:endParaRPr lang="en-US" sz="1600" dirty="0"/>
          </a:p>
          <a:p>
            <a:r>
              <a:rPr lang="en-US" sz="1600" dirty="0"/>
              <a:t>Why do we need </a:t>
            </a:r>
            <a:r>
              <a:rPr lang="en-US" sz="1600" dirty="0">
                <a:solidFill>
                  <a:srgbClr val="7030A0"/>
                </a:solidFill>
              </a:rPr>
              <a:t>deep RL</a:t>
            </a:r>
            <a:r>
              <a:rPr lang="en-US" sz="1600" dirty="0"/>
              <a:t>?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7F3DF-C88D-32DA-397C-A91DF258C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501" y="2537370"/>
            <a:ext cx="3410503" cy="293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5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912EF-810C-D5BC-A64E-39E1457A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1120B-D143-E90A-484C-B3779754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place of RL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7C11E-3E0E-BA74-72B8-BD6564E5E2B3}"/>
              </a:ext>
            </a:extLst>
          </p:cNvPr>
          <p:cNvSpPr txBox="1"/>
          <p:nvPr/>
        </p:nvSpPr>
        <p:spPr>
          <a:xfrm>
            <a:off x="179512" y="6273225"/>
            <a:ext cx="845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A6B85"/>
                </a:solidFill>
                <a:latin typeface="Calibri" pitchFamily="34" charset="0"/>
                <a:cs typeface="Calibri" pitchFamily="34" charset="-120"/>
              </a:rPr>
              <a:t>From David Silver’s slides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B68223-653D-8E0D-C870-DA140B965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271" y="1402767"/>
            <a:ext cx="5210001" cy="462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3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EE63-9A92-5D9B-4B44-A2DA803E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50C2-644C-5EBD-907F-CB4468468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place of RL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05C9A-3391-343D-E4F0-17C597F89F78}"/>
              </a:ext>
            </a:extLst>
          </p:cNvPr>
          <p:cNvSpPr txBox="1"/>
          <p:nvPr/>
        </p:nvSpPr>
        <p:spPr>
          <a:xfrm>
            <a:off x="179512" y="6273225"/>
            <a:ext cx="845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A6B85"/>
                </a:solidFill>
                <a:latin typeface="Calibri" pitchFamily="34" charset="0"/>
                <a:cs typeface="Calibri" pitchFamily="34" charset="-120"/>
              </a:rPr>
              <a:t>From David Silver’s slides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541E4-E0E2-6A01-29B7-1429E245E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618" y="1268760"/>
            <a:ext cx="4565506" cy="46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34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16DE0-AF13-1327-FAA3-A2897C4B9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DB37-FC1F-1B9B-A0FD-1CFBAE7D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What makes RL different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6791CF0-854B-B0E3-0DB4-4623519C030E}"/>
              </a:ext>
            </a:extLst>
          </p:cNvPr>
          <p:cNvSpPr txBox="1">
            <a:spLocks/>
          </p:cNvSpPr>
          <p:nvPr/>
        </p:nvSpPr>
        <p:spPr bwMode="auto">
          <a:xfrm>
            <a:off x="368769" y="2204864"/>
            <a:ext cx="4248472" cy="334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There is </a:t>
            </a:r>
            <a:r>
              <a:rPr lang="en-US" sz="1600" dirty="0">
                <a:solidFill>
                  <a:srgbClr val="7030A0"/>
                </a:solidFill>
              </a:rPr>
              <a:t>no supervisor </a:t>
            </a:r>
            <a:r>
              <a:rPr lang="en-US" sz="1600" dirty="0"/>
              <a:t>(no labels saying right or wrong)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7030A0"/>
                </a:solidFill>
              </a:rPr>
              <a:t>Feedback is delayed</a:t>
            </a:r>
            <a:r>
              <a:rPr lang="en-US" sz="1600" dirty="0"/>
              <a:t>, not instantaneous (remember cumulative rewards!)</a:t>
            </a:r>
          </a:p>
          <a:p>
            <a:endParaRPr lang="en-US" sz="1600" dirty="0"/>
          </a:p>
          <a:p>
            <a:r>
              <a:rPr lang="en-US" sz="1600" dirty="0"/>
              <a:t>Time (and order) really matter: </a:t>
            </a:r>
            <a:r>
              <a:rPr lang="en-US" sz="1600" dirty="0">
                <a:solidFill>
                  <a:srgbClr val="7030A0"/>
                </a:solidFill>
              </a:rPr>
              <a:t>sequential data</a:t>
            </a:r>
          </a:p>
          <a:p>
            <a:endParaRPr lang="en-US" sz="1600" dirty="0"/>
          </a:p>
          <a:p>
            <a:r>
              <a:rPr lang="en-US" sz="1600" dirty="0"/>
              <a:t>Agents actions affect the future data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DCB1A-FF57-CE09-8EA1-55D7C315E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501" y="2331156"/>
            <a:ext cx="3410503" cy="293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7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2B0B9-1D26-4DBC-F1AA-1C7B03C1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8AF0-9573-9B80-468F-A7187566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RL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1B1EA-7407-3808-6B5F-42181EF32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448482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The key idea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921C7-D125-67D3-19A2-7E2F0539D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084" y="1379425"/>
            <a:ext cx="3410503" cy="29353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263F33-4DA1-9F95-1127-57D583DD9D0B}"/>
              </a:ext>
            </a:extLst>
          </p:cNvPr>
          <p:cNvSpPr txBox="1"/>
          <p:nvPr/>
        </p:nvSpPr>
        <p:spPr>
          <a:xfrm>
            <a:off x="359531" y="4699884"/>
            <a:ext cx="842493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hypothesis: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any goal can be formalized as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maximising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the expected cumulative reward</a:t>
            </a:r>
            <a:endParaRPr lang="en-US" sz="16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0062A5-CE6C-6E93-52E8-4E636B21C879}"/>
              </a:ext>
            </a:extLst>
          </p:cNvPr>
          <p:cNvSpPr txBox="1">
            <a:spLocks/>
          </p:cNvSpPr>
          <p:nvPr/>
        </p:nvSpPr>
        <p:spPr bwMode="auto">
          <a:xfrm>
            <a:off x="395535" y="5423564"/>
            <a:ext cx="4248472" cy="1192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7030A0"/>
                </a:solidFill>
              </a:rPr>
              <a:t>Observation: </a:t>
            </a:r>
            <a:r>
              <a:rPr lang="en-US" sz="1600" dirty="0"/>
              <a:t>the agent only ever sees this</a:t>
            </a:r>
          </a:p>
          <a:p>
            <a:r>
              <a:rPr lang="en-US" sz="1600" dirty="0"/>
              <a:t>State: is how the whole environment looks like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C7C93-8FAD-B0C4-CCD7-3E165CFE6A4A}"/>
              </a:ext>
            </a:extLst>
          </p:cNvPr>
          <p:cNvSpPr txBox="1">
            <a:spLocks/>
          </p:cNvSpPr>
          <p:nvPr/>
        </p:nvSpPr>
        <p:spPr bwMode="auto">
          <a:xfrm>
            <a:off x="5292080" y="5490167"/>
            <a:ext cx="3729608" cy="1192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/>
              <a:t>Observation = State</a:t>
            </a:r>
          </a:p>
          <a:p>
            <a:pPr marL="0" indent="0" algn="ctr">
              <a:buNone/>
            </a:pPr>
            <a:r>
              <a:rPr lang="en-US" sz="1600" dirty="0"/>
              <a:t>If the whole environment is observable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71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5597C-5584-07EA-AF72-788D6482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52860-6156-A2BB-CD59-27189E730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elements of 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B39D-FCE2-3B3B-4997-68BB2E403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448482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The reward</a:t>
            </a:r>
          </a:p>
          <a:p>
            <a:pPr marL="0" indent="0">
              <a:buNone/>
            </a:pP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CD5AABB9-C595-EC7B-208B-9023D10F890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072930" y="2600909"/>
                <a:ext cx="4248472" cy="1296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dirty="0"/>
                  <a:t>A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/>
                  <a:t> is a </a:t>
                </a:r>
                <a:r>
                  <a:rPr lang="en-US" sz="1600" u="sng" dirty="0"/>
                  <a:t>scalar feedback signal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Indicates how well the agent is doing at a certain time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Font typeface="Arial" pitchFamily="34" charset="0"/>
                  <a:buNone/>
                </a:pPr>
                <a:endParaRPr lang="en-US" sz="1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CD5AABB9-C595-EC7B-208B-9023D10F8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2930" y="2600909"/>
                <a:ext cx="4248472" cy="1296144"/>
              </a:xfrm>
              <a:prstGeom prst="rect">
                <a:avLst/>
              </a:prstGeom>
              <a:blipFill>
                <a:blip r:embed="rId3"/>
                <a:stretch>
                  <a:fillRect l="-595" t="-971" r="-148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Flagpole | Nintendo | Fandom">
            <a:extLst>
              <a:ext uri="{FF2B5EF4-FFF2-40B4-BE49-F238E27FC236}">
                <a16:creationId xmlns:a16="http://schemas.microsoft.com/office/drawing/2014/main" id="{1A5D4619-2839-8287-419E-963FD6B88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64" y="1988841"/>
            <a:ext cx="2692529" cy="25202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F7859D-3D29-1580-B219-C634A66BC12E}"/>
              </a:ext>
            </a:extLst>
          </p:cNvPr>
          <p:cNvSpPr txBox="1"/>
          <p:nvPr/>
        </p:nvSpPr>
        <p:spPr>
          <a:xfrm>
            <a:off x="518864" y="5385155"/>
            <a:ext cx="8106272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Gₜ = Rₜ₊₁ + </a:t>
            </a:r>
            <a:r>
              <a:rPr lang="en-US" sz="155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γR</a:t>
            </a: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ₜ₊₂ + γ²Rₜ₊₃ + ...  =  </a:t>
            </a:r>
            <a:r>
              <a:rPr lang="en-US" sz="155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</a:t>
            </a: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ᵏ Rₜ₊ₖ₊₁   (sum over k = 0, 1, 2, ...)</a:t>
            </a:r>
            <a:endParaRPr lang="en-US" sz="155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D1C3CFC-994A-13EA-5EF1-CDF75E59EF28}"/>
              </a:ext>
            </a:extLst>
          </p:cNvPr>
          <p:cNvSpPr txBox="1">
            <a:spLocks/>
          </p:cNvSpPr>
          <p:nvPr/>
        </p:nvSpPr>
        <p:spPr bwMode="auto">
          <a:xfrm>
            <a:off x="395536" y="4869161"/>
            <a:ext cx="8229600" cy="448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600" dirty="0">
                <a:solidFill>
                  <a:srgbClr val="7030A0"/>
                </a:solidFill>
              </a:rPr>
              <a:t>Formal definition of what we try to </a:t>
            </a:r>
            <a:r>
              <a:rPr lang="en-US" sz="1600" dirty="0" err="1">
                <a:solidFill>
                  <a:srgbClr val="7030A0"/>
                </a:solidFill>
              </a:rPr>
              <a:t>maximise</a:t>
            </a:r>
            <a:endParaRPr lang="en-US" sz="1600" dirty="0">
              <a:solidFill>
                <a:srgbClr val="7030A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A038D2-48AA-90C9-36F3-F91530FE2A87}"/>
                  </a:ext>
                </a:extLst>
              </p:cNvPr>
              <p:cNvSpPr txBox="1"/>
              <p:nvPr/>
            </p:nvSpPr>
            <p:spPr>
              <a:xfrm>
                <a:off x="5508104" y="5949280"/>
                <a:ext cx="212878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400" dirty="0"/>
                  <a:t> is called ”discount factor”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A038D2-48AA-90C9-36F3-F91530FE2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5949280"/>
                <a:ext cx="2128788" cy="215444"/>
              </a:xfrm>
              <a:prstGeom prst="rect">
                <a:avLst/>
              </a:prstGeom>
              <a:blipFill>
                <a:blip r:embed="rId5"/>
                <a:stretch>
                  <a:fillRect l="-2959" t="-22222" r="-4142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A8A652-8832-6FA2-B452-F4352572A67C}"/>
                  </a:ext>
                </a:extLst>
              </p:cNvPr>
              <p:cNvSpPr txBox="1"/>
              <p:nvPr/>
            </p:nvSpPr>
            <p:spPr>
              <a:xfrm>
                <a:off x="5537506" y="6283331"/>
                <a:ext cx="278389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400" dirty="0"/>
                  <a:t> is called ”expected return”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A8A652-8832-6FA2-B452-F4352572A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506" y="6283331"/>
                <a:ext cx="2783895" cy="215444"/>
              </a:xfrm>
              <a:prstGeom prst="rect">
                <a:avLst/>
              </a:prstGeom>
              <a:blipFill>
                <a:blip r:embed="rId6"/>
                <a:stretch>
                  <a:fillRect l="-1810" t="-22222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827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4FB18-FCA4-C2EC-9B4D-056319E7B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B509F-C357-AB66-88EB-E7DFEC4B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elements of 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F7D1B-C4CC-7253-322C-50A90A14D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448482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The reward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FF9BA-688B-5D24-B9B3-33AA3A604F7E}"/>
              </a:ext>
            </a:extLst>
          </p:cNvPr>
          <p:cNvSpPr txBox="1"/>
          <p:nvPr/>
        </p:nvSpPr>
        <p:spPr>
          <a:xfrm>
            <a:off x="392088" y="2348880"/>
            <a:ext cx="8106272" cy="33086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Gₜ = Rₜ₊₁ + </a:t>
            </a:r>
            <a:r>
              <a:rPr lang="en-US" sz="155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γR</a:t>
            </a: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ₜ₊₂ + γ²Rₜ₊₃ + ...  =  </a:t>
            </a:r>
            <a:r>
              <a:rPr lang="en-US" sz="155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</a:t>
            </a: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ᵏ Rₜ₊ₖ₊₁   (sum over k = 0, 1, 2, ...)</a:t>
            </a:r>
            <a:endParaRPr lang="en-US" sz="155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DA4F9C9-0D23-D3B2-8476-C7C668B5E60B}"/>
              </a:ext>
            </a:extLst>
          </p:cNvPr>
          <p:cNvSpPr/>
          <p:nvPr/>
        </p:nvSpPr>
        <p:spPr>
          <a:xfrm>
            <a:off x="548640" y="3017519"/>
            <a:ext cx="2529840" cy="1160741"/>
          </a:xfrm>
          <a:prstGeom prst="rect">
            <a:avLst/>
          </a:prstGeom>
          <a:solidFill>
            <a:srgbClr val="B2A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73DF7C8-59A6-6BEF-CFD0-FC84F3C2F429}"/>
              </a:ext>
            </a:extLst>
          </p:cNvPr>
          <p:cNvSpPr/>
          <p:nvPr/>
        </p:nvSpPr>
        <p:spPr>
          <a:xfrm>
            <a:off x="621792" y="3072384"/>
            <a:ext cx="2383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 → 0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FA0803D-C241-CEE6-64F8-2A52C39CF360}"/>
              </a:ext>
            </a:extLst>
          </p:cNvPr>
          <p:cNvSpPr/>
          <p:nvPr/>
        </p:nvSpPr>
        <p:spPr>
          <a:xfrm>
            <a:off x="662683" y="3557016"/>
            <a:ext cx="2383536" cy="520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immediate reward counts</a:t>
            </a:r>
            <a:endParaRPr lang="en-US" sz="14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47EB874-CC53-7346-F8B5-0906D4938F81}"/>
              </a:ext>
            </a:extLst>
          </p:cNvPr>
          <p:cNvSpPr/>
          <p:nvPr/>
        </p:nvSpPr>
        <p:spPr>
          <a:xfrm>
            <a:off x="3307080" y="3017520"/>
            <a:ext cx="2529840" cy="1160740"/>
          </a:xfrm>
          <a:prstGeom prst="rect">
            <a:avLst/>
          </a:prstGeom>
          <a:solidFill>
            <a:srgbClr val="B7D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4B20409-36E2-0C47-C0E8-7E220D528634}"/>
              </a:ext>
            </a:extLst>
          </p:cNvPr>
          <p:cNvSpPr/>
          <p:nvPr/>
        </p:nvSpPr>
        <p:spPr>
          <a:xfrm>
            <a:off x="3380232" y="3072384"/>
            <a:ext cx="2383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 = 0.9</a:t>
            </a:r>
            <a:endParaRPr lang="en-US" sz="13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803F7DF-0651-B0F1-A140-65F57A79D8F7}"/>
              </a:ext>
            </a:extLst>
          </p:cNvPr>
          <p:cNvSpPr/>
          <p:nvPr/>
        </p:nvSpPr>
        <p:spPr>
          <a:xfrm>
            <a:off x="3380232" y="3661898"/>
            <a:ext cx="2383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cs typeface="Arial" pitchFamily="34" charset="-120"/>
              </a:rPr>
              <a:t>Typical reasonable value, standard in many setups</a:t>
            </a:r>
            <a:endParaRPr lang="en-US" sz="12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FE33E39-3E7D-7275-33E8-58CEF9709C0C}"/>
              </a:ext>
            </a:extLst>
          </p:cNvPr>
          <p:cNvSpPr/>
          <p:nvPr/>
        </p:nvSpPr>
        <p:spPr>
          <a:xfrm>
            <a:off x="6065520" y="3017520"/>
            <a:ext cx="2529840" cy="1160740"/>
          </a:xfrm>
          <a:prstGeom prst="rect">
            <a:avLst/>
          </a:prstGeom>
          <a:solidFill>
            <a:srgbClr val="FDD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2BA3739-A08F-4857-1185-FC2EA2493533}"/>
              </a:ext>
            </a:extLst>
          </p:cNvPr>
          <p:cNvSpPr/>
          <p:nvPr/>
        </p:nvSpPr>
        <p:spPr>
          <a:xfrm>
            <a:off x="6138672" y="3072384"/>
            <a:ext cx="2383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 → 1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0A69B0B-72D5-084A-B3B2-82DC3519C152}"/>
              </a:ext>
            </a:extLst>
          </p:cNvPr>
          <p:cNvSpPr/>
          <p:nvPr/>
        </p:nvSpPr>
        <p:spPr>
          <a:xfrm>
            <a:off x="6138672" y="3557016"/>
            <a:ext cx="2383536" cy="42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far-sighted: future counts almost as much as now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A923FD-743C-E199-215D-7B908C832294}"/>
                  </a:ext>
                </a:extLst>
              </p:cNvPr>
              <p:cNvSpPr txBox="1"/>
              <p:nvPr/>
            </p:nvSpPr>
            <p:spPr>
              <a:xfrm>
                <a:off x="5763768" y="1619096"/>
                <a:ext cx="212878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400" dirty="0"/>
                  <a:t> is called ”discount factor”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A923FD-743C-E199-215D-7B908C832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768" y="1619096"/>
                <a:ext cx="2128788" cy="215444"/>
              </a:xfrm>
              <a:prstGeom prst="rect">
                <a:avLst/>
              </a:prstGeom>
              <a:blipFill>
                <a:blip r:embed="rId3"/>
                <a:stretch>
                  <a:fillRect l="-3571" t="-27778" r="-4167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894839-43B9-5B35-A675-ECA24F2339B3}"/>
                  </a:ext>
                </a:extLst>
              </p:cNvPr>
              <p:cNvSpPr txBox="1"/>
              <p:nvPr/>
            </p:nvSpPr>
            <p:spPr>
              <a:xfrm>
                <a:off x="5763768" y="1956876"/>
                <a:ext cx="278389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400" dirty="0"/>
                  <a:t> is called ”expected return”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894839-43B9-5B35-A675-ECA24F233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768" y="1956876"/>
                <a:ext cx="2783895" cy="215444"/>
              </a:xfrm>
              <a:prstGeom prst="rect">
                <a:avLst/>
              </a:prstGeom>
              <a:blipFill>
                <a:blip r:embed="rId4"/>
                <a:stretch>
                  <a:fillRect l="-2283" t="-29412" b="-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1725E7E-D46D-FAA7-2586-67543A1BDE6F}"/>
              </a:ext>
            </a:extLst>
          </p:cNvPr>
          <p:cNvSpPr txBox="1">
            <a:spLocks/>
          </p:cNvSpPr>
          <p:nvPr/>
        </p:nvSpPr>
        <p:spPr bwMode="auto">
          <a:xfrm>
            <a:off x="485086" y="4533343"/>
            <a:ext cx="8178894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Goal is to select actions to </a:t>
            </a:r>
            <a:r>
              <a:rPr lang="en-US" sz="1600" dirty="0" err="1"/>
              <a:t>maximise</a:t>
            </a:r>
            <a:r>
              <a:rPr lang="en-US" sz="1600" dirty="0"/>
              <a:t> the expected return</a:t>
            </a:r>
          </a:p>
          <a:p>
            <a:r>
              <a:rPr lang="en-US" sz="1600" dirty="0"/>
              <a:t>Actions might have long term consequences</a:t>
            </a:r>
          </a:p>
          <a:p>
            <a:r>
              <a:rPr lang="en-US" sz="1600" dirty="0"/>
              <a:t>Reward might be delayed</a:t>
            </a:r>
          </a:p>
          <a:p>
            <a:r>
              <a:rPr lang="en-US" sz="1600" dirty="0"/>
              <a:t>It might be better to sacrifice immediate reward to gain long-term reward</a:t>
            </a:r>
          </a:p>
          <a:p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7030A0"/>
                </a:solidFill>
              </a:rPr>
              <a:t>”A climber might need to go down a hill to get up a mountain” </a:t>
            </a:r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76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6749-490D-1512-0162-0FE460D72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61FF0-9E56-E917-C311-62ACB2BF1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elements of 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E25F0-0E2F-B23B-C34F-32A66E8B0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448482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The environment and the state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ED3AF3-72F7-C95C-BADD-10126A258FCD}"/>
              </a:ext>
            </a:extLst>
          </p:cNvPr>
          <p:cNvSpPr/>
          <p:nvPr/>
        </p:nvSpPr>
        <p:spPr>
          <a:xfrm>
            <a:off x="387762" y="2183175"/>
            <a:ext cx="2736304" cy="33826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CFBC1D-C125-D9D7-B2BA-1A3045EBA2FC}"/>
              </a:ext>
            </a:extLst>
          </p:cNvPr>
          <p:cNvSpPr/>
          <p:nvPr/>
        </p:nvSpPr>
        <p:spPr>
          <a:xfrm>
            <a:off x="3249499" y="2197685"/>
            <a:ext cx="2736304" cy="33681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B1C215-710D-FB9B-A16C-BDC4253573C4}"/>
              </a:ext>
            </a:extLst>
          </p:cNvPr>
          <p:cNvSpPr txBox="1"/>
          <p:nvPr/>
        </p:nvSpPr>
        <p:spPr>
          <a:xfrm>
            <a:off x="497109" y="2856602"/>
            <a:ext cx="25176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State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rgbClr val="7030A0"/>
                </a:solidFill>
              </a:rPr>
              <a:t>The total complete description of the environment, e.g. the current state of a cartpole, the whole landscape in a navigation problem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A56DB-082B-E2D6-CBEE-2687A2147C43}"/>
              </a:ext>
            </a:extLst>
          </p:cNvPr>
          <p:cNvSpPr txBox="1"/>
          <p:nvPr/>
        </p:nvSpPr>
        <p:spPr>
          <a:xfrm>
            <a:off x="3317005" y="2878960"/>
            <a:ext cx="259229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Observation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What the agent actually perceives. This is often a part of the whole state or noisy, e.g. sensor readings, local pixels</a:t>
            </a:r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A2CC4C-A150-8CC8-3EE7-45356B17799D}"/>
              </a:ext>
            </a:extLst>
          </p:cNvPr>
          <p:cNvSpPr/>
          <p:nvPr/>
        </p:nvSpPr>
        <p:spPr>
          <a:xfrm>
            <a:off x="6117104" y="2197685"/>
            <a:ext cx="2736304" cy="33681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0AD4C-9B31-5A8E-78EA-21CC11BBE66C}"/>
              </a:ext>
            </a:extLst>
          </p:cNvPr>
          <p:cNvSpPr txBox="1"/>
          <p:nvPr/>
        </p:nvSpPr>
        <p:spPr>
          <a:xfrm>
            <a:off x="6189111" y="2893470"/>
            <a:ext cx="259229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History</a:t>
            </a:r>
          </a:p>
          <a:p>
            <a:endParaRPr lang="en-US" dirty="0"/>
          </a:p>
          <a:p>
            <a:pPr algn="ctr"/>
            <a:r>
              <a:rPr lang="en-US" sz="1400" dirty="0"/>
              <a:t>The collection of past actions, rewards and observations that the agent uses to take the next action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49603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CE34-5192-3DDA-3611-AC602B23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22CC-9235-5586-4DC4-988E2153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Markov Decision Process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A1656D88-31B0-2216-39B3-9274FDED5FDB}"/>
              </a:ext>
            </a:extLst>
          </p:cNvPr>
          <p:cNvSpPr/>
          <p:nvPr/>
        </p:nvSpPr>
        <p:spPr>
          <a:xfrm>
            <a:off x="1475656" y="1396100"/>
            <a:ext cx="6192688" cy="406580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694207F3-7337-1DC4-7F86-3455CA60BDAD}"/>
              </a:ext>
            </a:extLst>
          </p:cNvPr>
          <p:cNvSpPr/>
          <p:nvPr/>
        </p:nvSpPr>
        <p:spPr>
          <a:xfrm>
            <a:off x="1707227" y="1565690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ml_intro_deck/icons/clipboard_white.png">
            <a:extLst>
              <a:ext uri="{FF2B5EF4-FFF2-40B4-BE49-F238E27FC236}">
                <a16:creationId xmlns:a16="http://schemas.microsoft.com/office/drawing/2014/main" id="{8EA0C910-5C6B-6634-33AB-D243B1C5E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873" y="1708336"/>
            <a:ext cx="309067" cy="309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61EC9371-C950-4883-9E34-F05DF79A098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651726" y="1777448"/>
                <a:ext cx="4584570" cy="34350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 dirty="0"/>
                  <a:t>The current state contains all useful information from the history</a:t>
                </a:r>
              </a:p>
              <a:p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GB" sz="1400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The future is independent of the past, given the present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r>
                  <a:rPr lang="en-US" sz="1400" dirty="0"/>
                  <a:t>Once the state is known, the history might be thrown away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The current state is sufficient statistic of the future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We will often assume the environment is Markov, the state is Markov and the history is Markov</a:t>
                </a: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61EC9371-C950-4883-9E34-F05DF79A0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1726" y="1777448"/>
                <a:ext cx="4584570" cy="3435076"/>
              </a:xfrm>
              <a:prstGeom prst="rect">
                <a:avLst/>
              </a:prstGeom>
              <a:blipFill>
                <a:blip r:embed="rId4"/>
                <a:stretch>
                  <a:fillRect l="-276" t="-369" r="-1381" b="-258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1149EDC-8BB9-8D8B-0F8B-E3161DAEDB87}"/>
              </a:ext>
            </a:extLst>
          </p:cNvPr>
          <p:cNvSpPr txBox="1"/>
          <p:nvPr/>
        </p:nvSpPr>
        <p:spPr>
          <a:xfrm>
            <a:off x="251520" y="5843248"/>
            <a:ext cx="842493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observed systems are NOT Markovian: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 can still apply the same procedures as described below, but less guarantees regarding optimality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5804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5066B-5F32-9A4B-3879-7C7B21622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D2955-7A4D-92BE-C9F5-40F0556F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Markov Decision Process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A97FA35-DFB1-46D0-6BF7-C9CB04C5C713}"/>
              </a:ext>
            </a:extLst>
          </p:cNvPr>
          <p:cNvSpPr/>
          <p:nvPr/>
        </p:nvSpPr>
        <p:spPr>
          <a:xfrm>
            <a:off x="1475656" y="1396100"/>
            <a:ext cx="6192688" cy="1528844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E1AB7238-C0D8-A891-BF0A-EBB4860F6E9E}"/>
              </a:ext>
            </a:extLst>
          </p:cNvPr>
          <p:cNvSpPr/>
          <p:nvPr/>
        </p:nvSpPr>
        <p:spPr>
          <a:xfrm>
            <a:off x="1707227" y="1565690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ml_intro_deck/icons/clipboard_white.png">
            <a:extLst>
              <a:ext uri="{FF2B5EF4-FFF2-40B4-BE49-F238E27FC236}">
                <a16:creationId xmlns:a16="http://schemas.microsoft.com/office/drawing/2014/main" id="{C56FB018-B32E-B1E3-BBAE-30A34018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873" y="1708336"/>
            <a:ext cx="309067" cy="309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0AC8013B-9720-1709-8A44-B4652479C46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651726" y="1777448"/>
                <a:ext cx="4584570" cy="11474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b="1" dirty="0"/>
                  <a:t>State transitions give us the probability of transitioning to a different state</a:t>
                </a:r>
              </a:p>
              <a:p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𝒔𝒔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e>
                          <m:sSub>
                            <m:sSubPr>
                              <m:ctrlP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0AC8013B-9720-1709-8A44-B4652479C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1726" y="1777448"/>
                <a:ext cx="4584570" cy="1147496"/>
              </a:xfrm>
              <a:prstGeom prst="rect">
                <a:avLst/>
              </a:prstGeom>
              <a:blipFill>
                <a:blip r:embed="rId4"/>
                <a:stretch>
                  <a:fillRect l="-276" t="-109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Markov Chains in NLP - GeeksforGeeks">
            <a:extLst>
              <a:ext uri="{FF2B5EF4-FFF2-40B4-BE49-F238E27FC236}">
                <a16:creationId xmlns:a16="http://schemas.microsoft.com/office/drawing/2014/main" id="{72E2BF22-9AC0-E5BB-D1E8-02657A216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005" y="3140968"/>
            <a:ext cx="4202229" cy="316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05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22DEE-4D36-808E-572A-4B4D7B5F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F10D3-76CB-545F-4479-FCB40E55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elements of an RL agent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04EDD5-5006-E270-DB8A-ED24A07C2892}"/>
              </a:ext>
            </a:extLst>
          </p:cNvPr>
          <p:cNvSpPr/>
          <p:nvPr/>
        </p:nvSpPr>
        <p:spPr>
          <a:xfrm>
            <a:off x="270654" y="2204864"/>
            <a:ext cx="2736304" cy="28714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E4047B-AF00-F384-3011-7DB18EB8BE46}"/>
              </a:ext>
            </a:extLst>
          </p:cNvPr>
          <p:cNvSpPr/>
          <p:nvPr/>
        </p:nvSpPr>
        <p:spPr>
          <a:xfrm>
            <a:off x="3261552" y="2204864"/>
            <a:ext cx="2736304" cy="287146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8ECDE5-0F8B-DCA9-2767-9411082AFEDB}"/>
              </a:ext>
            </a:extLst>
          </p:cNvPr>
          <p:cNvSpPr txBox="1"/>
          <p:nvPr/>
        </p:nvSpPr>
        <p:spPr>
          <a:xfrm>
            <a:off x="380001" y="2665075"/>
            <a:ext cx="25176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Policy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rgbClr val="7030A0"/>
                </a:solidFill>
              </a:rPr>
              <a:t>Agent </a:t>
            </a:r>
            <a:r>
              <a:rPr lang="en-US" sz="1400" dirty="0" err="1">
                <a:solidFill>
                  <a:srgbClr val="7030A0"/>
                </a:solidFill>
              </a:rPr>
              <a:t>behaviour</a:t>
            </a:r>
            <a:r>
              <a:rPr lang="en-US" sz="1400" dirty="0">
                <a:solidFill>
                  <a:srgbClr val="7030A0"/>
                </a:solidFill>
              </a:rPr>
              <a:t> function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DCB79D-4DB8-80FE-5719-41A8F68AC2ED}"/>
              </a:ext>
            </a:extLst>
          </p:cNvPr>
          <p:cNvSpPr txBox="1"/>
          <p:nvPr/>
        </p:nvSpPr>
        <p:spPr>
          <a:xfrm>
            <a:off x="413335" y="4281734"/>
            <a:ext cx="24509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7030A0"/>
                </a:solidFill>
                <a:sym typeface="Wingdings" pitchFamily="2" charset="2"/>
              </a:rPr>
              <a:t>Example: </a:t>
            </a:r>
            <a:r>
              <a:rPr lang="en-US" sz="1200" dirty="0">
                <a:sym typeface="Wingdings" pitchFamily="2" charset="2"/>
              </a:rPr>
              <a:t>What should the agent do given a few inputs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AF16F3-E85C-BACE-27AE-BBEEA1F003F2}"/>
              </a:ext>
            </a:extLst>
          </p:cNvPr>
          <p:cNvSpPr txBox="1"/>
          <p:nvPr/>
        </p:nvSpPr>
        <p:spPr>
          <a:xfrm>
            <a:off x="3333559" y="2665075"/>
            <a:ext cx="259229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Value function (V)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rgbClr val="7030A0"/>
                </a:solidFill>
                <a:sym typeface="Wingdings" pitchFamily="2" charset="2"/>
              </a:rPr>
              <a:t>How good is each state and/or action</a:t>
            </a:r>
          </a:p>
          <a:p>
            <a:endParaRPr lang="en-US" sz="1400" dirty="0">
              <a:sym typeface="Wingdings" pitchFamily="2" charset="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C59D53-02D8-2762-9ECC-2F1D4F0888D0}"/>
              </a:ext>
            </a:extLst>
          </p:cNvPr>
          <p:cNvSpPr/>
          <p:nvPr/>
        </p:nvSpPr>
        <p:spPr>
          <a:xfrm>
            <a:off x="6217255" y="2204864"/>
            <a:ext cx="2736304" cy="28714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82D365-702C-EBEE-F7C5-9D0445A1D31E}"/>
              </a:ext>
            </a:extLst>
          </p:cNvPr>
          <p:cNvSpPr txBox="1"/>
          <p:nvPr/>
        </p:nvSpPr>
        <p:spPr>
          <a:xfrm>
            <a:off x="6326602" y="2665075"/>
            <a:ext cx="251761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Model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rgbClr val="7030A0"/>
                </a:solidFill>
                <a:sym typeface="Wingdings" pitchFamily="2" charset="2"/>
              </a:rPr>
              <a:t>The agent representation of the environment</a:t>
            </a:r>
          </a:p>
          <a:p>
            <a:endParaRPr lang="en-US" sz="1400" dirty="0">
              <a:sym typeface="Wingdings" pitchFamily="2" charset="2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4DE4DBA-BA6D-5EFC-A3C5-665882E61086}"/>
              </a:ext>
            </a:extLst>
          </p:cNvPr>
          <p:cNvSpPr txBox="1">
            <a:spLocks/>
          </p:cNvSpPr>
          <p:nvPr/>
        </p:nvSpPr>
        <p:spPr bwMode="auto">
          <a:xfrm>
            <a:off x="323528" y="1618927"/>
            <a:ext cx="8352928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600" dirty="0"/>
              <a:t>Can have one or several of: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6067D-CA9F-7638-C7CA-080F2D2A661F}"/>
              </a:ext>
            </a:extLst>
          </p:cNvPr>
          <p:cNvSpPr txBox="1"/>
          <p:nvPr/>
        </p:nvSpPr>
        <p:spPr>
          <a:xfrm>
            <a:off x="3474907" y="4337663"/>
            <a:ext cx="2450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7030A0"/>
                </a:solidFill>
                <a:sym typeface="Wingdings" pitchFamily="2" charset="2"/>
              </a:rPr>
              <a:t>Example: </a:t>
            </a:r>
            <a:r>
              <a:rPr lang="en-US" sz="1200" dirty="0">
                <a:sym typeface="Wingdings" pitchFamily="2" charset="2"/>
              </a:rPr>
              <a:t>In navigation problem, moving to the left in this square is great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12057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FA6F6-39BE-1020-4F01-0DAA0462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B50BE-9F0A-C4B4-FF39-611B633D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policy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6DC3F3B-7495-0017-4FCD-DE42632D61A0}"/>
              </a:ext>
            </a:extLst>
          </p:cNvPr>
          <p:cNvSpPr/>
          <p:nvPr/>
        </p:nvSpPr>
        <p:spPr>
          <a:xfrm>
            <a:off x="1475656" y="1396100"/>
            <a:ext cx="6192688" cy="406580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E7B9234-1AC5-DA1B-FD38-379C9C84CFA4}"/>
              </a:ext>
            </a:extLst>
          </p:cNvPr>
          <p:cNvSpPr/>
          <p:nvPr/>
        </p:nvSpPr>
        <p:spPr>
          <a:xfrm>
            <a:off x="1707227" y="1565690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ml_intro_deck/icons/clipboard_white.png">
            <a:extLst>
              <a:ext uri="{FF2B5EF4-FFF2-40B4-BE49-F238E27FC236}">
                <a16:creationId xmlns:a16="http://schemas.microsoft.com/office/drawing/2014/main" id="{2E61467A-60EB-F692-6507-86A1963F2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873" y="1708336"/>
            <a:ext cx="309067" cy="309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76FF35CD-C4D1-DD0E-C803-60A5D1AA34B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651726" y="1565690"/>
                <a:ext cx="4785047" cy="38117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 dirty="0"/>
                  <a:t>A policy is the </a:t>
                </a:r>
                <a:r>
                  <a:rPr lang="en-US" sz="1400" b="1" dirty="0">
                    <a:solidFill>
                      <a:srgbClr val="7030A0"/>
                    </a:solidFill>
                  </a:rPr>
                  <a:t>agent’s </a:t>
                </a:r>
                <a:r>
                  <a:rPr lang="en-US" sz="1400" b="1" dirty="0" err="1">
                    <a:solidFill>
                      <a:srgbClr val="7030A0"/>
                    </a:solidFill>
                  </a:rPr>
                  <a:t>behaviour</a:t>
                </a:r>
                <a:endParaRPr lang="en-US" sz="1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400" dirty="0"/>
              </a:p>
              <a:p>
                <a:r>
                  <a:rPr lang="en-US" sz="1400" dirty="0"/>
                  <a:t>It is a map from a state to action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The current state is sufficient statistic of the future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We will often assume the environment is Markov, the state is Markov and the history is Markov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Can be </a:t>
                </a:r>
                <a:r>
                  <a:rPr lang="en-US" sz="1400" b="1" dirty="0">
                    <a:solidFill>
                      <a:srgbClr val="7030A0"/>
                    </a:solidFill>
                  </a:rPr>
                  <a:t>deterministic: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Or </a:t>
                </a:r>
                <a:r>
                  <a:rPr lang="en-US" sz="1400" b="1" dirty="0">
                    <a:solidFill>
                      <a:srgbClr val="7030A0"/>
                    </a:solidFill>
                  </a:rPr>
                  <a:t>stochastic: </a:t>
                </a:r>
                <a14:m>
                  <m:oMath xmlns:m="http://schemas.openxmlformats.org/officeDocument/2006/math">
                    <m:r>
                      <a:rPr lang="en-GB" sz="1400" b="1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sz="14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Often stochastic policies used while learning and deterministic for evaluation</a:t>
                </a: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76FF35CD-C4D1-DD0E-C803-60A5D1AA3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1726" y="1565690"/>
                <a:ext cx="4785047" cy="3811792"/>
              </a:xfrm>
              <a:prstGeom prst="rect">
                <a:avLst/>
              </a:prstGeom>
              <a:blipFill>
                <a:blip r:embed="rId4"/>
                <a:stretch>
                  <a:fillRect l="-265" t="-332" b="-132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4BE0AFB-AFCE-FEC1-1BF5-7DFF9921109C}"/>
              </a:ext>
            </a:extLst>
          </p:cNvPr>
          <p:cNvSpPr txBox="1"/>
          <p:nvPr/>
        </p:nvSpPr>
        <p:spPr>
          <a:xfrm>
            <a:off x="251520" y="5843248"/>
            <a:ext cx="842493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observed systems are NOT fully Markovian: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 can still apply the same procedures as described below, but less guarantees regarding optimality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45417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C7C1C-B90A-9C45-3C70-FC77004B9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CCC06-64F1-CE68-C7A0-8C790172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state-value function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79B2E3A-5F37-5ED7-D9B3-F99985BCD7DF}"/>
              </a:ext>
            </a:extLst>
          </p:cNvPr>
          <p:cNvSpPr/>
          <p:nvPr/>
        </p:nvSpPr>
        <p:spPr>
          <a:xfrm>
            <a:off x="323528" y="1396099"/>
            <a:ext cx="8111580" cy="2032901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DAB8C325-2C49-332B-33AB-DC1058D749BB}"/>
              </a:ext>
            </a:extLst>
          </p:cNvPr>
          <p:cNvSpPr/>
          <p:nvPr/>
        </p:nvSpPr>
        <p:spPr>
          <a:xfrm>
            <a:off x="566246" y="1549816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ml_intro_deck/icons/clipboard_white.png">
            <a:extLst>
              <a:ext uri="{FF2B5EF4-FFF2-40B4-BE49-F238E27FC236}">
                <a16:creationId xmlns:a16="http://schemas.microsoft.com/office/drawing/2014/main" id="{D6C39331-C2D7-B4E8-D97E-1FA430181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92" y="1692462"/>
            <a:ext cx="309067" cy="309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E2C1973A-96CC-122E-F663-9B01E5F6E5C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03252" y="1565690"/>
                <a:ext cx="7131856" cy="17192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 dirty="0"/>
                  <a:t>A prediction of future reward</a:t>
                </a:r>
                <a:endParaRPr lang="en-US" sz="1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+…|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E2C1973A-96CC-122E-F663-9B01E5F6E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3252" y="1565690"/>
                <a:ext cx="7131856" cy="1719294"/>
              </a:xfrm>
              <a:prstGeom prst="rect">
                <a:avLst/>
              </a:prstGeom>
              <a:blipFill>
                <a:blip r:embed="rId4"/>
                <a:stretch>
                  <a:fillRect l="-178" t="-73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1396A3C-F534-8EB9-8C25-C3CD98CE81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0" t="5965" b="650"/>
          <a:stretch>
            <a:fillRect/>
          </a:stretch>
        </p:blipFill>
        <p:spPr>
          <a:xfrm>
            <a:off x="1126984" y="3933056"/>
            <a:ext cx="2498899" cy="25409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06F591-379F-3E1F-7BE9-F65CDA43B413}"/>
                  </a:ext>
                </a:extLst>
              </p:cNvPr>
              <p:cNvSpPr txBox="1"/>
              <p:nvPr/>
            </p:nvSpPr>
            <p:spPr>
              <a:xfrm>
                <a:off x="2525431" y="2689175"/>
                <a:ext cx="4529498" cy="307777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06F591-379F-3E1F-7BE9-F65CDA43B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431" y="2689175"/>
                <a:ext cx="4529498" cy="307777"/>
              </a:xfrm>
              <a:prstGeom prst="rect">
                <a:avLst/>
              </a:prstGeom>
              <a:blipFill>
                <a:blip r:embed="rId7"/>
                <a:stretch>
                  <a:fillRect b="-11538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3AD5F83-B68C-0EFD-80BC-5DF4EF19DB4B}"/>
              </a:ext>
            </a:extLst>
          </p:cNvPr>
          <p:cNvSpPr txBox="1"/>
          <p:nvPr/>
        </p:nvSpPr>
        <p:spPr>
          <a:xfrm>
            <a:off x="669995" y="2567516"/>
            <a:ext cx="1784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Bellman’s equation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D3A9A7-998A-EFF6-9163-CE2DA0BF02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933056"/>
            <a:ext cx="3079672" cy="264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14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55B9D-455C-CCEA-ECE3-57290C06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E7F9-C725-5511-B651-66DD6F7E4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action-value function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43288C9-47FF-DDF3-394F-A839E29231CF}"/>
              </a:ext>
            </a:extLst>
          </p:cNvPr>
          <p:cNvSpPr/>
          <p:nvPr/>
        </p:nvSpPr>
        <p:spPr>
          <a:xfrm>
            <a:off x="323528" y="1396099"/>
            <a:ext cx="8111580" cy="4337157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9D871C5E-290E-E08D-EA0F-BEFE7B9B5AB5}"/>
              </a:ext>
            </a:extLst>
          </p:cNvPr>
          <p:cNvSpPr/>
          <p:nvPr/>
        </p:nvSpPr>
        <p:spPr>
          <a:xfrm>
            <a:off x="566246" y="1549816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ml_intro_deck/icons/clipboard_white.png">
            <a:extLst>
              <a:ext uri="{FF2B5EF4-FFF2-40B4-BE49-F238E27FC236}">
                <a16:creationId xmlns:a16="http://schemas.microsoft.com/office/drawing/2014/main" id="{2E79E00E-A733-A605-D717-1504964C0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92" y="1692462"/>
            <a:ext cx="309067" cy="309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03BE2BE-E988-335E-D35C-320DD75DB89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204206" y="1845081"/>
                <a:ext cx="7131856" cy="36168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 dirty="0"/>
                  <a:t>A prediction of future reward </a:t>
                </a:r>
                <a:r>
                  <a:rPr lang="en-US" sz="1400" b="1" dirty="0">
                    <a:solidFill>
                      <a:srgbClr val="7030A0"/>
                    </a:solidFill>
                  </a:rPr>
                  <a:t>if we take a particular action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r>
                  <a:rPr lang="en-US" sz="1400" dirty="0"/>
                  <a:t>It is advantageous in RL because it tells us directly which action to take, without a model</a:t>
                </a:r>
              </a:p>
              <a:p>
                <a:endParaRPr lang="en-US" sz="1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+…|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r>
                  <a:rPr lang="en-US" sz="1400" dirty="0"/>
                  <a:t>Related to the state-value function as</a:t>
                </a:r>
              </a:p>
              <a:p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This is the state value is the sum of the Q values (expected reward for an action and state) for all possible actions, multiplied by the probability of the policy choosing this action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03BE2BE-E988-335E-D35C-320DD75DB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4206" y="1845081"/>
                <a:ext cx="7131856" cy="3616819"/>
              </a:xfrm>
              <a:prstGeom prst="rect">
                <a:avLst/>
              </a:prstGeom>
              <a:blipFill>
                <a:blip r:embed="rId4"/>
                <a:stretch>
                  <a:fillRect l="-356" t="-35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8C25AB9-BB40-F96D-A559-E72A8ED254AF}"/>
              </a:ext>
            </a:extLst>
          </p:cNvPr>
          <p:cNvSpPr txBox="1"/>
          <p:nvPr/>
        </p:nvSpPr>
        <p:spPr>
          <a:xfrm>
            <a:off x="251520" y="5966358"/>
            <a:ext cx="842493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 always want to find the best action value function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4652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ED131-2E36-8C2D-8010-FF2842BB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9BB1-22C6-D6F1-007D-4DE44CA59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elements of MDP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4FDDD-368E-D00C-21AC-57016276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575922"/>
            <a:ext cx="8229600" cy="62006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We need all the elements described above, and ML will learn/approximate/use some of them</a:t>
            </a:r>
            <a:endParaRPr lang="en-US" sz="18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B54BBEC-028C-41FC-3536-ED7AF5569BFC}"/>
              </a:ext>
            </a:extLst>
          </p:cNvPr>
          <p:cNvSpPr/>
          <p:nvPr/>
        </p:nvSpPr>
        <p:spPr>
          <a:xfrm>
            <a:off x="2611948" y="2495168"/>
            <a:ext cx="1005840" cy="100584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ml_intro_deck/icons/lightbulb_white.png">
            <a:extLst>
              <a:ext uri="{FF2B5EF4-FFF2-40B4-BE49-F238E27FC236}">
                <a16:creationId xmlns:a16="http://schemas.microsoft.com/office/drawing/2014/main" id="{BB94ABF1-2BBA-C761-C9DB-EA873E27F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350" y="2736570"/>
            <a:ext cx="523037" cy="523037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5EA3A454-5FE0-EDFF-9609-8E6EA454C037}"/>
              </a:ext>
            </a:extLst>
          </p:cNvPr>
          <p:cNvSpPr/>
          <p:nvPr/>
        </p:nvSpPr>
        <p:spPr>
          <a:xfrm>
            <a:off x="900596" y="3598027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States</a:t>
            </a:r>
            <a:endParaRPr lang="en-US" sz="11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BAB14D9-231A-32D8-C94D-FCE113816E89}"/>
              </a:ext>
            </a:extLst>
          </p:cNvPr>
          <p:cNvSpPr/>
          <p:nvPr/>
        </p:nvSpPr>
        <p:spPr>
          <a:xfrm>
            <a:off x="3917093" y="2492896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ml_intro_deck/icons/eye_white.png">
            <a:extLst>
              <a:ext uri="{FF2B5EF4-FFF2-40B4-BE49-F238E27FC236}">
                <a16:creationId xmlns:a16="http://schemas.microsoft.com/office/drawing/2014/main" id="{274D6648-6C12-7174-13CF-978BA3573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495" y="2734298"/>
            <a:ext cx="523037" cy="523037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62C5E71D-647A-132C-9548-59D44085EC23}"/>
              </a:ext>
            </a:extLst>
          </p:cNvPr>
          <p:cNvSpPr/>
          <p:nvPr/>
        </p:nvSpPr>
        <p:spPr>
          <a:xfrm>
            <a:off x="2276359" y="3598027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</a:t>
            </a:r>
            <a:endParaRPr lang="en-US" sz="11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F550902-F5BC-78F7-030F-25214B477F70}"/>
              </a:ext>
            </a:extLst>
          </p:cNvPr>
          <p:cNvSpPr/>
          <p:nvPr/>
        </p:nvSpPr>
        <p:spPr>
          <a:xfrm>
            <a:off x="6519762" y="2522396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ml_intro_deck/icons/database_white.png">
            <a:extLst>
              <a:ext uri="{FF2B5EF4-FFF2-40B4-BE49-F238E27FC236}">
                <a16:creationId xmlns:a16="http://schemas.microsoft.com/office/drawing/2014/main" id="{8FAACDD7-6ADE-3316-08BB-735E4B6B7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163" y="2763798"/>
            <a:ext cx="523037" cy="523037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BDB1ED00-A605-3232-C9A1-1FAD43444821}"/>
              </a:ext>
            </a:extLst>
          </p:cNvPr>
          <p:cNvSpPr/>
          <p:nvPr/>
        </p:nvSpPr>
        <p:spPr>
          <a:xfrm>
            <a:off x="3602238" y="3598027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Transitions</a:t>
            </a:r>
            <a:endParaRPr lang="en-US" sz="115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E0DDB2FE-6FF4-89E2-1F1B-754A324D296A}"/>
              </a:ext>
            </a:extLst>
          </p:cNvPr>
          <p:cNvSpPr/>
          <p:nvPr/>
        </p:nvSpPr>
        <p:spPr>
          <a:xfrm>
            <a:off x="5232608" y="2473315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ml_intro_deck/icons/compass_white.png">
            <a:extLst>
              <a:ext uri="{FF2B5EF4-FFF2-40B4-BE49-F238E27FC236}">
                <a16:creationId xmlns:a16="http://schemas.microsoft.com/office/drawing/2014/main" id="{B9824BD9-64D3-F5FF-194A-B889D2EEA7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4010" y="2714717"/>
            <a:ext cx="523037" cy="523037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528CFAA7-029B-D910-FB34-31716CD86F44}"/>
              </a:ext>
            </a:extLst>
          </p:cNvPr>
          <p:cNvSpPr/>
          <p:nvPr/>
        </p:nvSpPr>
        <p:spPr>
          <a:xfrm>
            <a:off x="4912568" y="3598027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lang="en-US" sz="115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0C6EC782-3355-82CA-EB27-97FADA74E509}"/>
              </a:ext>
            </a:extLst>
          </p:cNvPr>
          <p:cNvSpPr/>
          <p:nvPr/>
        </p:nvSpPr>
        <p:spPr>
          <a:xfrm>
            <a:off x="1220637" y="2522396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/home/claude/ml_intro_deck/icons/layers_white.png">
            <a:extLst>
              <a:ext uri="{FF2B5EF4-FFF2-40B4-BE49-F238E27FC236}">
                <a16:creationId xmlns:a16="http://schemas.microsoft.com/office/drawing/2014/main" id="{F22332BD-5252-77BA-5978-384BE770C0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2038" y="2763798"/>
            <a:ext cx="523037" cy="523037"/>
          </a:xfrm>
          <a:prstGeom prst="rect">
            <a:avLst/>
          </a:prstGeom>
        </p:spPr>
      </p:pic>
      <p:sp>
        <p:nvSpPr>
          <p:cNvPr id="24" name="Text 17">
            <a:extLst>
              <a:ext uri="{FF2B5EF4-FFF2-40B4-BE49-F238E27FC236}">
                <a16:creationId xmlns:a16="http://schemas.microsoft.com/office/drawing/2014/main" id="{EDA408D0-E3ED-CF3C-4CD5-C63DA577182A}"/>
              </a:ext>
            </a:extLst>
          </p:cNvPr>
          <p:cNvSpPr/>
          <p:nvPr/>
        </p:nvSpPr>
        <p:spPr>
          <a:xfrm>
            <a:off x="6238448" y="3598027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</a:t>
            </a:r>
            <a:endParaRPr lang="en-US" sz="11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A297B-CEA3-F5FF-F328-085E855437F2}"/>
              </a:ext>
            </a:extLst>
          </p:cNvPr>
          <p:cNvSpPr txBox="1"/>
          <p:nvPr/>
        </p:nvSpPr>
        <p:spPr>
          <a:xfrm>
            <a:off x="1132121" y="4233502"/>
            <a:ext cx="1182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Possible situations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8356D8-139E-E63B-31CD-5253C7AA447E}"/>
              </a:ext>
            </a:extLst>
          </p:cNvPr>
          <p:cNvSpPr txBox="1"/>
          <p:nvPr/>
        </p:nvSpPr>
        <p:spPr>
          <a:xfrm>
            <a:off x="2523433" y="4267825"/>
            <a:ext cx="1182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What to do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BFDB9B-CAD5-8369-D4F5-14A17F607F73}"/>
              </a:ext>
            </a:extLst>
          </p:cNvPr>
          <p:cNvSpPr txBox="1"/>
          <p:nvPr/>
        </p:nvSpPr>
        <p:spPr>
          <a:xfrm>
            <a:off x="3828578" y="4160103"/>
            <a:ext cx="11828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How we move in our ”world”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989D5C-BCC8-5DFA-4013-E700B3696CA1}"/>
              </a:ext>
            </a:extLst>
          </p:cNvPr>
          <p:cNvSpPr txBox="1"/>
          <p:nvPr/>
        </p:nvSpPr>
        <p:spPr>
          <a:xfrm>
            <a:off x="5144093" y="4219819"/>
            <a:ext cx="1182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How well we are doing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A7879E-8CB6-97FB-AE8B-2A8EB4C24A52}"/>
              </a:ext>
            </a:extLst>
          </p:cNvPr>
          <p:cNvSpPr txBox="1"/>
          <p:nvPr/>
        </p:nvSpPr>
        <p:spPr>
          <a:xfrm>
            <a:off x="6469973" y="4177295"/>
            <a:ext cx="1182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How much does the future matter</a:t>
            </a:r>
          </a:p>
        </p:txBody>
      </p:sp>
    </p:spTree>
    <p:extLst>
      <p:ext uri="{BB962C8B-B14F-4D97-AF65-F5344CB8AC3E}">
        <p14:creationId xmlns:p14="http://schemas.microsoft.com/office/powerpoint/2010/main" val="4173826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7B246-A5EF-1F0C-E0E8-311111255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AD405-02D4-7557-28EB-75F7E8192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Bellman equation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C1056324-9124-B1D0-C058-CC29D229ED98}"/>
              </a:ext>
            </a:extLst>
          </p:cNvPr>
          <p:cNvSpPr/>
          <p:nvPr/>
        </p:nvSpPr>
        <p:spPr>
          <a:xfrm>
            <a:off x="323528" y="1396099"/>
            <a:ext cx="8111580" cy="2392941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8B6A5FFC-FC57-89C1-3326-4A5E84840E7D}"/>
              </a:ext>
            </a:extLst>
          </p:cNvPr>
          <p:cNvSpPr/>
          <p:nvPr/>
        </p:nvSpPr>
        <p:spPr>
          <a:xfrm>
            <a:off x="566246" y="1549816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ml_intro_deck/icons/clipboard_white.png">
            <a:extLst>
              <a:ext uri="{FF2B5EF4-FFF2-40B4-BE49-F238E27FC236}">
                <a16:creationId xmlns:a16="http://schemas.microsoft.com/office/drawing/2014/main" id="{8C616379-E2FA-4FFB-3DC4-65E689E3A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92" y="1692462"/>
            <a:ext cx="309067" cy="309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090ACB9C-D6DF-BD56-33A0-4328ACE3C58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03252" y="1565690"/>
                <a:ext cx="7131856" cy="17192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/>
                  <a:t>We can use a recursive definition. That recursion allows us to learn value estimates from experience, one step at a time, rather than having to wait and have the whole history</a:t>
                </a:r>
                <a:endParaRPr lang="en-US" sz="14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+…|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090ACB9C-D6DF-BD56-33A0-4328ACE3C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3252" y="1565690"/>
                <a:ext cx="7131856" cy="1719294"/>
              </a:xfrm>
              <a:prstGeom prst="rect">
                <a:avLst/>
              </a:prstGeom>
              <a:blipFill>
                <a:blip r:embed="rId4"/>
                <a:stretch>
                  <a:fillRect l="-178" t="-73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D78928-21CD-5919-6362-1D00AD04B2A2}"/>
                  </a:ext>
                </a:extLst>
              </p:cNvPr>
              <p:cNvSpPr txBox="1"/>
              <p:nvPr/>
            </p:nvSpPr>
            <p:spPr>
              <a:xfrm>
                <a:off x="2505800" y="2977207"/>
                <a:ext cx="4529498" cy="307777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D78928-21CD-5919-6362-1D00AD04B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800" y="2977207"/>
                <a:ext cx="4529498" cy="307777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2F19080-308C-A01C-C4A8-E838AA11120A}"/>
              </a:ext>
            </a:extLst>
          </p:cNvPr>
          <p:cNvSpPr txBox="1"/>
          <p:nvPr/>
        </p:nvSpPr>
        <p:spPr>
          <a:xfrm>
            <a:off x="650364" y="2821562"/>
            <a:ext cx="1784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Bellman’s equation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8F57E31-83DE-F556-1A1E-A313CCAA51F6}"/>
              </a:ext>
            </a:extLst>
          </p:cNvPr>
          <p:cNvSpPr/>
          <p:nvPr/>
        </p:nvSpPr>
        <p:spPr>
          <a:xfrm>
            <a:off x="323528" y="4398711"/>
            <a:ext cx="8111580" cy="1888885"/>
          </a:xfrm>
          <a:prstGeom prst="roundRect">
            <a:avLst>
              <a:gd name="adj" fmla="val 1957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FDC6827-749A-B489-7475-10B65141773E}"/>
              </a:ext>
            </a:extLst>
          </p:cNvPr>
          <p:cNvSpPr/>
          <p:nvPr/>
        </p:nvSpPr>
        <p:spPr>
          <a:xfrm>
            <a:off x="566246" y="4552428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F78D4803-2ABA-EB80-D85D-B687529E23B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03252" y="4568302"/>
                <a:ext cx="7131856" cy="17192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/>
                  <a:t>The same recursion holds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F78D4803-2ABA-EB80-D85D-B687529E2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3252" y="4568302"/>
                <a:ext cx="7131856" cy="1719294"/>
              </a:xfrm>
              <a:prstGeom prst="rect">
                <a:avLst/>
              </a:prstGeom>
              <a:blipFill>
                <a:blip r:embed="rId6"/>
                <a:stretch>
                  <a:fillRect l="-17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631E06-95A7-D0FA-97A7-8101F364C232}"/>
                  </a:ext>
                </a:extLst>
              </p:cNvPr>
              <p:cNvSpPr txBox="1"/>
              <p:nvPr/>
            </p:nvSpPr>
            <p:spPr>
              <a:xfrm>
                <a:off x="2307251" y="5369296"/>
                <a:ext cx="4529498" cy="307777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631E06-95A7-D0FA-97A7-8101F364C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251" y="5369296"/>
                <a:ext cx="4529498" cy="307777"/>
              </a:xfrm>
              <a:prstGeom prst="rect">
                <a:avLst/>
              </a:prstGeom>
              <a:blipFill>
                <a:blip r:embed="rId7"/>
                <a:stretch>
                  <a:fillRect b="-11538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 0" descr="/home/claude/ml_intro_deck/icons/clipboard_white.png">
            <a:extLst>
              <a:ext uri="{FF2B5EF4-FFF2-40B4-BE49-F238E27FC236}">
                <a16:creationId xmlns:a16="http://schemas.microsoft.com/office/drawing/2014/main" id="{0CD02596-A93A-0B90-E8DB-72CBE3C7F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91" y="4695074"/>
            <a:ext cx="309067" cy="3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64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59497-78E9-42AC-F8EC-7F2A6F94A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5B01F-637E-CD30-2527-5E9EDFCA3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Bellman optimality eq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7766E609-880E-ED8F-9D22-91930617C70E}"/>
              </a:ext>
            </a:extLst>
          </p:cNvPr>
          <p:cNvSpPr/>
          <p:nvPr/>
        </p:nvSpPr>
        <p:spPr>
          <a:xfrm>
            <a:off x="323528" y="1396099"/>
            <a:ext cx="8111580" cy="4913221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C855364-F727-4986-DADF-F397D4761B70}"/>
              </a:ext>
            </a:extLst>
          </p:cNvPr>
          <p:cNvSpPr/>
          <p:nvPr/>
        </p:nvSpPr>
        <p:spPr>
          <a:xfrm>
            <a:off x="566246" y="1549816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ml_intro_deck/icons/clipboard_white.png">
            <a:extLst>
              <a:ext uri="{FF2B5EF4-FFF2-40B4-BE49-F238E27FC236}">
                <a16:creationId xmlns:a16="http://schemas.microsoft.com/office/drawing/2014/main" id="{CD609830-E6B6-3DFB-D0BA-BA061A68E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92" y="1692462"/>
            <a:ext cx="309067" cy="309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CCA0E6FA-E821-500A-62A8-EAA17405966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03252" y="1565690"/>
                <a:ext cx="7131856" cy="4239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dirty="0"/>
                  <a:t>We consider now that we have the best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𝒎𝒂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  <a:p>
                <a:pPr marL="0" indent="0" algn="ctr">
                  <a:buNone/>
                </a:pPr>
                <a:endParaRPr lang="en-US" sz="1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𝒎𝒂</m:t>
                      </m:r>
                      <m:sSub>
                        <m:sSub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  <a:p>
                <a:pPr marL="0" indent="0" algn="ctr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GB" sz="1400" dirty="0"/>
                  <a:t>This means that if we take the best action available, the value of a state is the best of the immediate reward plus future value. We can then define:</a:t>
                </a:r>
              </a:p>
              <a:p>
                <a:pPr marL="0" indent="0">
                  <a:buNone/>
                </a:pPr>
                <a:endParaRPr lang="en-GB" sz="14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400" b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𝒎𝒂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1400" dirty="0"/>
                  <a:t>Which in turns means:</a:t>
                </a:r>
              </a:p>
              <a:p>
                <a:pPr marL="0" indent="0">
                  <a:buNone/>
                </a:pPr>
                <a:endParaRPr lang="en-US" sz="1400" dirty="0">
                  <a:solidFill>
                    <a:srgbClr val="7030A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7030A0"/>
                    </a:solidFill>
                  </a:rPr>
                  <a:t>Knowing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7030A0"/>
                    </a:solidFill>
                  </a:rPr>
                  <a:t> is enough to act optimally </a:t>
                </a:r>
              </a:p>
              <a:p>
                <a:pPr marL="0" indent="0" algn="ctr">
                  <a:buNone/>
                </a:pPr>
                <a:endParaRPr lang="en-US" sz="1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1400" b="1" dirty="0"/>
                  <a:t>This is the basis of what is called </a:t>
                </a:r>
                <a:r>
                  <a:rPr lang="en-US" sz="1400" b="1" dirty="0">
                    <a:solidFill>
                      <a:srgbClr val="7030A0"/>
                    </a:solidFill>
                  </a:rPr>
                  <a:t>Q-learning</a:t>
                </a:r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CCA0E6FA-E821-500A-62A8-EAA174059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3252" y="1565690"/>
                <a:ext cx="7131856" cy="4239574"/>
              </a:xfrm>
              <a:prstGeom prst="rect">
                <a:avLst/>
              </a:prstGeom>
              <a:blipFill>
                <a:blip r:embed="rId4"/>
                <a:stretch>
                  <a:fillRect l="-178" t="-29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3161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A33A-451F-829F-5984-101D3282E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2D6B-DCEF-194B-57CE-743BB18C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A note on solving MDPs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FB347-93C3-E010-8A0C-5161B50947BC}"/>
              </a:ext>
            </a:extLst>
          </p:cNvPr>
          <p:cNvSpPr txBox="1">
            <a:spLocks/>
          </p:cNvSpPr>
          <p:nvPr/>
        </p:nvSpPr>
        <p:spPr bwMode="auto">
          <a:xfrm>
            <a:off x="588385" y="1580889"/>
            <a:ext cx="7967229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If we know the transitions P, and the rewards R, we then know how the model works.</a:t>
            </a:r>
          </a:p>
          <a:p>
            <a:endParaRPr lang="en-US" sz="1600" dirty="0"/>
          </a:p>
          <a:p>
            <a:r>
              <a:rPr lang="en-US" sz="1600" dirty="0"/>
              <a:t>If we know the MDP model (not ML model), we can iteratively solve an MDP, there is nothing to learn. Here, we don’t need ML or NN. </a:t>
            </a:r>
          </a:p>
          <a:p>
            <a:endParaRPr lang="en-US" sz="1600" dirty="0"/>
          </a:p>
          <a:p>
            <a:r>
              <a:rPr lang="en-US" sz="1600" dirty="0"/>
              <a:t>This is the field of </a:t>
            </a:r>
            <a:r>
              <a:rPr lang="en-US" sz="1600" dirty="0">
                <a:solidFill>
                  <a:srgbClr val="7030A0"/>
                </a:solidFill>
              </a:rPr>
              <a:t>Dynamic Programming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dirty="0"/>
              <a:t>In real-world/engineering applications, this is very rarely the case. Here </a:t>
            </a:r>
            <a:r>
              <a:rPr lang="en-US" sz="1600" b="1" dirty="0">
                <a:solidFill>
                  <a:srgbClr val="7030A0"/>
                </a:solidFill>
              </a:rPr>
              <a:t>model-free RL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3A603-1CC9-82CB-E5FF-45637FD26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4614269"/>
            <a:ext cx="5472608" cy="203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4187-9D69-AB57-AD3F-FC8A23F67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E3D0-5E86-1B9C-A44C-9A83579F1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Model-free 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93207-819A-F837-431E-89EC783B7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670512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This is the most common approach in engineering/real-world applications. </a:t>
            </a:r>
            <a:r>
              <a:rPr lang="en-US" sz="1600" dirty="0"/>
              <a:t>As we saw, what we want is to get approximations of the value function</a:t>
            </a:r>
            <a:endParaRPr lang="en-US" sz="16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00B086-A91E-E785-1A05-E79B943D923E}"/>
              </a:ext>
            </a:extLst>
          </p:cNvPr>
          <p:cNvSpPr/>
          <p:nvPr/>
        </p:nvSpPr>
        <p:spPr>
          <a:xfrm>
            <a:off x="946416" y="2336086"/>
            <a:ext cx="3249597" cy="3368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6E8843-948E-5EF2-4663-E62A69686E5E}"/>
              </a:ext>
            </a:extLst>
          </p:cNvPr>
          <p:cNvSpPr/>
          <p:nvPr/>
        </p:nvSpPr>
        <p:spPr>
          <a:xfrm>
            <a:off x="5086400" y="2359666"/>
            <a:ext cx="3249597" cy="33681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68D427-1655-6D9D-7170-312E41AF00BE}"/>
              </a:ext>
            </a:extLst>
          </p:cNvPr>
          <p:cNvSpPr txBox="1"/>
          <p:nvPr/>
        </p:nvSpPr>
        <p:spPr>
          <a:xfrm>
            <a:off x="1312409" y="2883691"/>
            <a:ext cx="251761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Monte Carlo</a:t>
            </a:r>
          </a:p>
          <a:p>
            <a:endParaRPr lang="en-US" dirty="0"/>
          </a:p>
          <a:p>
            <a:pPr algn="ctr"/>
            <a:r>
              <a:rPr lang="en-US" sz="1400" dirty="0"/>
              <a:t>Wait until the end of the episode, then update the value estimate using the actual observed return. This is unbiased, but can have a huge variance and needs a terminal case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A20261-8930-0977-D1E6-F193F1A77B97}"/>
              </a:ext>
            </a:extLst>
          </p:cNvPr>
          <p:cNvSpPr txBox="1"/>
          <p:nvPr/>
        </p:nvSpPr>
        <p:spPr>
          <a:xfrm>
            <a:off x="5366823" y="2883691"/>
            <a:ext cx="268875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Temporal Difference (TD)</a:t>
            </a:r>
          </a:p>
          <a:p>
            <a:endParaRPr lang="en-US" dirty="0"/>
          </a:p>
          <a:p>
            <a:pPr algn="ctr"/>
            <a:r>
              <a:rPr lang="en-US" sz="1400" dirty="0"/>
              <a:t>Update the value function after every step, bootstrapping from the current value estimate of the next state. Lower variance, good for continuous tasks</a:t>
            </a:r>
            <a:endParaRPr lang="en-US" sz="1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C9486E-8179-E53D-9C29-AA742DE62A53}"/>
              </a:ext>
            </a:extLst>
          </p:cNvPr>
          <p:cNvSpPr txBox="1">
            <a:spLocks/>
          </p:cNvSpPr>
          <p:nvPr/>
        </p:nvSpPr>
        <p:spPr bwMode="auto">
          <a:xfrm>
            <a:off x="365653" y="5900167"/>
            <a:ext cx="8229600" cy="67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600" dirty="0">
                <a:solidFill>
                  <a:srgbClr val="7030A0"/>
                </a:solidFill>
              </a:rPr>
              <a:t>Bootstrapping: </a:t>
            </a:r>
            <a:r>
              <a:rPr lang="en-US" sz="1600" dirty="0"/>
              <a:t>means using one estimate to build another, TD updates its guess of V(s) using it’s own current guess of V(s’), rather than waiting for the true outcome.</a:t>
            </a:r>
          </a:p>
          <a:p>
            <a:pPr marL="0" indent="0">
              <a:buFont typeface="Arial" pitchFamily="34" charset="0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60802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221E-F93D-D004-608D-3E2586C36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6123-983B-1DB3-A75C-0CDE4D4B1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Model-free RL -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71BE7-8EAC-E0CC-4E51-0DB0A0DF2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67051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We classify the algorithms in two groups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3BAF76-9BC6-3B71-06F2-CCA60FAD98AC}"/>
              </a:ext>
            </a:extLst>
          </p:cNvPr>
          <p:cNvSpPr/>
          <p:nvPr/>
        </p:nvSpPr>
        <p:spPr>
          <a:xfrm>
            <a:off x="946416" y="2336086"/>
            <a:ext cx="3249597" cy="33681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24BABE-9AE8-C966-B0C2-33A851594685}"/>
              </a:ext>
            </a:extLst>
          </p:cNvPr>
          <p:cNvSpPr/>
          <p:nvPr/>
        </p:nvSpPr>
        <p:spPr>
          <a:xfrm>
            <a:off x="5086400" y="2359666"/>
            <a:ext cx="3249597" cy="33681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42F71F-E858-1C08-91C0-3581D6CB0EB8}"/>
                  </a:ext>
                </a:extLst>
              </p:cNvPr>
              <p:cNvSpPr txBox="1"/>
              <p:nvPr/>
            </p:nvSpPr>
            <p:spPr>
              <a:xfrm>
                <a:off x="1234200" y="2783213"/>
                <a:ext cx="2517610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On-policy learning</a:t>
                </a:r>
              </a:p>
              <a:p>
                <a:endParaRPr lang="en-US" dirty="0"/>
              </a:p>
              <a:p>
                <a:pPr algn="ctr"/>
                <a:r>
                  <a:rPr lang="en-US" sz="1400" dirty="0"/>
                  <a:t>Learn about policy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400" dirty="0"/>
                  <a:t> from experience sampled from that policy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42F71F-E858-1C08-91C0-3581D6CB0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200" y="2783213"/>
                <a:ext cx="2517610" cy="1292662"/>
              </a:xfrm>
              <a:prstGeom prst="rect">
                <a:avLst/>
              </a:prstGeom>
              <a:blipFill>
                <a:blip r:embed="rId3"/>
                <a:stretch>
                  <a:fillRect l="-500" t="-2913" r="-2500" b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1B82560-ED18-F319-91DE-6C216361FE7D}"/>
              </a:ext>
            </a:extLst>
          </p:cNvPr>
          <p:cNvSpPr txBox="1"/>
          <p:nvPr/>
        </p:nvSpPr>
        <p:spPr>
          <a:xfrm>
            <a:off x="5366823" y="2883691"/>
            <a:ext cx="268875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Off-policy learning</a:t>
            </a:r>
          </a:p>
          <a:p>
            <a:endParaRPr lang="en-US" dirty="0"/>
          </a:p>
          <a:p>
            <a:pPr algn="ctr"/>
            <a:r>
              <a:rPr lang="en-US" sz="1400" dirty="0"/>
              <a:t>Learn on a policy different than the one generating the data, e.g. one by another agent or a better on that it is currently following.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1F12D7-C2B3-FD95-2E3B-70AE05CFCD5E}"/>
              </a:ext>
            </a:extLst>
          </p:cNvPr>
          <p:cNvSpPr txBox="1"/>
          <p:nvPr/>
        </p:nvSpPr>
        <p:spPr>
          <a:xfrm>
            <a:off x="1312409" y="4763598"/>
            <a:ext cx="2517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“Learn while on the job”</a:t>
            </a:r>
            <a:endParaRPr 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2CB5FF-B830-2683-2B9C-F17CB654645B}"/>
              </a:ext>
            </a:extLst>
          </p:cNvPr>
          <p:cNvSpPr txBox="1"/>
          <p:nvPr/>
        </p:nvSpPr>
        <p:spPr>
          <a:xfrm>
            <a:off x="5530748" y="4790603"/>
            <a:ext cx="251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“Learn over someone’s shoulder”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71745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DC8BA-0452-4B56-69B4-DCFE474B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4A98-146D-5616-0ED5-508898E7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Q-learning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02F62-57C4-29F4-6F9C-406788C72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1312578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Today: </a:t>
            </a:r>
            <a:r>
              <a:rPr lang="en-US" sz="1600" dirty="0"/>
              <a:t>we will take a look at a sample-based way to enforce the Bellman optimality equation Q-learning. Intro algorithm to see how to learn, on Monday we will look at common choice of algorithm and algorithm selection</a:t>
            </a:r>
          </a:p>
          <a:p>
            <a:pPr marL="0" indent="0">
              <a:buNone/>
            </a:pPr>
            <a:endParaRPr 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ACACD8-6756-0589-C79A-95D112363CAA}"/>
                  </a:ext>
                </a:extLst>
              </p:cNvPr>
              <p:cNvSpPr txBox="1"/>
              <p:nvPr/>
            </p:nvSpPr>
            <p:spPr>
              <a:xfrm>
                <a:off x="1331640" y="2706092"/>
                <a:ext cx="6119336" cy="307777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GB" sz="1400" b="1" dirty="0">
                    <a:solidFill>
                      <a:srgbClr val="7030A0"/>
                    </a:solidFill>
                  </a:rPr>
                  <a:t>Q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400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d>
                      <m:dPr>
                        <m:ctrlP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GB" sz="14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14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𝒎𝒂</m:t>
                    </m:r>
                    <m:sSub>
                      <m:sSubPr>
                        <m:ctrlP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d>
                      <m:dPr>
                        <m:ctrlP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400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GB" sz="1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GB" sz="1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ACACD8-6756-0589-C79A-95D112363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2706092"/>
                <a:ext cx="6119336" cy="307777"/>
              </a:xfrm>
              <a:prstGeom prst="rect">
                <a:avLst/>
              </a:prstGeom>
              <a:blipFill>
                <a:blip r:embed="rId3"/>
                <a:stretch>
                  <a:fillRect b="-19231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7BAB7AD8-F134-518B-4BCC-0BEF91AE8CF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95536" y="4293096"/>
                <a:ext cx="8229600" cy="24482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:r>
                  <a:rPr lang="en-US" sz="1600" dirty="0"/>
                  <a:t>Q-learning always images taking the best possible next action when it updates.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1600" dirty="0"/>
              </a:p>
              <a:p>
                <a:r>
                  <a:rPr lang="en-US" sz="1600" dirty="0"/>
                  <a:t>It only learns about the actions and states it visits</a:t>
                </a:r>
              </a:p>
              <a:p>
                <a:r>
                  <a:rPr lang="en-US" sz="1600" b="1" dirty="0">
                    <a:solidFill>
                      <a:srgbClr val="7030A0"/>
                    </a:solidFill>
                  </a:rPr>
                  <a:t>Exploration-exploitation tradeoff: </a:t>
                </a:r>
                <a:r>
                  <a:rPr lang="en-US" sz="1600" dirty="0"/>
                  <a:t>pick suboptimal actions to visit new states and actions</a:t>
                </a:r>
              </a:p>
              <a:p>
                <a:pPr lvl="1"/>
                <a:r>
                  <a:rPr lang="en-US" sz="1400" b="1" dirty="0"/>
                  <a:t>How? </a:t>
                </a:r>
                <a:r>
                  <a:rPr lang="en-US" sz="14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en-GB" sz="1400" b="1" dirty="0">
                    <a:solidFill>
                      <a:srgbClr val="7030A0"/>
                    </a:solidFill>
                  </a:rPr>
                  <a:t>-greedy. </a:t>
                </a:r>
                <a:r>
                  <a:rPr lang="en-GB" sz="1400" dirty="0"/>
                  <a:t>With probability epsilon, choose a random action, with probability 1-epsilon choose the optimal action according to Q</a:t>
                </a:r>
                <a:endParaRPr lang="en-US" sz="1400" b="1" dirty="0"/>
              </a:p>
              <a:p>
                <a:pPr marL="0" indent="0">
                  <a:buFont typeface="Arial" pitchFamily="34" charset="0"/>
                  <a:buNone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7BAB7AD8-F134-518B-4BCC-0BEF91AE8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4293096"/>
                <a:ext cx="8229600" cy="2448272"/>
              </a:xfrm>
              <a:prstGeom prst="rect">
                <a:avLst/>
              </a:prstGeom>
              <a:blipFill>
                <a:blip r:embed="rId4"/>
                <a:stretch>
                  <a:fillRect l="-462" t="-51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0FE9E1-818B-0AAC-6527-C307753CABA9}"/>
                  </a:ext>
                </a:extLst>
              </p:cNvPr>
              <p:cNvSpPr txBox="1"/>
              <p:nvPr/>
            </p:nvSpPr>
            <p:spPr>
              <a:xfrm>
                <a:off x="1403648" y="3155886"/>
                <a:ext cx="163410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/>
                  <a:t> is the learning rate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0FE9E1-818B-0AAC-6527-C307753CA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3155886"/>
                <a:ext cx="1634102" cy="215444"/>
              </a:xfrm>
              <a:prstGeom prst="rect">
                <a:avLst/>
              </a:prstGeom>
              <a:blipFill>
                <a:blip r:embed="rId5"/>
                <a:stretch>
                  <a:fillRect l="-3077" t="-27778" r="-5385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C323AA-F937-B6C5-BAD2-0E053C6B2B71}"/>
                  </a:ext>
                </a:extLst>
              </p:cNvPr>
              <p:cNvSpPr txBox="1"/>
              <p:nvPr/>
            </p:nvSpPr>
            <p:spPr>
              <a:xfrm>
                <a:off x="1403648" y="3452300"/>
                <a:ext cx="441505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1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1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1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𝑚𝑎</m:t>
                    </m:r>
                    <m:sSub>
                      <m:sSubPr>
                        <m:ctrlPr>
                          <a:rPr lang="en-GB" sz="1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GB" sz="1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1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sz="1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GB" sz="1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is the TD (time difference) target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C323AA-F937-B6C5-BAD2-0E053C6B2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3452300"/>
                <a:ext cx="4415055" cy="215444"/>
              </a:xfrm>
              <a:prstGeom prst="rect">
                <a:avLst/>
              </a:prstGeom>
              <a:blipFill>
                <a:blip r:embed="rId6"/>
                <a:stretch>
                  <a:fillRect l="-1433" t="-22222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C807A1-55E1-F500-4D8A-2E88C60E4CA6}"/>
                  </a:ext>
                </a:extLst>
              </p:cNvPr>
              <p:cNvSpPr txBox="1"/>
              <p:nvPr/>
            </p:nvSpPr>
            <p:spPr>
              <a:xfrm>
                <a:off x="1409607" y="3756586"/>
                <a:ext cx="282590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TD target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GB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 is the TD error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C807A1-55E1-F500-4D8A-2E88C60E4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607" y="3756586"/>
                <a:ext cx="2825902" cy="215444"/>
              </a:xfrm>
              <a:prstGeom prst="rect">
                <a:avLst/>
              </a:prstGeom>
              <a:blipFill>
                <a:blip r:embed="rId7"/>
                <a:stretch>
                  <a:fillRect l="-3571" t="-22222" r="-3125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3050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787AD-6F53-6C42-638B-CA456F7B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5FD2C-325A-E9C2-0D3A-4E231C919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4" y="236425"/>
            <a:ext cx="6650995" cy="1143000"/>
          </a:xfrm>
        </p:spPr>
        <p:txBody>
          <a:bodyPr/>
          <a:lstStyle/>
          <a:p>
            <a:r>
              <a:rPr lang="en-US" dirty="0"/>
              <a:t>Q-learning – Why does it work?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D77C97-9440-CD7F-5B97-CEE5E463D3D1}"/>
              </a:ext>
            </a:extLst>
          </p:cNvPr>
          <p:cNvSpPr/>
          <p:nvPr/>
        </p:nvSpPr>
        <p:spPr>
          <a:xfrm>
            <a:off x="539552" y="1999138"/>
            <a:ext cx="8136904" cy="9978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E34007-B213-D2AA-D657-FA32B79BE12B}"/>
              </a:ext>
            </a:extLst>
          </p:cNvPr>
          <p:cNvSpPr/>
          <p:nvPr/>
        </p:nvSpPr>
        <p:spPr>
          <a:xfrm>
            <a:off x="539552" y="3501008"/>
            <a:ext cx="8136904" cy="97476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AAA501-61E1-4B5E-AF51-755D3B54BC73}"/>
              </a:ext>
            </a:extLst>
          </p:cNvPr>
          <p:cNvSpPr txBox="1"/>
          <p:nvPr/>
        </p:nvSpPr>
        <p:spPr>
          <a:xfrm>
            <a:off x="784709" y="2169790"/>
            <a:ext cx="2517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Visits all the corners of the problem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24C2E6-42D1-63C9-7FAB-D49DD792B178}"/>
              </a:ext>
            </a:extLst>
          </p:cNvPr>
          <p:cNvSpPr txBox="1"/>
          <p:nvPr/>
        </p:nvSpPr>
        <p:spPr>
          <a:xfrm>
            <a:off x="3851919" y="2287567"/>
            <a:ext cx="46376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Explore! Every state-action is tried over and over and over. Q-learning only learns what it has visited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EC4A8D-2EE4-4F40-7EB1-4C940DEF590B}"/>
              </a:ext>
            </a:extLst>
          </p:cNvPr>
          <p:cNvSpPr txBox="1"/>
          <p:nvPr/>
        </p:nvSpPr>
        <p:spPr>
          <a:xfrm>
            <a:off x="148575" y="3773916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Slow down gradually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4AB421-2383-CB5B-C3D8-C0CFF4C87FF5}"/>
              </a:ext>
            </a:extLst>
          </p:cNvPr>
          <p:cNvSpPr txBox="1"/>
          <p:nvPr/>
        </p:nvSpPr>
        <p:spPr>
          <a:xfrm>
            <a:off x="3203848" y="3677748"/>
            <a:ext cx="51872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ym typeface="Wingdings" pitchFamily="2" charset="2"/>
              </a:rPr>
              <a:t>Updated sizes should reduce over time (schedulers exist for that). Big steps to learn quickly, small steps to settle.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22305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2E0F6-DBF8-435A-441F-99EE49B2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3800-10FC-35C5-708A-3418E6C5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Q-learning limitations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5E0692-D3DD-C769-C410-E2642A7CB506}"/>
              </a:ext>
            </a:extLst>
          </p:cNvPr>
          <p:cNvSpPr txBox="1">
            <a:spLocks/>
          </p:cNvSpPr>
          <p:nvPr/>
        </p:nvSpPr>
        <p:spPr bwMode="auto">
          <a:xfrm>
            <a:off x="588385" y="1580888"/>
            <a:ext cx="7967229" cy="4584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Q-learning typically stores all the states and actions in a table. One row per state, and one action per column</a:t>
            </a:r>
          </a:p>
          <a:p>
            <a:endParaRPr lang="en-US" sz="1600" b="1" dirty="0">
              <a:solidFill>
                <a:srgbClr val="7030A0"/>
              </a:solidFill>
            </a:endParaRPr>
          </a:p>
          <a:p>
            <a:r>
              <a:rPr lang="en-US" sz="1600" dirty="0"/>
              <a:t>This doesn’t work for continuous spaces</a:t>
            </a:r>
          </a:p>
          <a:p>
            <a:endParaRPr lang="en-US" sz="1600" dirty="0"/>
          </a:p>
          <a:p>
            <a:r>
              <a:rPr lang="en-US" sz="1600" dirty="0"/>
              <a:t>Can only produce deterministic policies</a:t>
            </a:r>
          </a:p>
          <a:p>
            <a:endParaRPr lang="en-US" sz="1600" dirty="0"/>
          </a:p>
          <a:p>
            <a:r>
              <a:rPr lang="en-US" sz="1600" dirty="0"/>
              <a:t>Doesn’t directly scale. Issues in really big problems</a:t>
            </a:r>
          </a:p>
          <a:p>
            <a:endParaRPr lang="en-US" sz="1600" dirty="0"/>
          </a:p>
          <a:p>
            <a:r>
              <a:rPr lang="en-US" sz="1600" dirty="0"/>
              <a:t>Doesn’t handle partial observability</a:t>
            </a:r>
          </a:p>
          <a:p>
            <a:endParaRPr lang="en-US" sz="1600" dirty="0"/>
          </a:p>
          <a:p>
            <a:r>
              <a:rPr lang="en-US" sz="1600" dirty="0"/>
              <a:t>Has some issues in practice.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1E4716D-EE8D-FE4C-ABA3-8A97A709D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574121"/>
            <a:ext cx="8229600" cy="792645"/>
          </a:xfrm>
        </p:spPr>
        <p:txBody>
          <a:bodyPr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30A0"/>
                </a:solidFill>
              </a:rPr>
              <a:t>Remember: still no neural networks!</a:t>
            </a:r>
          </a:p>
          <a:p>
            <a:pPr marL="0" indent="0" algn="ctr">
              <a:buNone/>
            </a:pPr>
            <a:r>
              <a:rPr lang="en-US" sz="1600" dirty="0"/>
              <a:t>but they can solve these problems…</a:t>
            </a:r>
          </a:p>
          <a:p>
            <a:pPr marL="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501542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6877-299C-ED25-7810-303FDDB3E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9AC4-A825-1CDC-C99C-BC51D1C3E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Deep Q-learning (DQN)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A4BD36B-BB17-C858-6EB5-C4F53AED73B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77774" y="3933056"/>
                <a:ext cx="7788450" cy="22322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600" dirty="0"/>
                  <a:t>Remember: a NN is a flexible function approximation, we can use it to approximate ANY function. </a:t>
                </a:r>
              </a:p>
              <a:p>
                <a:pPr marL="0" indent="0" algn="ctr">
                  <a:buNone/>
                </a:pP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/>
                  <a:t>We are going to ask a network to produce Q-values, rather than calculating all of them</a:t>
                </a:r>
              </a:p>
              <a:p>
                <a:pPr marL="0" indent="0" algn="ctr">
                  <a:buNone/>
                </a:pPr>
                <a:endParaRPr lang="en-US" sz="1600" b="1" dirty="0">
                  <a:solidFill>
                    <a:srgbClr val="7030A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A NN with weights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1600" b="1" dirty="0">
                    <a:solidFill>
                      <a:srgbClr val="7030A0"/>
                    </a:solidFill>
                  </a:rPr>
                  <a:t> takes the state, and outputs one Q-value per action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Font typeface="Arial" pitchFamily="34" charset="0"/>
                  <a:buNone/>
                </a:pPr>
                <a:endParaRPr lang="en-US" sz="1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A4BD36B-BB17-C858-6EB5-C4F53AED7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774" y="3933056"/>
                <a:ext cx="7788450" cy="2232248"/>
              </a:xfrm>
              <a:prstGeom prst="rect">
                <a:avLst/>
              </a:prstGeom>
              <a:blipFill>
                <a:blip r:embed="rId3"/>
                <a:stretch>
                  <a:fillRect t="-565" r="-1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F330CE4-ADB1-0820-2A11-06F22E767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5" y="1379425"/>
            <a:ext cx="4032448" cy="23863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20BBF4-89DB-B7F5-604F-CD0FD7CD8011}"/>
                  </a:ext>
                </a:extLst>
              </p:cNvPr>
              <p:cNvSpPr txBox="1"/>
              <p:nvPr/>
            </p:nvSpPr>
            <p:spPr>
              <a:xfrm>
                <a:off x="2411760" y="6115159"/>
                <a:ext cx="4572000" cy="383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sSup>
                        <m:sSup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ctrlP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b="1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400" b="1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GB" sz="1400" b="1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𝜸</m:t>
                              </m:r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𝒎𝒂</m:t>
                              </m:r>
                              <m:sSub>
                                <m:sSubPr>
                                  <m:ctrlPr>
                                    <a:rPr lang="en-GB" sz="1400" b="1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400" b="1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d>
                                <m:dPr>
                                  <m:ctrlPr>
                                    <a:rPr lang="en-GB" sz="1400" b="1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𝒔</m:t>
                                      </m:r>
                                    </m:e>
                                    <m:sub>
                                      <m:r>
                                        <a:rPr lang="en-GB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  <m:r>
                                        <a:rPr lang="en-GB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GB" sz="1400" b="1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1400" b="1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d>
                                <m:dPr>
                                  <m:ctrlPr>
                                    <a:rPr lang="en-GB" sz="1400" b="1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𝒔</m:t>
                                      </m:r>
                                    </m:e>
                                    <m:sub>
                                      <m:r>
                                        <a:rPr lang="en-GB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b>
                                  </m:sSub>
                                  <m:r>
                                    <a:rPr lang="en-GB" sz="1400" b="1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GB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20BBF4-89DB-B7F5-604F-CD0FD7CD8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6115159"/>
                <a:ext cx="4572000" cy="383503"/>
              </a:xfrm>
              <a:prstGeom prst="rect">
                <a:avLst/>
              </a:prstGeom>
              <a:blipFill>
                <a:blip r:embed="rId5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929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145E4-CA78-92D6-B72B-B20E65BB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32D06-16BE-4A1B-5B26-DDFCB544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 err="1"/>
              <a:t>Stabilising</a:t>
            </a:r>
            <a:r>
              <a:rPr lang="en-US" dirty="0"/>
              <a:t> DQN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236BB1-B9B1-1551-57C5-76CBE4FAF60A}"/>
              </a:ext>
            </a:extLst>
          </p:cNvPr>
          <p:cNvSpPr txBox="1">
            <a:spLocks/>
          </p:cNvSpPr>
          <p:nvPr/>
        </p:nvSpPr>
        <p:spPr bwMode="auto">
          <a:xfrm>
            <a:off x="570449" y="1628801"/>
            <a:ext cx="7967229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We can’t directly train on each transition as it happens: consecutive transitions are highly correlated.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24C64F6-F823-D700-FA3E-FB4573C9BE11}"/>
              </a:ext>
            </a:extLst>
          </p:cNvPr>
          <p:cNvSpPr/>
          <p:nvPr/>
        </p:nvSpPr>
        <p:spPr>
          <a:xfrm>
            <a:off x="445368" y="3068960"/>
            <a:ext cx="2590800" cy="1691640"/>
          </a:xfrm>
          <a:prstGeom prst="rect">
            <a:avLst/>
          </a:prstGeom>
          <a:solidFill>
            <a:srgbClr val="B7D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DEF1B1C-EDFB-1F26-0F67-1E7A43E184BC}"/>
              </a:ext>
            </a:extLst>
          </p:cNvPr>
          <p:cNvSpPr/>
          <p:nvPr/>
        </p:nvSpPr>
        <p:spPr>
          <a:xfrm>
            <a:off x="609960" y="3343280"/>
            <a:ext cx="226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942DCAD-AC23-6397-78DA-2D5C47A03609}"/>
              </a:ext>
            </a:extLst>
          </p:cNvPr>
          <p:cNvSpPr/>
          <p:nvPr/>
        </p:nvSpPr>
        <p:spPr>
          <a:xfrm>
            <a:off x="628248" y="3709040"/>
            <a:ext cx="222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(s,a,r,s’) transition is added to a large buffer as the agent acts.</a:t>
            </a:r>
            <a:endParaRPr lang="en-US" sz="10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298FE600-CADC-4BD1-B203-8366C5B04060}"/>
              </a:ext>
            </a:extLst>
          </p:cNvPr>
          <p:cNvSpPr/>
          <p:nvPr/>
        </p:nvSpPr>
        <p:spPr>
          <a:xfrm>
            <a:off x="3264768" y="3068960"/>
            <a:ext cx="2590800" cy="1691640"/>
          </a:xfrm>
          <a:prstGeom prst="rect">
            <a:avLst/>
          </a:prstGeom>
          <a:solidFill>
            <a:srgbClr val="FDD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5DC82EB-5D99-3C46-B85E-724E8628DA2D}"/>
              </a:ext>
            </a:extLst>
          </p:cNvPr>
          <p:cNvSpPr/>
          <p:nvPr/>
        </p:nvSpPr>
        <p:spPr>
          <a:xfrm>
            <a:off x="3429360" y="3343280"/>
            <a:ext cx="226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2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711AA07-9E28-CC5D-9870-3EFA5BA67A50}"/>
              </a:ext>
            </a:extLst>
          </p:cNvPr>
          <p:cNvSpPr/>
          <p:nvPr/>
        </p:nvSpPr>
        <p:spPr>
          <a:xfrm>
            <a:off x="3447648" y="3709040"/>
            <a:ext cx="222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training step draws a random mini-batch from the buffer, breaking temporal correlation.</a:t>
            </a:r>
            <a:endParaRPr lang="en-US" sz="10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4E1A0E5-7E45-9408-6154-53052FA8AEB2}"/>
              </a:ext>
            </a:extLst>
          </p:cNvPr>
          <p:cNvSpPr/>
          <p:nvPr/>
        </p:nvSpPr>
        <p:spPr>
          <a:xfrm>
            <a:off x="6084168" y="3068960"/>
            <a:ext cx="2590800" cy="1691640"/>
          </a:xfrm>
          <a:prstGeom prst="rect">
            <a:avLst/>
          </a:prstGeom>
          <a:solidFill>
            <a:srgbClr val="B2A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C56707F-BC43-49B0-B965-8E49321AF704}"/>
              </a:ext>
            </a:extLst>
          </p:cNvPr>
          <p:cNvSpPr/>
          <p:nvPr/>
        </p:nvSpPr>
        <p:spPr>
          <a:xfrm>
            <a:off x="6248760" y="3343280"/>
            <a:ext cx="226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3694881-9761-47D3-286A-C57F4DDE7746}"/>
              </a:ext>
            </a:extLst>
          </p:cNvPr>
          <p:cNvSpPr/>
          <p:nvPr/>
        </p:nvSpPr>
        <p:spPr>
          <a:xfrm>
            <a:off x="6267048" y="3709040"/>
            <a:ext cx="222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transition can be trained on many times — far more sample-efficient than using it once.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81542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6DF47-FA7D-1F2B-B119-2C23D29A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B7E5B544-52C6-3C9C-11EE-74BB01A36501}"/>
              </a:ext>
            </a:extLst>
          </p:cNvPr>
          <p:cNvSpPr/>
          <p:nvPr/>
        </p:nvSpPr>
        <p:spPr>
          <a:xfrm>
            <a:off x="323528" y="3284984"/>
            <a:ext cx="8352928" cy="252028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00625-A5EC-4EFB-62A8-26D67B34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 err="1"/>
              <a:t>Stabilising</a:t>
            </a:r>
            <a:r>
              <a:rPr lang="en-US" dirty="0"/>
              <a:t> DQN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6B6A9EE-8327-EFA4-6C21-316418101CC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70449" y="1628801"/>
                <a:ext cx="7967229" cy="10081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600" dirty="0"/>
                  <a:t>Chasing a moving target: the TD target depends on the same weights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600" dirty="0"/>
                  <a:t> that are being updates. Every gradient step moves Q, which immediate shifts the TD target 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Font typeface="Arial" pitchFamily="34" charset="0"/>
                  <a:buNone/>
                </a:pPr>
                <a:endParaRPr lang="en-US" sz="1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6B6A9EE-8327-EFA4-6C21-316418101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0449" y="1628801"/>
                <a:ext cx="7967229" cy="1008112"/>
              </a:xfrm>
              <a:prstGeom prst="rect">
                <a:avLst/>
              </a:prstGeom>
              <a:blipFill>
                <a:blip r:embed="rId3"/>
                <a:stretch>
                  <a:fillRect l="-478" t="-2500" r="-47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hape 2">
            <a:extLst>
              <a:ext uri="{FF2B5EF4-FFF2-40B4-BE49-F238E27FC236}">
                <a16:creationId xmlns:a16="http://schemas.microsoft.com/office/drawing/2014/main" id="{1180CEED-566C-4D44-D31E-17FAF3C34909}"/>
              </a:ext>
            </a:extLst>
          </p:cNvPr>
          <p:cNvSpPr/>
          <p:nvPr/>
        </p:nvSpPr>
        <p:spPr>
          <a:xfrm>
            <a:off x="683568" y="3841367"/>
            <a:ext cx="1188720" cy="1188720"/>
          </a:xfrm>
          <a:prstGeom prst="ellipse">
            <a:avLst/>
          </a:prstGeom>
          <a:solidFill>
            <a:srgbClr val="E46C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/home/claude/ml_intro_deck/icons/target_white.png">
            <a:extLst>
              <a:ext uri="{FF2B5EF4-FFF2-40B4-BE49-F238E27FC236}">
                <a16:creationId xmlns:a16="http://schemas.microsoft.com/office/drawing/2014/main" id="{05E93F5C-8ADC-D081-D8F2-A2F06DD07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61" y="4126660"/>
            <a:ext cx="618134" cy="6181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B7C3AF3-75E1-5B62-7004-DA2C027ED5E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071670" y="4064379"/>
                <a:ext cx="6123419" cy="10081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600" b="1" dirty="0"/>
                  <a:t>Fix:</a:t>
                </a:r>
                <a:r>
                  <a:rPr lang="en-GB" sz="1600" dirty="0"/>
                  <a:t> Keep a separated target network Q frozen for many steps and periodically synced from the current parameters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Font typeface="Arial" pitchFamily="34" charset="0"/>
                  <a:buNone/>
                </a:pPr>
                <a:endParaRPr lang="en-US" sz="1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B7C3AF3-75E1-5B62-7004-DA2C027ED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1670" y="4064379"/>
                <a:ext cx="6123419" cy="1008112"/>
              </a:xfrm>
              <a:prstGeom prst="rect">
                <a:avLst/>
              </a:prstGeom>
              <a:blipFill>
                <a:blip r:embed="rId5"/>
                <a:stretch>
                  <a:fillRect l="-621" t="-25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497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7999-8AD6-DD98-5527-516B959C8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99FB7-E268-D3DC-A523-CBD99A5CD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In practice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8CCECF-C3E9-61F8-54DD-000E25DE8591}"/>
              </a:ext>
            </a:extLst>
          </p:cNvPr>
          <p:cNvSpPr txBox="1">
            <a:spLocks/>
          </p:cNvSpPr>
          <p:nvPr/>
        </p:nvSpPr>
        <p:spPr bwMode="auto">
          <a:xfrm>
            <a:off x="570449" y="1628800"/>
            <a:ext cx="7967229" cy="134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We rarely need to do our own RL implementations from scratch, algorithms have a lot of pitfalls and tricks.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Many available libraries and repositories to do this: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E30CA-4A8A-A4BD-16F2-999D77257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967076"/>
            <a:ext cx="7772400" cy="2153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ACFC2C-93CD-C8C2-7099-97AEC1E346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565" y="4256624"/>
            <a:ext cx="6129462" cy="240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142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216FE-EDCB-801E-6D96-19061757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6">
            <a:extLst>
              <a:ext uri="{FF2B5EF4-FFF2-40B4-BE49-F238E27FC236}">
                <a16:creationId xmlns:a16="http://schemas.microsoft.com/office/drawing/2014/main" id="{D70E520F-317A-53E4-70FC-0D12CE01C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2209106"/>
            <a:ext cx="82184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Thank you for your attention!</a:t>
            </a:r>
          </a:p>
          <a:p>
            <a:pPr>
              <a:defRPr/>
            </a:pPr>
            <a:endParaRPr lang="en-US" sz="30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5362" name="Rectangle 7">
            <a:extLst>
              <a:ext uri="{FF2B5EF4-FFF2-40B4-BE49-F238E27FC236}">
                <a16:creationId xmlns:a16="http://schemas.microsoft.com/office/drawing/2014/main" id="{4726091D-645F-2A9C-E895-C6F932FC1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899" y="3818228"/>
            <a:ext cx="6821488" cy="937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2400" b="1" dirty="0">
                <a:cs typeface="Arial" charset="0"/>
              </a:rPr>
              <a:t>Happy to take any questions</a:t>
            </a:r>
          </a:p>
          <a:p>
            <a:pPr algn="ctr">
              <a:lnSpc>
                <a:spcPct val="120000"/>
              </a:lnSpc>
            </a:pPr>
            <a:endParaRPr lang="en-GB" sz="2400" dirty="0">
              <a:solidFill>
                <a:srgbClr val="595959"/>
              </a:solidFill>
              <a:cs typeface="Arial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2CBAE7-8823-EABB-256B-9BB32D81EA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9113" y="2809875"/>
            <a:ext cx="7013575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364" name="Picture 2" descr="TAB_col_white_background.eps">
            <a:extLst>
              <a:ext uri="{FF2B5EF4-FFF2-40B4-BE49-F238E27FC236}">
                <a16:creationId xmlns:a16="http://schemas.microsoft.com/office/drawing/2014/main" id="{1EE07ADF-BC38-032E-F0A8-8C51E0AF4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9753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ro to ML" id="{BF33F6EA-1390-7A4D-83EB-6ECF2FF31E46}" vid="{A1D538FE-21FE-9A48-BEE6-019F6DA707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27517</TotalTime>
  <Words>2001</Words>
  <Application>Microsoft Macintosh PowerPoint</Application>
  <PresentationFormat>On-screen Show (4:3)</PresentationFormat>
  <Paragraphs>291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Cambria</vt:lpstr>
      <vt:lpstr>Cambria Math</vt:lpstr>
      <vt:lpstr>Wingdings</vt:lpstr>
      <vt:lpstr>Office Theme</vt:lpstr>
      <vt:lpstr>PowerPoint Presentation</vt:lpstr>
      <vt:lpstr>Reinforcement learning</vt:lpstr>
      <vt:lpstr>Introduction</vt:lpstr>
      <vt:lpstr>The place of RL</vt:lpstr>
      <vt:lpstr>The place of RL</vt:lpstr>
      <vt:lpstr>What makes RL different</vt:lpstr>
      <vt:lpstr>The RL loop</vt:lpstr>
      <vt:lpstr>The elements of RL</vt:lpstr>
      <vt:lpstr>The elements of RL</vt:lpstr>
      <vt:lpstr>The elements of RL</vt:lpstr>
      <vt:lpstr>Markov Decision Process</vt:lpstr>
      <vt:lpstr>Markov Decision Process</vt:lpstr>
      <vt:lpstr>The elements of an RL agent</vt:lpstr>
      <vt:lpstr>The policy</vt:lpstr>
      <vt:lpstr>The state-value function</vt:lpstr>
      <vt:lpstr>The action-value function</vt:lpstr>
      <vt:lpstr>The elements of MDP</vt:lpstr>
      <vt:lpstr>The Bellman equation</vt:lpstr>
      <vt:lpstr>The Bellman optimality eq</vt:lpstr>
      <vt:lpstr>A note on solving MDPs</vt:lpstr>
      <vt:lpstr>Model-free RL</vt:lpstr>
      <vt:lpstr>Model-free RL - Algorithms</vt:lpstr>
      <vt:lpstr>Q-learning</vt:lpstr>
      <vt:lpstr>Q-learning – Why does it work?</vt:lpstr>
      <vt:lpstr>Q-learning limitations</vt:lpstr>
      <vt:lpstr>Deep Q-learning (DQN)</vt:lpstr>
      <vt:lpstr>Stabilising DQN</vt:lpstr>
      <vt:lpstr>Stabilising DQN</vt:lpstr>
      <vt:lpstr>In practice</vt:lpstr>
      <vt:lpstr>PowerPoint Presentation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MZYSSPB2</dc:creator>
  <cp:lastModifiedBy>Miguel Beneitez</cp:lastModifiedBy>
  <cp:revision>472</cp:revision>
  <dcterms:created xsi:type="dcterms:W3CDTF">2012-06-12T15:56:20Z</dcterms:created>
  <dcterms:modified xsi:type="dcterms:W3CDTF">2026-08-22T12:49:12Z</dcterms:modified>
</cp:coreProperties>
</file>