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8" r:id="rId2"/>
    <p:sldId id="303" r:id="rId3"/>
    <p:sldId id="344" r:id="rId4"/>
    <p:sldId id="345" r:id="rId5"/>
    <p:sldId id="346" r:id="rId6"/>
    <p:sldId id="347" r:id="rId7"/>
    <p:sldId id="350" r:id="rId8"/>
    <p:sldId id="348" r:id="rId9"/>
    <p:sldId id="351" r:id="rId10"/>
    <p:sldId id="352" r:id="rId11"/>
    <p:sldId id="353" r:id="rId12"/>
    <p:sldId id="354" r:id="rId13"/>
    <p:sldId id="356" r:id="rId14"/>
    <p:sldId id="355" r:id="rId15"/>
    <p:sldId id="357" r:id="rId16"/>
    <p:sldId id="321" r:id="rId17"/>
    <p:sldId id="358" r:id="rId18"/>
    <p:sldId id="335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41" r:id="rId35"/>
    <p:sldId id="270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91"/>
    <p:restoredTop sz="94384"/>
  </p:normalViewPr>
  <p:slideViewPr>
    <p:cSldViewPr>
      <p:cViewPr varScale="1">
        <p:scale>
          <a:sx n="120" d="100"/>
          <a:sy n="120" d="100"/>
        </p:scale>
        <p:origin x="23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ECCAEB-7496-4C12-9A08-526B0D813A46}" type="datetimeFigureOut">
              <a:rPr lang="en-GB" smtClean="0"/>
              <a:pPr/>
              <a:t>22/08/2026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8D4E6-F64F-4999-AC2A-A008E685C04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2246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CC4BB-30A8-4D9F-D449-7A41845DC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E39E28-FBE4-A5F9-944A-CE53F1CCC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B1CBB-8BC9-6066-EAFA-1A21211A4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D61D4-4C00-89B5-47EF-81CF7FD8A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9980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97A01-4FEC-A376-571C-65BF73998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30FF0-DDC4-1B8B-B92F-C2A737554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C572A-92A3-B859-813B-6FCB9AB3B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6BABB-E35A-049A-1AFE-1D1EE37C9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2632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C6EB0-D269-3E24-14F3-00ABCA12B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F450D-B759-D33C-6D91-EBCFCB2B9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795DB-EEB2-75B6-BF67-0C81B8501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BF056-FD58-F0AE-220D-196A632D4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1266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51CDC-6ECE-E4F3-A35D-542EB1782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BC999-C2CC-EC4D-332D-5D7466F5C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674CD-8487-2765-B0D5-B3936DB84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BC6A2-318C-0B40-7EA8-ABE832900C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3183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851DE-37DF-3DE5-60DC-0559E76AB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5C3C1-8ACB-E7AC-7745-49A4CC50F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DA575-569C-D4F7-93CD-901A7D9F9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9C25E-DC8B-6C44-D6A8-DF3AE4110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4799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36598-7726-CC42-1E16-72F03FF0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C0E419-E036-B8FB-7CE0-580630B21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B5835-BC10-DCD5-BB26-C76B2E1CC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DB3FB-B0EF-FA10-86BE-0884CBD7D2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7356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9BFE3-E579-1E17-8B39-2B27FB7B4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137D3-6C3F-E330-A4A8-1741D357ED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A731B7-0C19-9CD0-ED10-01B3CD1C6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46259-0BEA-4D4C-1939-2266F8AD8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2072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2E6DA-78D7-EFB9-36C6-414C5A2A6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0417B-338A-B99D-D806-C48FEBB08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C4C9F-F164-CC3E-8C15-0B4BC9A2B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D425C-E50C-4FF0-9322-49DCC75BE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6380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73E46-9539-9770-81B8-606E22ACB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5A425-2426-057C-A7C0-296DE341F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21382D-2E6F-A37F-8F8A-3AE1EC719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988C8-6D42-6760-8E30-5050E63B3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9177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6209B-5E20-EE1B-2EFE-C86E02616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C9608-2A93-7522-C473-77D1C06B4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4461F-058B-F610-5BD4-033E0B64D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70DC0-8D5E-C1E6-5FF8-2058988AB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34503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EFF7F-981C-A325-AD5A-62F9DF5AF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7B592-E74A-2D89-8896-B8F6ED22E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D4C20E-7FDA-7A94-A844-4682FE96C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898EE-2326-30C0-5471-3A146CDE8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53126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D92BC-5FB9-BCD2-D2B4-2AB6A8674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254917-0FF3-6DD6-D323-E797E1B1D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FAA05-C544-9E6E-50F0-823F65C1D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DBD20-D6B7-F1BE-F68A-AE6C6951B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50622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4170-40CD-31A8-7D05-2F3538F14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7FBF8-32E8-0EE9-D3A9-666C83F1F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9C822-576A-9047-FFC7-E5B78B0AE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06CEE-1A0D-D73E-860F-5EFCBB586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03427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9024A-C4A0-BACE-3F5F-F8FDAFF2A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441642-E7B2-1175-EF13-F88B4A49B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77BD9-2D58-7829-822B-11205BC71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1D314-4A4F-45FA-E65D-B5962582C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3292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1B57C-2181-32F9-E4D4-02BA150A4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8684F-CCDF-3184-488D-8C98E06C4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712B62-22B0-64C0-175E-F4ABA6D9B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Critic: based on our altitude and speed, I expect us to score a +100 here</a:t>
            </a:r>
          </a:p>
          <a:p>
            <a:r>
              <a:rPr lang="en-US" sz="1200" dirty="0"/>
              <a:t>Actor: does something that improves to +115 and the critic provides it with an advantage of +15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46D3E-D0CA-A601-A148-760644E03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28630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7C234-4EAC-558C-B29E-96786C564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6F17F-325E-E9FF-0F16-AAF96D85D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D59D5-1C4A-3E6D-E0B2-D3F6C3874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Critic: based on our altitude and speed, I expect us to score a +100 here</a:t>
            </a:r>
          </a:p>
          <a:p>
            <a:r>
              <a:rPr lang="en-US" sz="1200" dirty="0"/>
              <a:t>Actor: does something that improves to +115 and the critic provides it with an advantage of +15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826A7-54CE-68DA-4D27-C7552E52B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28645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6CB4C-E406-F606-BB8F-DAB4E7B6C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4538EF-2DF8-AE7C-2A0D-0608E4B9D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7C4012-60CC-EE64-DF26-73CC1AAEB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45EA6-D93B-D7F5-35CA-8CE173680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85810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EB53B-F832-2DB6-FDD8-F6EBEBFBB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20DA9-5F03-94F6-26DD-360A8A200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B40C5-A7A2-2106-28B4-31E7245C3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D8DE0-F615-45C4-7A9C-49CC42FDC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33640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A5182-1152-373B-0D77-099954C44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30E80-E563-4026-1A4D-E579CECB8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3DCAF-8CFC-6F51-8242-3C458082B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782E8-70D1-C075-FD5B-A8DB2CEE23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69699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5B6DA-70A9-4550-9B64-675A74585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57FC3-C0D1-A768-53D1-6D6E4277D5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3FEE3-49A0-A01C-C132-989806B32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92004-4471-9437-D9B5-9B88DDD9E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09479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CF173-ADF9-DE4A-02F4-06CA9FB72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AADDE-95AE-05DB-BD4E-BFF7C91F4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BAB291-F28C-9CBB-3DC8-A5A5C2290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8877D-0F17-1F96-81B6-32BB00D4A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74815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DBA69-2836-16C5-18D6-42E244863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B2906-92EB-D689-735D-5BD6831CD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F57345-529D-95FD-597D-1716C7F38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1F746-B856-FD34-4C3F-45878FE76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60196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116B0-DADF-0CE2-DC96-A62F7D271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BA5B7-F409-92AC-2A65-319E635FB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409BED-EE2A-EFB7-915F-B2E567474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D094F-DF97-30F0-AE13-1002DEAC1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9632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AC5E3-7C64-312B-D028-687D13FE9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742CC-ADDC-F9DE-B292-FC9C2CC7B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12093C-696C-53CD-539B-10D2718AB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FDD31-C48F-6868-3571-5CBF2661E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76620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82A75-51AA-EB69-4547-6B77AE4EC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D443B-05A7-432E-4B9E-5A9537BBF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3AA524-92AA-16BA-E311-F17A6D386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1DD51-3EDC-83D6-728A-F3FB4DDFF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95832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CC691-D4AF-4B21-8CE5-2A4A3ABD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0B59A-8A5C-1C0D-AE89-DD36FD589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9EF0B2-7209-5FDD-7F69-1E5C5269D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83DCD-B1F4-2F1C-CD9D-45C5AA3DC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2844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C9BF3-7E23-CB3E-44A7-CBEBE82DC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D75B67-EB7E-412B-69C4-DE599D524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B4B70-5A24-F36E-E499-C3BA898F3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F6C27-9CC2-76F6-B434-A636BDF16B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09706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C2EFF-80DD-7591-7AB5-22D973494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2C61CF-2881-A2F5-D0ED-DD0A69A15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C0CD9-B9CD-777C-D567-86EABB66D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7E369-254D-2819-95B1-D22A5E0B6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16476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DAFE5-6185-7644-9BF6-9F6DB2586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B524BE-8E36-A1B7-0E26-E72C177A4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C51C2-D68F-BA87-8AFA-C8E0D6A75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1DC6B-005F-C20D-ED9A-0804DEA0B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77552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19976-CB18-2F75-7151-904CD0985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6BB12-BC31-A9A8-FC81-63CC0EEF6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D7EC1-0006-102D-616A-06D77CFAB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AA95E-B23F-7C26-7BCE-F6B58FAED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13121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178C5-6145-6CA7-A269-0D7A54EE3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C8689-CF96-DCCA-D435-77C044396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0760E-FFF2-5827-F302-36EDA2146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0D727-E49D-28CF-1109-F1DF55E8D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32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88436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1C3B5-9B68-EFA0-15B1-948329BB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86ACBF-8DCF-2FCA-7C7A-184588326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0411B-4610-7A33-E9B7-688552A8F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1A651-7A27-D6EA-4CF3-2310B33A2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42376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1EC2C-BB8C-A851-F3F3-9B84626DD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F1F4D-5CFF-A9E8-6020-3318B3C8E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6838E-0080-BC58-8EC3-107CABF2C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F36FC-A7A6-D8B7-873D-9B9C8E86D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34359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1775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2130425"/>
            <a:ext cx="7772400" cy="1470025"/>
          </a:xfrm>
        </p:spPr>
        <p:txBody>
          <a:bodyPr/>
          <a:lstStyle>
            <a:lvl1pPr>
              <a:defRPr sz="32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3886200"/>
            <a:ext cx="6400800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7AB759-530A-46AC-842F-B07144F002F9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AD8A0A-4898-40BF-9009-4DA7E611EAC1}" type="slidenum">
              <a:rPr lang="en-GB"/>
              <a:pPr/>
              <a:t>‹#›</a:t>
            </a:fld>
            <a:endParaRPr lang="en-GB" dirty="0"/>
          </a:p>
        </p:txBody>
      </p:sp>
      <p:pic>
        <p:nvPicPr>
          <p:cNvPr id="7" name="Picture 5" descr="TAB_col_white_background.eps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5842992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492896"/>
            <a:ext cx="8229600" cy="36332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22B6232-AB33-4513-9527-F98CEC472D23}" type="datetimeFigureOut">
              <a:rPr lang="en-GB" smtClean="0"/>
              <a:pPr/>
              <a:t>22/08/2026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58A139-7ABE-46A1-B082-C2C77667394C}" type="slidenum">
              <a:rPr lang="en-GB"/>
              <a:pPr/>
              <a:t>‹#›</a:t>
            </a:fld>
            <a:endParaRPr lang="en-GB" dirty="0"/>
          </a:p>
        </p:txBody>
      </p:sp>
      <p:pic>
        <p:nvPicPr>
          <p:cNvPr id="7" name="Picture 5" descr="TAB_col_white_background.eps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536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5CD916-7149-4247-856D-87DAB39295C7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ACF840-035C-411F-BA81-AF7A8ED78138}" type="slidenum">
              <a:rPr lang="en-GB"/>
              <a:pPr/>
              <a:t>‹#›</a:t>
            </a:fld>
            <a:endParaRPr lang="en-GB" dirty="0"/>
          </a:p>
        </p:txBody>
      </p:sp>
      <p:pic>
        <p:nvPicPr>
          <p:cNvPr id="7" name="Picture 5" descr="TAB_col_white_background.eps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5842992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2492896"/>
            <a:ext cx="4038600" cy="3633267"/>
          </a:xfrm>
        </p:spPr>
        <p:txBody>
          <a:bodyPr/>
          <a:lstStyle>
            <a:lvl1pPr>
              <a:defRPr sz="2800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86536" y="2492896"/>
            <a:ext cx="4038600" cy="36332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D09641-23CB-4E80-A5B0-5F03D2E94610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7FA264-F771-4264-8DF0-4BB7F0DA3C69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5842992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880" y="2348880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536" y="3068959"/>
            <a:ext cx="4040188" cy="305720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2344" y="2348880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83361" y="3068960"/>
            <a:ext cx="4041775" cy="305720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9A4E03-F40B-4399-AC2E-A4C6E9D600B3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92BDDC-0BFC-44A0-A4BA-47C3E99EB1AA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FE8F7DA-80EC-4CF7-AB7B-078F533B953B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4E6293-7DA2-4D9E-8605-5715E69AF2C7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1AE269B-21F6-4A71-848B-6E891C314B78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789173-A1D5-421E-B384-2A426DF314C2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86830"/>
            <a:ext cx="3008313" cy="116205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6752"/>
            <a:ext cx="5111750" cy="492941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89648B1-3911-4AC2-8E3A-DF4A70CC86E7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53D388-5704-4C64-A883-D899E8570667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AAA9A3-945F-42AF-BCAE-8459AEA58868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74E2F5-7E8D-47B8-82FB-3832A72B6BDB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32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8FF8105-8845-4543-9ED8-9E57E8E42CB7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FF8E4D-CDF4-4B1F-BD52-35BFB528DB87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56792"/>
            <a:ext cx="2057400" cy="4569371"/>
          </a:xfrm>
        </p:spPr>
        <p:txBody>
          <a:bodyPr vert="eaVer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56792"/>
            <a:ext cx="6019800" cy="4569371"/>
          </a:xfrm>
        </p:spPr>
        <p:txBody>
          <a:bodyPr vert="eaVert"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976883-B614-42E6-9595-363FA777B038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915344-E335-44E9-ACDC-CB4826450486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67544" y="1268760"/>
            <a:ext cx="584299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2492896"/>
            <a:ext cx="8229600" cy="3633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56A7D1D-6254-4063-974C-6A2AE04E4B91}" type="datetimeFigureOut">
              <a:rPr lang="en-GB"/>
              <a:pPr/>
              <a:t>22/08/2026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6878614-5F41-4702-8E44-D9C8B2874F5D}" type="slidenum">
              <a:rPr lang="en-GB"/>
              <a:pPr/>
              <a:t>‹#›</a:t>
            </a:fld>
            <a:endParaRPr lang="en-GB" dirty="0"/>
          </a:p>
        </p:txBody>
      </p:sp>
      <p:pic>
        <p:nvPicPr>
          <p:cNvPr id="7" name="Picture 5" descr="TAB_col_white_background.eps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6"/>
          <p:cNvSpPr>
            <a:spLocks noChangeArrowheads="1"/>
          </p:cNvSpPr>
          <p:nvPr/>
        </p:nvSpPr>
        <p:spPr bwMode="auto">
          <a:xfrm>
            <a:off x="406400" y="2152689"/>
            <a:ext cx="821848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Reinforcement Learning II</a:t>
            </a:r>
          </a:p>
        </p:txBody>
      </p:sp>
      <p:sp>
        <p:nvSpPr>
          <p:cNvPr id="15362" name="Rectangle 7"/>
          <p:cNvSpPr>
            <a:spLocks noChangeArrowheads="1"/>
          </p:cNvSpPr>
          <p:nvPr/>
        </p:nvSpPr>
        <p:spPr bwMode="auto">
          <a:xfrm>
            <a:off x="406400" y="4295775"/>
            <a:ext cx="8414072" cy="1381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2400" dirty="0">
                <a:solidFill>
                  <a:srgbClr val="595959"/>
                </a:solidFill>
                <a:cs typeface="Arial" charset="0"/>
              </a:rPr>
              <a:t>M. Beneitez – </a:t>
            </a:r>
            <a:r>
              <a:rPr lang="en-GB" sz="2400" dirty="0" err="1">
                <a:solidFill>
                  <a:srgbClr val="595959"/>
                </a:solidFill>
                <a:cs typeface="Arial" charset="0"/>
              </a:rPr>
              <a:t>miguel.beneitez@manchester.ac.uk</a:t>
            </a:r>
            <a:endParaRPr lang="en-GB" sz="2400" dirty="0">
              <a:solidFill>
                <a:srgbClr val="595959"/>
              </a:solidFill>
              <a:cs typeface="Arial" charset="0"/>
            </a:endParaRPr>
          </a:p>
          <a:p>
            <a:pPr>
              <a:lnSpc>
                <a:spcPct val="120000"/>
              </a:lnSpc>
            </a:pPr>
            <a:r>
              <a:rPr lang="en-GB" sz="2400" dirty="0">
                <a:solidFill>
                  <a:srgbClr val="595959"/>
                </a:solidFill>
                <a:cs typeface="Arial" charset="0"/>
              </a:rPr>
              <a:t>Summer School in Hands-on ML 2026</a:t>
            </a:r>
          </a:p>
          <a:p>
            <a:pPr>
              <a:lnSpc>
                <a:spcPct val="120000"/>
              </a:lnSpc>
            </a:pPr>
            <a:endParaRPr lang="en-GB" sz="2400" dirty="0">
              <a:solidFill>
                <a:srgbClr val="595959"/>
              </a:solidFill>
              <a:cs typeface="Arial" charset="0"/>
            </a:endParaRPr>
          </a:p>
        </p:txBody>
      </p:sp>
      <p:cxnSp>
        <p:nvCxnSpPr>
          <p:cNvPr id="10" name="Straight Connector 9"/>
          <p:cNvCxnSpPr>
            <a:cxnSpLocks noChangeShapeType="1"/>
          </p:cNvCxnSpPr>
          <p:nvPr/>
        </p:nvCxnSpPr>
        <p:spPr bwMode="auto">
          <a:xfrm>
            <a:off x="519113" y="2809875"/>
            <a:ext cx="7013575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5364" name="Picture 2" descr="TAB_col_white_background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6">
            <a:extLst>
              <a:ext uri="{FF2B5EF4-FFF2-40B4-BE49-F238E27FC236}">
                <a16:creationId xmlns:a16="http://schemas.microsoft.com/office/drawing/2014/main" id="{2B59A121-5C76-8362-6801-A3A01F602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399" y="2875002"/>
            <a:ext cx="82184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Modern algorithms, algorithm selection, and practicalities of RL</a:t>
            </a:r>
          </a:p>
        </p:txBody>
      </p:sp>
    </p:spTree>
    <p:extLst>
      <p:ext uri="{BB962C8B-B14F-4D97-AF65-F5344CB8AC3E}">
        <p14:creationId xmlns:p14="http://schemas.microsoft.com/office/powerpoint/2010/main" val="2116689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B53AD-C80A-8C7D-E588-AE2D4AC0A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0E457-1003-C927-D958-0A165B893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8FC0A-E3CD-1BC4-D0F5-1A66AA9D2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40358"/>
            <a:ext cx="8229600" cy="448482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Revisiting some concepts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2267D92C-23BD-A8B0-DF78-91380F119870}"/>
              </a:ext>
            </a:extLst>
          </p:cNvPr>
          <p:cNvSpPr txBox="1">
            <a:spLocks/>
          </p:cNvSpPr>
          <p:nvPr/>
        </p:nvSpPr>
        <p:spPr bwMode="auto">
          <a:xfrm>
            <a:off x="395536" y="2420888"/>
            <a:ext cx="4248472" cy="334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Core concepts about reinforcement learning. </a:t>
            </a:r>
          </a:p>
          <a:p>
            <a:endParaRPr lang="en-US" sz="1600" dirty="0"/>
          </a:p>
          <a:p>
            <a:r>
              <a:rPr lang="en-US" sz="1600" dirty="0"/>
              <a:t>What is a </a:t>
            </a:r>
            <a:r>
              <a:rPr lang="en-US" sz="1600" dirty="0">
                <a:solidFill>
                  <a:srgbClr val="7030A0"/>
                </a:solidFill>
              </a:rPr>
              <a:t>Markov decision process </a:t>
            </a:r>
            <a:r>
              <a:rPr lang="en-US" sz="1600" dirty="0"/>
              <a:t>(MDP). 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7030A0"/>
                </a:solidFill>
              </a:rPr>
              <a:t>Q-learning</a:t>
            </a:r>
            <a:r>
              <a:rPr lang="en-US" sz="1600" dirty="0"/>
              <a:t> and </a:t>
            </a:r>
            <a:r>
              <a:rPr lang="en-US" sz="1600" dirty="0">
                <a:solidFill>
                  <a:srgbClr val="7030A0"/>
                </a:solidFill>
              </a:rPr>
              <a:t>the Bellman equation</a:t>
            </a:r>
          </a:p>
          <a:p>
            <a:endParaRPr lang="en-US" sz="1600" dirty="0"/>
          </a:p>
          <a:p>
            <a:r>
              <a:rPr lang="en-US" sz="1600" dirty="0"/>
              <a:t>Why do we need </a:t>
            </a:r>
            <a:r>
              <a:rPr lang="en-US" sz="1600" dirty="0">
                <a:solidFill>
                  <a:srgbClr val="7030A0"/>
                </a:solidFill>
              </a:rPr>
              <a:t>deep RL</a:t>
            </a:r>
            <a:r>
              <a:rPr lang="en-US" sz="1600" dirty="0"/>
              <a:t>?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Font typeface="Arial" pitchFamily="34" charset="0"/>
              <a:buNone/>
            </a:pPr>
            <a:endParaRPr lang="en-US" sz="1600" dirty="0">
              <a:solidFill>
                <a:srgbClr val="7030A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17F3DF-C88D-32DA-397C-A91DF258C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501" y="2537370"/>
            <a:ext cx="3410503" cy="293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55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82FD0-CCDC-37B2-827E-782E8B5F6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10C55-41CE-8C61-3DAF-D37D0937D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The state-value function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1433E89A-5E33-484C-A9E9-EE5066E1246B}"/>
              </a:ext>
            </a:extLst>
          </p:cNvPr>
          <p:cNvSpPr/>
          <p:nvPr/>
        </p:nvSpPr>
        <p:spPr>
          <a:xfrm>
            <a:off x="323528" y="1396099"/>
            <a:ext cx="8111580" cy="2032901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A7044D8A-C427-E1AE-6654-D6089628DCA4}"/>
              </a:ext>
            </a:extLst>
          </p:cNvPr>
          <p:cNvSpPr/>
          <p:nvPr/>
        </p:nvSpPr>
        <p:spPr>
          <a:xfrm>
            <a:off x="566246" y="1549816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/home/claude/ml_intro_deck/icons/clipboard_white.png">
            <a:extLst>
              <a:ext uri="{FF2B5EF4-FFF2-40B4-BE49-F238E27FC236}">
                <a16:creationId xmlns:a16="http://schemas.microsoft.com/office/drawing/2014/main" id="{D8763C76-BED1-1AC4-7522-0FB5AEEF9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92" y="1692462"/>
            <a:ext cx="309067" cy="3090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B0BD435B-445C-A87A-C114-0592BF5C4EE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303252" y="1565690"/>
                <a:ext cx="7131856" cy="17192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b="1" dirty="0"/>
                  <a:t>A prediction of future reward</a:t>
                </a:r>
                <a:endParaRPr lang="en-US" sz="14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GB" sz="1400" b="1" i="0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0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d>
                        <m:dPr>
                          <m:ctrlP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+…|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]</m:t>
                      </m:r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E2C1973A-96CC-122E-F663-9B01E5F6E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3252" y="1565690"/>
                <a:ext cx="7131856" cy="1719294"/>
              </a:xfrm>
              <a:prstGeom prst="rect">
                <a:avLst/>
              </a:prstGeom>
              <a:blipFill>
                <a:blip r:embed="rId4"/>
                <a:stretch>
                  <a:fillRect l="-178" t="-73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DC44366-A733-C8B7-6ACD-47A66D8B47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000" t="5965" b="650"/>
          <a:stretch>
            <a:fillRect/>
          </a:stretch>
        </p:blipFill>
        <p:spPr>
          <a:xfrm>
            <a:off x="1126984" y="3933056"/>
            <a:ext cx="2498899" cy="25409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F65D13-B486-AA60-F399-E54BEC7211DD}"/>
                  </a:ext>
                </a:extLst>
              </p:cNvPr>
              <p:cNvSpPr txBox="1"/>
              <p:nvPr/>
            </p:nvSpPr>
            <p:spPr>
              <a:xfrm>
                <a:off x="2525431" y="2689175"/>
                <a:ext cx="4529498" cy="307777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GB" sz="1400" b="1" i="0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0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d>
                        <m:dPr>
                          <m:ctrlP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)|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]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06F591-379F-3E1F-7BE9-F65CDA43B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431" y="2689175"/>
                <a:ext cx="4529498" cy="307777"/>
              </a:xfrm>
              <a:prstGeom prst="rect">
                <a:avLst/>
              </a:prstGeom>
              <a:blipFill>
                <a:blip r:embed="rId7"/>
                <a:stretch>
                  <a:fillRect b="-11538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BA1D800-5397-9D9B-3B02-63BD98BD8356}"/>
              </a:ext>
            </a:extLst>
          </p:cNvPr>
          <p:cNvSpPr txBox="1"/>
          <p:nvPr/>
        </p:nvSpPr>
        <p:spPr>
          <a:xfrm>
            <a:off x="669995" y="2567516"/>
            <a:ext cx="1784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Bellman’s equation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6A3335-677A-0B5D-5438-7396C81FC6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3933056"/>
            <a:ext cx="3079672" cy="264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0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6E370-19A5-2868-5374-2E88358CD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2CA78-ED44-6282-EFAA-A88723804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The action-value function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6037E699-9A6A-856E-5B51-1945C85989E5}"/>
              </a:ext>
            </a:extLst>
          </p:cNvPr>
          <p:cNvSpPr/>
          <p:nvPr/>
        </p:nvSpPr>
        <p:spPr>
          <a:xfrm>
            <a:off x="323528" y="1396099"/>
            <a:ext cx="8111580" cy="3041013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A545710B-99C5-35C5-83F5-ED7695C0B218}"/>
              </a:ext>
            </a:extLst>
          </p:cNvPr>
          <p:cNvSpPr/>
          <p:nvPr/>
        </p:nvSpPr>
        <p:spPr>
          <a:xfrm>
            <a:off x="566246" y="1549816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/home/claude/ml_intro_deck/icons/clipboard_white.png">
            <a:extLst>
              <a:ext uri="{FF2B5EF4-FFF2-40B4-BE49-F238E27FC236}">
                <a16:creationId xmlns:a16="http://schemas.microsoft.com/office/drawing/2014/main" id="{67F04F41-DC0F-A1A5-E429-01546A9D7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92" y="1692462"/>
            <a:ext cx="309067" cy="3090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3DA62576-BE7E-BFCE-2D35-42987D8C17F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204206" y="1845081"/>
                <a:ext cx="7131856" cy="25920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b="1" dirty="0"/>
                  <a:t>A prediction of future reward </a:t>
                </a:r>
                <a:r>
                  <a:rPr lang="en-US" sz="1400" b="1" dirty="0">
                    <a:solidFill>
                      <a:srgbClr val="7030A0"/>
                    </a:solidFill>
                  </a:rPr>
                  <a:t>if we take a particular action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r>
                  <a:rPr lang="en-US" sz="1400" dirty="0"/>
                  <a:t>It is advantageous in RL because it tells us directly which action to take, without a model</a:t>
                </a:r>
              </a:p>
              <a:p>
                <a:endParaRPr lang="en-US" sz="1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d>
                        <m:dPr>
                          <m:ctrlP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+…|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]</m:t>
                      </m:r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r>
                  <a:rPr lang="en-US" sz="1400" dirty="0"/>
                  <a:t>Related to the state-value function as</a:t>
                </a:r>
              </a:p>
              <a:p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d>
                        <m:dPr>
                          <m:ctrlP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GB" sz="14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sSub>
                        <m:sSubPr>
                          <m:ctrlP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GB" sz="1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4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endParaRPr lang="en-US" sz="1400" dirty="0"/>
              </a:p>
            </p:txBody>
          </p:sp>
        </mc:Choice>
        <mc:Fallback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3DA62576-BE7E-BFCE-2D35-42987D8C1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4206" y="1845081"/>
                <a:ext cx="7131856" cy="2592031"/>
              </a:xfrm>
              <a:prstGeom prst="rect">
                <a:avLst/>
              </a:prstGeom>
              <a:blipFill>
                <a:blip r:embed="rId4"/>
                <a:stretch>
                  <a:fillRect l="-356" t="-48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8310C9-65A0-11A3-03FB-E9E4BCC3C986}"/>
                  </a:ext>
                </a:extLst>
              </p:cNvPr>
              <p:cNvSpPr txBox="1"/>
              <p:nvPr/>
            </p:nvSpPr>
            <p:spPr>
              <a:xfrm>
                <a:off x="323528" y="5308184"/>
                <a:ext cx="842493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7030A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If optimal Q* is found we can then find the policy: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GB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𝝅</m:t>
                        </m:r>
                      </m:e>
                      <m:sup>
                        <m:r>
                          <a:rPr lang="en-GB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∗</m:t>
                        </m:r>
                      </m:sup>
                    </m:sSup>
                    <m:r>
                      <a:rPr lang="en-GB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en-GB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𝒔</m:t>
                    </m:r>
                    <m:r>
                      <a:rPr lang="en-GB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)=</m:t>
                    </m:r>
                    <m:r>
                      <a:rPr lang="en-GB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𝒂𝒓𝒈</m:t>
                    </m:r>
                    <m:r>
                      <a:rPr lang="en-GB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r>
                      <a:rPr lang="en-GB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𝒎𝒂</m:t>
                    </m:r>
                    <m:sSub>
                      <m:sSubPr>
                        <m:ctrlPr>
                          <a:rPr lang="en-GB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GB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𝒙</m:t>
                        </m:r>
                      </m:e>
                      <m:sub>
                        <m:r>
                          <a:rPr lang="en-GB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𝒂</m:t>
                        </m:r>
                      </m:sub>
                    </m:sSub>
                    <m:sSup>
                      <m:sSupPr>
                        <m:ctrlPr>
                          <a:rPr lang="en-GB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GB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𝑸</m:t>
                        </m:r>
                      </m:e>
                      <m:sup>
                        <m:r>
                          <a:rPr lang="en-GB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∗</m:t>
                        </m:r>
                      </m:sup>
                    </m:sSup>
                    <m:r>
                      <a:rPr lang="en-GB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en-GB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𝒔</m:t>
                    </m:r>
                    <m:r>
                      <a:rPr lang="en-GB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</m:t>
                    </m:r>
                    <m:r>
                      <a:rPr lang="en-GB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𝒂</m:t>
                    </m:r>
                    <m:r>
                      <a:rPr lang="en-GB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</m:t>
                    </m:r>
                  </m:oMath>
                </a14:m>
                <a:r>
                  <a:rPr lang="en-US" sz="1600" b="1" dirty="0">
                    <a:solidFill>
                      <a:srgbClr val="7030A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endParaRPr lang="en-US" sz="16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8310C9-65A0-11A3-03FB-E9E4BCC3C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5308184"/>
                <a:ext cx="8424936" cy="338554"/>
              </a:xfrm>
              <a:prstGeom prst="rect">
                <a:avLst/>
              </a:prstGeom>
              <a:blipFill>
                <a:blip r:embed="rId5"/>
                <a:stretch>
                  <a:fillRect t="-7407" b="-22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9136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C9436-1CE1-3BFA-F2A0-CF438AEA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76F92-1A3E-CEE8-50E6-ECD7520F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E7AD6-0CC7-23FD-64FF-FF11681DF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40358"/>
            <a:ext cx="8229600" cy="448482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Where we left it: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61C496D6-4947-ED8C-E872-BEAE3A81223B}"/>
              </a:ext>
            </a:extLst>
          </p:cNvPr>
          <p:cNvSpPr txBox="1">
            <a:spLocks/>
          </p:cNvSpPr>
          <p:nvPr/>
        </p:nvSpPr>
        <p:spPr bwMode="auto">
          <a:xfrm>
            <a:off x="425164" y="2149773"/>
            <a:ext cx="4248472" cy="17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7030A0"/>
                </a:solidFill>
              </a:rPr>
              <a:t>Q-learning</a:t>
            </a:r>
            <a:r>
              <a:rPr lang="en-US" sz="1600" dirty="0"/>
              <a:t> didn’t need any NN for small problems. </a:t>
            </a:r>
          </a:p>
          <a:p>
            <a:r>
              <a:rPr lang="en-US" sz="1600" dirty="0"/>
              <a:t>For large problems (but still discrete actions!) we </a:t>
            </a:r>
            <a:r>
              <a:rPr lang="en-US" sz="1600" dirty="0" err="1"/>
              <a:t>considerd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7030A0"/>
                </a:solidFill>
              </a:rPr>
              <a:t>DQN</a:t>
            </a:r>
            <a:r>
              <a:rPr lang="en-US" sz="1600" dirty="0"/>
              <a:t>, where we replaced a table by a NN approximating a function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Font typeface="Arial" pitchFamily="34" charset="0"/>
              <a:buNone/>
            </a:pPr>
            <a:endParaRPr lang="en-US" sz="1600" dirty="0">
              <a:solidFill>
                <a:srgbClr val="7030A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1B685B-A5F2-0DF7-6C98-B49D12553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501" y="2537370"/>
            <a:ext cx="3410503" cy="2935332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6DEA8C-75E4-2FB9-15E9-0F3C46FEE3F9}"/>
              </a:ext>
            </a:extLst>
          </p:cNvPr>
          <p:cNvSpPr txBox="1">
            <a:spLocks/>
          </p:cNvSpPr>
          <p:nvPr/>
        </p:nvSpPr>
        <p:spPr bwMode="auto">
          <a:xfrm>
            <a:off x="425164" y="4462004"/>
            <a:ext cx="4248472" cy="17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Instead of learning Q -&gt; </a:t>
            </a:r>
            <a:r>
              <a:rPr lang="en-US" sz="1600" dirty="0">
                <a:solidFill>
                  <a:srgbClr val="7030A0"/>
                </a:solidFill>
              </a:rPr>
              <a:t>Learn the policy</a:t>
            </a:r>
          </a:p>
          <a:p>
            <a:r>
              <a:rPr lang="en-US" sz="1600" dirty="0"/>
              <a:t>Popular/common algorithms (and how to select them!)</a:t>
            </a:r>
          </a:p>
          <a:p>
            <a:r>
              <a:rPr lang="en-US" sz="1600" dirty="0"/>
              <a:t>Tips and tricks, reward shaping, and real applications.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Font typeface="Arial" pitchFamily="34" charset="0"/>
              <a:buNone/>
            </a:pP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2351DB3-4B67-F989-2058-1B6794E0B57F}"/>
              </a:ext>
            </a:extLst>
          </p:cNvPr>
          <p:cNvSpPr txBox="1">
            <a:spLocks/>
          </p:cNvSpPr>
          <p:nvPr/>
        </p:nvSpPr>
        <p:spPr bwMode="auto">
          <a:xfrm>
            <a:off x="425164" y="4055875"/>
            <a:ext cx="8229600" cy="448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600" b="1" dirty="0"/>
              <a:t>Today: </a:t>
            </a:r>
          </a:p>
          <a:p>
            <a:pPr marL="0" indent="0">
              <a:buFont typeface="Arial" pitchFamily="34" charset="0"/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55762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ADD0A-BD76-FFC3-E3E7-CF228C483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C1766-BD15-2155-3F15-512872DB3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4" y="236425"/>
            <a:ext cx="6471483" cy="1143000"/>
          </a:xfrm>
        </p:spPr>
        <p:txBody>
          <a:bodyPr/>
          <a:lstStyle/>
          <a:p>
            <a:r>
              <a:rPr lang="en-US" dirty="0"/>
              <a:t>From value to policy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EA6CB983-D4D0-B0CD-D0D7-DCD81001C722}"/>
              </a:ext>
            </a:extLst>
          </p:cNvPr>
          <p:cNvSpPr/>
          <p:nvPr/>
        </p:nvSpPr>
        <p:spPr>
          <a:xfrm>
            <a:off x="371594" y="1819250"/>
            <a:ext cx="6192688" cy="468052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F407F36B-4EFF-A867-1D79-F24ED54CF41D}"/>
              </a:ext>
            </a:extLst>
          </p:cNvPr>
          <p:cNvSpPr/>
          <p:nvPr/>
        </p:nvSpPr>
        <p:spPr>
          <a:xfrm>
            <a:off x="603165" y="1988840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ml_intro_deck/icons/clipboard_white.png">
            <a:extLst>
              <a:ext uri="{FF2B5EF4-FFF2-40B4-BE49-F238E27FC236}">
                <a16:creationId xmlns:a16="http://schemas.microsoft.com/office/drawing/2014/main" id="{97BCEC5B-988D-C11E-6907-69BA2D7EC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11" y="2131486"/>
            <a:ext cx="309067" cy="3090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A265FE8F-8D6D-F483-D42D-FB9194B20D5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47664" y="1988840"/>
                <a:ext cx="4785047" cy="44389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/>
                  <a:t>In basic Q-learning we kept track of all states and actions</a:t>
                </a:r>
                <a:endParaRPr lang="en-US" sz="14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400" dirty="0"/>
              </a:p>
              <a:p>
                <a:r>
                  <a:rPr lang="en-US" sz="1400" dirty="0"/>
                  <a:t>In DQN, we approximated Q with a NN.</a:t>
                </a:r>
              </a:p>
              <a:p>
                <a:endParaRPr lang="en-US" sz="1400" dirty="0"/>
              </a:p>
              <a:p>
                <a:pPr marL="0" indent="0">
                  <a:buNone/>
                </a:pPr>
                <a:r>
                  <a:rPr lang="en-US" sz="1400" b="1" dirty="0"/>
                  <a:t>However: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r>
                  <a:rPr lang="en-US" sz="1400" dirty="0"/>
                  <a:t>We are still trying to find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which requires discrete actions.</a:t>
                </a:r>
              </a:p>
              <a:p>
                <a:endParaRPr lang="en-US" sz="1400" dirty="0"/>
              </a:p>
              <a:p>
                <a:pPr marL="0" indent="0">
                  <a:buNone/>
                </a:pPr>
                <a:r>
                  <a:rPr lang="en-US" sz="1400" b="1" dirty="0"/>
                  <a:t>Instead:</a:t>
                </a:r>
              </a:p>
              <a:p>
                <a:pPr marL="0" indent="0">
                  <a:buNone/>
                </a:pPr>
                <a:endParaRPr lang="en-US" sz="1400" b="1" dirty="0"/>
              </a:p>
              <a:p>
                <a:r>
                  <a:rPr lang="en-US" sz="1400" b="1" dirty="0">
                    <a:solidFill>
                      <a:srgbClr val="7030A0"/>
                    </a:solidFill>
                  </a:rPr>
                  <a:t>Policy-based algorithms: </a:t>
                </a:r>
                <a:r>
                  <a:rPr lang="en-US" sz="1400" dirty="0"/>
                  <a:t>No value function, and the policy is learned directly</a:t>
                </a:r>
              </a:p>
              <a:p>
                <a:endParaRPr lang="en-US" sz="1400" dirty="0"/>
              </a:p>
              <a:p>
                <a:r>
                  <a:rPr lang="en-US" sz="1400" b="1" dirty="0">
                    <a:solidFill>
                      <a:srgbClr val="7030A0"/>
                    </a:solidFill>
                  </a:rPr>
                  <a:t>Actor-critic-based algorithms:</a:t>
                </a:r>
                <a:r>
                  <a:rPr lang="en-US" sz="1400" dirty="0">
                    <a:solidFill>
                      <a:srgbClr val="7030A0"/>
                    </a:solidFill>
                  </a:rPr>
                  <a:t> </a:t>
                </a:r>
                <a:r>
                  <a:rPr lang="en-US" sz="1400" dirty="0"/>
                  <a:t>Learned value function and learnt policy</a:t>
                </a:r>
              </a:p>
            </p:txBody>
          </p:sp>
        </mc:Choice>
        <mc:Fallback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A265FE8F-8D6D-F483-D42D-FB9194B20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664" y="1988840"/>
                <a:ext cx="4785047" cy="4438922"/>
              </a:xfrm>
              <a:prstGeom prst="rect">
                <a:avLst/>
              </a:prstGeom>
              <a:blipFill>
                <a:blip r:embed="rId4"/>
                <a:stretch>
                  <a:fillRect l="-265" t="-286" r="-52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A0AA69A6-1916-C7A6-54E1-C2589E6BEC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629" y="2924944"/>
            <a:ext cx="234950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982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849C2-61BD-D13A-5C57-77CD3BE02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5F8C-702B-7325-F742-CE3FC5BDE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4" y="236425"/>
            <a:ext cx="6471483" cy="1143000"/>
          </a:xfrm>
        </p:spPr>
        <p:txBody>
          <a:bodyPr/>
          <a:lstStyle/>
          <a:p>
            <a:r>
              <a:rPr lang="en-US" dirty="0"/>
              <a:t>From value to policy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86032E35-E6B6-14F1-F1D5-DF5879369761}"/>
              </a:ext>
            </a:extLst>
          </p:cNvPr>
          <p:cNvSpPr/>
          <p:nvPr/>
        </p:nvSpPr>
        <p:spPr>
          <a:xfrm>
            <a:off x="467544" y="1772816"/>
            <a:ext cx="6192688" cy="468052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B9BFE47-8AEB-F931-1501-0CB71F41FE5B}"/>
              </a:ext>
            </a:extLst>
          </p:cNvPr>
          <p:cNvSpPr/>
          <p:nvPr/>
        </p:nvSpPr>
        <p:spPr>
          <a:xfrm>
            <a:off x="699115" y="1942406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ml_intro_deck/icons/clipboard_white.png">
            <a:extLst>
              <a:ext uri="{FF2B5EF4-FFF2-40B4-BE49-F238E27FC236}">
                <a16:creationId xmlns:a16="http://schemas.microsoft.com/office/drawing/2014/main" id="{E8D419F0-7AD6-36F4-A006-3A514764B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61" y="2085052"/>
            <a:ext cx="309067" cy="3090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B3247125-CE20-50EB-98B3-09FD425E966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643614" y="1942406"/>
                <a:ext cx="4785047" cy="44389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/>
                  <a:t>In basic Q-learning we kept track of all states and actions</a:t>
                </a:r>
                <a:endParaRPr lang="en-US" sz="14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400" dirty="0"/>
              </a:p>
              <a:p>
                <a:r>
                  <a:rPr lang="en-US" sz="1400" dirty="0"/>
                  <a:t>In DQN, we approximated Q with a NN.</a:t>
                </a:r>
              </a:p>
              <a:p>
                <a:endParaRPr lang="en-US" sz="1400" dirty="0"/>
              </a:p>
              <a:p>
                <a:pPr marL="0" indent="0">
                  <a:buNone/>
                </a:pPr>
                <a:r>
                  <a:rPr lang="en-US" sz="1400" b="1" dirty="0"/>
                  <a:t>However: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r>
                  <a:rPr lang="en-US" sz="1400" dirty="0"/>
                  <a:t>We are still trying to find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which requires discrete actions.</a:t>
                </a:r>
              </a:p>
              <a:p>
                <a:endParaRPr lang="en-US" sz="1400" dirty="0"/>
              </a:p>
              <a:p>
                <a:pPr marL="0" indent="0">
                  <a:buNone/>
                </a:pPr>
                <a:r>
                  <a:rPr lang="en-US" sz="1400" b="1" dirty="0"/>
                  <a:t>Instead:</a:t>
                </a:r>
              </a:p>
              <a:p>
                <a:pPr marL="0" indent="0">
                  <a:buNone/>
                </a:pPr>
                <a:endParaRPr lang="en-US" sz="1400" b="1" dirty="0"/>
              </a:p>
              <a:p>
                <a:r>
                  <a:rPr lang="en-US" sz="1400" b="1" dirty="0">
                    <a:solidFill>
                      <a:srgbClr val="7030A0"/>
                    </a:solidFill>
                  </a:rPr>
                  <a:t>Policy-based algorithms: </a:t>
                </a:r>
                <a:r>
                  <a:rPr lang="en-US" sz="1400" dirty="0"/>
                  <a:t>No value function, and the policy is learned directly</a:t>
                </a:r>
              </a:p>
              <a:p>
                <a:endParaRPr lang="en-US" sz="1400" dirty="0"/>
              </a:p>
              <a:p>
                <a:r>
                  <a:rPr lang="en-US" sz="1400" b="1" dirty="0">
                    <a:solidFill>
                      <a:srgbClr val="7030A0"/>
                    </a:solidFill>
                  </a:rPr>
                  <a:t>Actor-critic-based algorithms:</a:t>
                </a:r>
                <a:r>
                  <a:rPr lang="en-US" sz="1400" dirty="0">
                    <a:solidFill>
                      <a:srgbClr val="7030A0"/>
                    </a:solidFill>
                  </a:rPr>
                  <a:t> </a:t>
                </a:r>
                <a:r>
                  <a:rPr lang="en-US" sz="1400" dirty="0"/>
                  <a:t>Learned value function and learnt policy</a:t>
                </a:r>
              </a:p>
            </p:txBody>
          </p:sp>
        </mc:Choice>
        <mc:Fallback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B3247125-CE20-50EB-98B3-09FD425E9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3614" y="1942406"/>
                <a:ext cx="4785047" cy="4438922"/>
              </a:xfrm>
              <a:prstGeom prst="rect">
                <a:avLst/>
              </a:prstGeom>
              <a:blipFill>
                <a:blip r:embed="rId4"/>
                <a:stretch>
                  <a:fillRect l="-529" t="-286" r="-52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96DFE03-573F-A08D-EF22-1FA511072D66}"/>
              </a:ext>
            </a:extLst>
          </p:cNvPr>
          <p:cNvSpPr/>
          <p:nvPr/>
        </p:nvSpPr>
        <p:spPr>
          <a:xfrm>
            <a:off x="1150828" y="5517232"/>
            <a:ext cx="5386707" cy="100811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AED30C-0E6E-848B-EEBA-4B5A5DF94B76}"/>
              </a:ext>
            </a:extLst>
          </p:cNvPr>
          <p:cNvSpPr txBox="1"/>
          <p:nvPr/>
        </p:nvSpPr>
        <p:spPr>
          <a:xfrm>
            <a:off x="6537535" y="5671108"/>
            <a:ext cx="1598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Cutting-edge methods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D87BD2-0BF9-D89F-4BFC-85D45C3A6D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629" y="2924944"/>
            <a:ext cx="234950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684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C0913-334D-8F71-5BA0-D17260280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1111E-90DE-863A-4ED4-0CC5DDEAD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4" y="236425"/>
            <a:ext cx="6471483" cy="1143000"/>
          </a:xfrm>
        </p:spPr>
        <p:txBody>
          <a:bodyPr/>
          <a:lstStyle/>
          <a:p>
            <a:r>
              <a:rPr lang="en-US" dirty="0"/>
              <a:t>Deterministic or not?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8926F3-A229-4F5F-5A48-C534E53A4E36}"/>
              </a:ext>
            </a:extLst>
          </p:cNvPr>
          <p:cNvSpPr/>
          <p:nvPr/>
        </p:nvSpPr>
        <p:spPr>
          <a:xfrm>
            <a:off x="539552" y="1999138"/>
            <a:ext cx="8136904" cy="99781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BC68E1-9B02-F745-8DB2-69F7CCBC4734}"/>
              </a:ext>
            </a:extLst>
          </p:cNvPr>
          <p:cNvSpPr/>
          <p:nvPr/>
        </p:nvSpPr>
        <p:spPr>
          <a:xfrm>
            <a:off x="539552" y="3501008"/>
            <a:ext cx="8136904" cy="97476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77DC0B-72A8-E86F-3B28-A2972CD35693}"/>
              </a:ext>
            </a:extLst>
          </p:cNvPr>
          <p:cNvSpPr txBox="1"/>
          <p:nvPr/>
        </p:nvSpPr>
        <p:spPr>
          <a:xfrm>
            <a:off x="784709" y="2169790"/>
            <a:ext cx="25176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Deterministic policies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9F7556-8F85-0C88-D73F-4F08A7808871}"/>
              </a:ext>
            </a:extLst>
          </p:cNvPr>
          <p:cNvSpPr txBox="1"/>
          <p:nvPr/>
        </p:nvSpPr>
        <p:spPr>
          <a:xfrm>
            <a:off x="3851919" y="2287567"/>
            <a:ext cx="46376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So far we have considered deterministic policies (or epsilon-greedy)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D079C4-CD83-B2D7-01DC-8748FD9932A4}"/>
              </a:ext>
            </a:extLst>
          </p:cNvPr>
          <p:cNvSpPr txBox="1"/>
          <p:nvPr/>
        </p:nvSpPr>
        <p:spPr>
          <a:xfrm>
            <a:off x="148575" y="3773916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Stochastic policies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313ABE-BD2A-31E4-3122-610F1F11437E}"/>
              </a:ext>
            </a:extLst>
          </p:cNvPr>
          <p:cNvSpPr txBox="1"/>
          <p:nvPr/>
        </p:nvSpPr>
        <p:spPr>
          <a:xfrm>
            <a:off x="3203848" y="3677748"/>
            <a:ext cx="51872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ym typeface="Wingdings" pitchFamily="2" charset="2"/>
              </a:rPr>
              <a:t>When searching directly for policies directly in RL we focus heavily on stochastic policies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75837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BB793-9494-37D6-3133-EE1D1B65F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AE96D-E56D-75E0-1232-F241EFDAB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Policy </a:t>
            </a:r>
            <a:r>
              <a:rPr lang="en-US" dirty="0" err="1"/>
              <a:t>optimisation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58CA0B1-CB96-A3E0-B4C0-B3D6E44C3B4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77774" y="3933056"/>
                <a:ext cx="7788450" cy="22322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600" dirty="0"/>
                  <a:t>Remember: a NN is a flexible function approximation, we can use it to approximate ANY function. </a:t>
                </a:r>
              </a:p>
              <a:p>
                <a:pPr marL="0" indent="0" algn="ctr">
                  <a:buNone/>
                </a:pPr>
                <a:endParaRPr lang="en-US" sz="1600" dirty="0"/>
              </a:p>
              <a:p>
                <a:r>
                  <a:rPr lang="en-US" sz="1600" dirty="0"/>
                  <a:t>We now can use it to </a:t>
                </a:r>
                <a:r>
                  <a:rPr lang="en-US" sz="1600" dirty="0" err="1"/>
                  <a:t>parametrise</a:t>
                </a:r>
                <a:r>
                  <a:rPr lang="en-US" sz="1600" dirty="0"/>
                  <a:t> the policy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1600" dirty="0"/>
                  <a:t>and we want to find the policy parameters that </a:t>
                </a:r>
                <a:r>
                  <a:rPr lang="en-US" sz="1600" b="1" dirty="0">
                    <a:solidFill>
                      <a:srgbClr val="7030A0"/>
                    </a:solidFill>
                  </a:rPr>
                  <a:t>maximise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GB" sz="16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GB" sz="16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GB" sz="16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GB" sz="16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b="1" dirty="0">
                    <a:solidFill>
                      <a:srgbClr val="7030A0"/>
                    </a:solidFill>
                  </a:rPr>
                  <a:t> directly </a:t>
                </a:r>
                <a:endParaRPr lang="en-US" sz="1600" dirty="0"/>
              </a:p>
              <a:p>
                <a:endParaRPr lang="en-US" sz="1600" b="1" dirty="0">
                  <a:solidFill>
                    <a:srgbClr val="7030A0"/>
                  </a:solidFill>
                </a:endParaRPr>
              </a:p>
              <a:p>
                <a:r>
                  <a:rPr lang="en-GB" sz="1600" dirty="0">
                    <a:solidFill>
                      <a:schemeClr val="tx1"/>
                    </a:solidFill>
                  </a:rPr>
                  <a:t>We can then optimise the parameters/weights using our favourite optimisation algorithms (e.g. steepest descent based on a loss)</a:t>
                </a:r>
                <a:endParaRPr lang="en-US" sz="16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Font typeface="Arial" pitchFamily="34" charset="0"/>
                  <a:buNone/>
                </a:pPr>
                <a:endParaRPr lang="en-US" sz="16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58CA0B1-CB96-A3E0-B4C0-B3D6E44C3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7774" y="3933056"/>
                <a:ext cx="7788450" cy="2232248"/>
              </a:xfrm>
              <a:prstGeom prst="rect">
                <a:avLst/>
              </a:prstGeom>
              <a:blipFill>
                <a:blip r:embed="rId3"/>
                <a:stretch>
                  <a:fillRect l="-326" t="-565" r="-163" b="-395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A29CB26-6DFC-2FC8-A810-B545588163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5" y="1379425"/>
            <a:ext cx="4032448" cy="238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681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95770-681F-653D-1572-B5145FCE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FAE4B-D97E-AA35-9A2A-9833FBF0D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Policy </a:t>
            </a:r>
            <a:r>
              <a:rPr lang="en-US" dirty="0" err="1"/>
              <a:t>optimisation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3845253-06AD-43B9-B467-FD51D7DECD1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55576" y="1628800"/>
                <a:ext cx="7788450" cy="47525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600" dirty="0"/>
                  <a:t>A few definitions that we need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[</m:t>
                      </m:r>
                      <m:sSubSup>
                        <m:sSubSupPr>
                          <m:ctrlPr>
                            <a:rPr lang="en-GB" sz="1600" b="0" i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0∼</m:t>
                              </m:r>
                              <m:sSub>
                                <m:sSub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chemeClr val="tx1"/>
                    </a:solidFill>
                  </a:rPr>
                  <a:t>Note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sSub>
                          <m:sSubPr>
                            <m:ctrlP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GB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is a function of the initial state, while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is a single number averaged over all the stochastic variables in the process. If the initial situation is always the same, e.g. chess, then both quantities are identical.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chemeClr val="tx1"/>
                    </a:solidFill>
                  </a:rPr>
                  <a:t>We also define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1600" b="0" i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=0 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1600" dirty="0"/>
                  <a:t>Which is the total discounted return evaluated over the whole trajectory.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3845253-06AD-43B9-B467-FD51D7DEC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76" y="1628800"/>
                <a:ext cx="7788450" cy="4752528"/>
              </a:xfrm>
              <a:prstGeom prst="rect">
                <a:avLst/>
              </a:prstGeom>
              <a:blipFill>
                <a:blip r:embed="rId3"/>
                <a:stretch>
                  <a:fillRect l="-326" t="-533" r="-4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D959A7-9366-7F62-6095-A74EF124D4D5}"/>
                  </a:ext>
                </a:extLst>
              </p:cNvPr>
              <p:cNvSpPr txBox="1"/>
              <p:nvPr/>
            </p:nvSpPr>
            <p:spPr>
              <a:xfrm>
                <a:off x="6876256" y="1288668"/>
                <a:ext cx="193052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D959A7-9366-7F62-6095-A74EF124D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256" y="1288668"/>
                <a:ext cx="1930528" cy="215444"/>
              </a:xfrm>
              <a:prstGeom prst="rect">
                <a:avLst/>
              </a:prstGeom>
              <a:blipFill>
                <a:blip r:embed="rId4"/>
                <a:stretch>
                  <a:fillRect l="-1307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C1C9E3-1772-A7DF-095C-F14606B6C66D}"/>
                  </a:ext>
                </a:extLst>
              </p:cNvPr>
              <p:cNvSpPr txBox="1"/>
              <p:nvPr/>
            </p:nvSpPr>
            <p:spPr>
              <a:xfrm>
                <a:off x="6881898" y="1539934"/>
                <a:ext cx="233409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7030A0"/>
                    </a:solidFill>
                  </a:rPr>
                  <a:t> possible outcomes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7030A0"/>
                    </a:solidFill>
                  </a:rPr>
                  <a:t> probability of that outcome occurring. </a:t>
                </a:r>
                <a:r>
                  <a:rPr lang="en-US" sz="1200" b="1" dirty="0">
                    <a:solidFill>
                      <a:srgbClr val="7030A0"/>
                    </a:solidFill>
                  </a:rPr>
                  <a:t>Probability of transition dynamic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C1C9E3-1772-A7DF-095C-F14606B6C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898" y="1539934"/>
                <a:ext cx="2334098" cy="830997"/>
              </a:xfrm>
              <a:prstGeom prst="rect">
                <a:avLst/>
              </a:prstGeom>
              <a:blipFill>
                <a:blip r:embed="rId5"/>
                <a:stretch>
                  <a:fillRect t="-1515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6342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4C90E-7808-55A1-F0C6-42029BC46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DF9F3-BDA2-B864-674C-74A149A7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Policy </a:t>
            </a:r>
            <a:r>
              <a:rPr lang="en-US" dirty="0" err="1"/>
              <a:t>optimisation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FCC2302-1E28-4597-D98A-B77C214341E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55576" y="1628800"/>
                <a:ext cx="7788450" cy="47525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600" dirty="0"/>
                  <a:t>Using these ideas our goal is to find: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And now we can apply gradient descent to </a:t>
                </a:r>
                <a:r>
                  <a:rPr lang="en-US" sz="1600" dirty="0" err="1"/>
                  <a:t>optimise</a:t>
                </a:r>
                <a:r>
                  <a:rPr lang="en-US" sz="1600" dirty="0"/>
                  <a:t> our policy for all possible initial states.  </a:t>
                </a:r>
                <a:r>
                  <a:rPr lang="en-US" sz="1600" dirty="0">
                    <a:solidFill>
                      <a:srgbClr val="7030A0"/>
                    </a:solidFill>
                  </a:rPr>
                  <a:t>We can’t find this gradient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GB" sz="1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GB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GB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7030A0"/>
                    </a:solidFill>
                  </a:rPr>
                  <a:t> just by sampling!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Applying the chain rule on our objective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FCC2302-1E28-4597-D98A-B77C21434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76" y="1628800"/>
                <a:ext cx="7788450" cy="4752528"/>
              </a:xfrm>
              <a:prstGeom prst="rect">
                <a:avLst/>
              </a:prstGeom>
              <a:blipFill>
                <a:blip r:embed="rId3"/>
                <a:stretch>
                  <a:fillRect l="-326" t="-5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9AA77B9-031A-BF38-A871-490E742D8C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4185084"/>
            <a:ext cx="4514559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60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27611-CDEC-9902-4F15-F9CE339A3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24231-1BAF-CE02-9486-8CCE496FE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Policy </a:t>
            </a:r>
            <a:r>
              <a:rPr lang="en-US" dirty="0" err="1"/>
              <a:t>optimisation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4265D5B-19C2-5FE2-2B80-7F034C97FF9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55576" y="1628800"/>
                <a:ext cx="7788450" cy="47525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600" dirty="0"/>
                  <a:t>Now we can </a:t>
                </a:r>
                <a:r>
                  <a:rPr lang="en-US" sz="1600" dirty="0" err="1"/>
                  <a:t>optimise</a:t>
                </a:r>
                <a:r>
                  <a:rPr lang="en-US" sz="1600" dirty="0"/>
                  <a:t> this (since it is an expectation) using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600" dirty="0"/>
                  <a:t> paths</a:t>
                </a:r>
              </a:p>
              <a:p>
                <a:pPr marL="0" indent="0">
                  <a:buNone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GB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bSup>
                        <m:sSubSupPr>
                          <m:ctrlPr>
                            <a:rPr lang="en-GB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sSub>
                        <m:sSubPr>
                          <m:ctrlPr>
                            <a:rPr lang="en-GB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GB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GB" sz="16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en-GB" sz="1600" b="0" i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GB" sz="1600" dirty="0"/>
                  <a:t>That means that</a:t>
                </a:r>
              </a:p>
              <a:p>
                <a:pPr marL="0" indent="0">
                  <a:buNone/>
                </a:pPr>
                <a:endParaRPr lang="en-GB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GB" sz="1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GB" sz="16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sz="16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GB" sz="1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GB" sz="1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GB" sz="16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16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16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GB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>
                        <m:sSubPr>
                          <m:ctrlPr>
                            <a:rPr lang="en-GB" sz="16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GB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GB" sz="16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GB" sz="16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GB" sz="16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16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6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16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16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sz="16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4265D5B-19C2-5FE2-2B80-7F034C97F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76" y="1628800"/>
                <a:ext cx="7788450" cy="4752528"/>
              </a:xfrm>
              <a:prstGeom prst="rect">
                <a:avLst/>
              </a:prstGeom>
              <a:blipFill>
                <a:blip r:embed="rId3"/>
                <a:stretch>
                  <a:fillRect l="-326" t="-5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1C423F-E57D-CE8F-256F-429612AF669C}"/>
                  </a:ext>
                </a:extLst>
              </p:cNvPr>
              <p:cNvSpPr txBox="1"/>
              <p:nvPr/>
            </p:nvSpPr>
            <p:spPr>
              <a:xfrm>
                <a:off x="2195736" y="5085184"/>
                <a:ext cx="4572000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600" b="1" dirty="0">
                    <a:solidFill>
                      <a:srgbClr val="7030A0"/>
                    </a:solidFill>
                  </a:rPr>
                  <a:t>We can calculate the gradient of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GB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GB" sz="1600" b="1" dirty="0">
                    <a:solidFill>
                      <a:srgbClr val="7030A0"/>
                    </a:solidFill>
                  </a:rPr>
                  <a:t> without needing a model for the dynamics! </a:t>
                </a:r>
              </a:p>
              <a:p>
                <a:pPr algn="ctr"/>
                <a:endParaRPr lang="en-GB" sz="1600" b="1" dirty="0">
                  <a:solidFill>
                    <a:srgbClr val="7030A0"/>
                  </a:solidFill>
                </a:endParaRPr>
              </a:p>
              <a:p>
                <a:pPr algn="ctr"/>
                <a:r>
                  <a:rPr lang="en-GB" sz="1600" dirty="0">
                    <a:solidFill>
                      <a:srgbClr val="7030A0"/>
                    </a:solidFill>
                  </a:rPr>
                  <a:t>(model-free RL)</a:t>
                </a:r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1C423F-E57D-CE8F-256F-429612AF6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5085184"/>
                <a:ext cx="4572000" cy="1107996"/>
              </a:xfrm>
              <a:prstGeom prst="rect">
                <a:avLst/>
              </a:prstGeom>
              <a:blipFill>
                <a:blip r:embed="rId4"/>
                <a:stretch>
                  <a:fillRect t="-2273" r="-1385" b="-3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2885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AD5B2-85E2-CBFF-BC99-37EE30987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39829-9999-CCBD-5DBA-ECF3E4528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Policy </a:t>
            </a:r>
            <a:r>
              <a:rPr lang="en-US" dirty="0" err="1"/>
              <a:t>optimisation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FA23A3D-57B9-3AA1-8699-DDFA74169B2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55576" y="1628800"/>
                <a:ext cx="7788450" cy="47525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600" dirty="0"/>
                  <a:t>We define the score function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GB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GB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GB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>
                        <m:sSubPr>
                          <m:ctrlPr>
                            <a:rPr lang="en-GB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GB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1600" dirty="0"/>
                  <a:t>The score function is the derivative of the log of a parametrized probability, and this is called the REINFORCE estimator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16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en-US" sz="1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GB" sz="16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GB" sz="160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sSub>
                      <m:sSubPr>
                        <m:ctrlPr>
                          <a:rPr lang="en-GB" sz="16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en-US" sz="1600" dirty="0"/>
              </a:p>
              <a:p>
                <a:pPr marL="0" indent="0" algn="ctr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sz="16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1600" dirty="0"/>
                  <a:t>Note that an action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𝑎𝑡</m:t>
                    </m:r>
                  </m:oMath>
                </a14:m>
                <a:r>
                  <a:rPr lang="en-US" sz="1600" dirty="0"/>
                  <a:t> cannot influence rewards that have already happen, and only the future depends on it. </a:t>
                </a:r>
                <a:r>
                  <a:rPr lang="en-US" sz="1600" dirty="0">
                    <a:solidFill>
                      <a:srgbClr val="7030A0"/>
                    </a:solidFill>
                  </a:rPr>
                  <a:t>The approach is unbiased but very noise.</a:t>
                </a:r>
              </a:p>
              <a:p>
                <a:pPr marL="0" indent="0">
                  <a:buNone/>
                </a:pPr>
                <a:endParaRPr lang="en-US" sz="1600" dirty="0">
                  <a:solidFill>
                    <a:srgbClr val="7030A0"/>
                  </a:solidFill>
                </a:endParaRPr>
              </a:p>
              <a:p>
                <a:endParaRPr lang="en-US" sz="16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FA23A3D-57B9-3AA1-8699-DDFA74169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76" y="1628800"/>
                <a:ext cx="7788450" cy="4752528"/>
              </a:xfrm>
              <a:prstGeom prst="rect">
                <a:avLst/>
              </a:prstGeom>
              <a:blipFill>
                <a:blip r:embed="rId3"/>
                <a:stretch>
                  <a:fillRect l="-326" t="-5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2033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0B6D5-DD77-F5DD-EBA8-208F2D3D3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0F3BC-FDAE-A006-C347-4E95BC918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Policy </a:t>
            </a:r>
            <a:r>
              <a:rPr lang="en-US" dirty="0" err="1"/>
              <a:t>optimisation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D9B2704-25E6-8613-8A05-B934672F1EE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55576" y="1628800"/>
                <a:ext cx="7788450" cy="47525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600" dirty="0"/>
                  <a:t>As usual, we have some tricks to </a:t>
                </a:r>
                <a:r>
                  <a:rPr lang="en-GB" sz="1600" b="1" dirty="0"/>
                  <a:t>reduce the high variance</a:t>
                </a:r>
                <a:r>
                  <a:rPr lang="en-GB" sz="1600" dirty="0"/>
                  <a:t>: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r>
                  <a:rPr lang="en-US" sz="1600" dirty="0"/>
                  <a:t>Reduce variance with reward-to-go</a:t>
                </a:r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GB" sz="1600" b="0" i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sSup>
                          <m:sSupPr>
                            <m:ctrlPr>
                              <a:rPr lang="en-GB" sz="1600" b="0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6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p>
                            <m:r>
                              <a:rPr lang="en-GB" sz="1600" b="0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GB" sz="16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so that we don’t consider all past information which only adds noise. There are more tricks: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Replace the sample with it’s expectation</a:t>
                </a:r>
              </a:p>
              <a:p>
                <a:endParaRPr lang="en-US" sz="1600" dirty="0"/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Subtract a baseline</a:t>
                </a:r>
              </a:p>
              <a:p>
                <a:endParaRPr lang="en-US" sz="1600" dirty="0"/>
              </a:p>
              <a:p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D9B2704-25E6-8613-8A05-B934672F1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76" y="1628800"/>
                <a:ext cx="7788450" cy="4752528"/>
              </a:xfrm>
              <a:prstGeom prst="rect">
                <a:avLst/>
              </a:prstGeom>
              <a:blipFill>
                <a:blip r:embed="rId3"/>
                <a:stretch>
                  <a:fillRect l="-326" t="-5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96EE83-0A9C-1BEC-A8A9-859F9775695F}"/>
                  </a:ext>
                </a:extLst>
              </p:cNvPr>
              <p:cNvSpPr txBox="1"/>
              <p:nvPr/>
            </p:nvSpPr>
            <p:spPr>
              <a:xfrm>
                <a:off x="2286000" y="2708920"/>
                <a:ext cx="4572000" cy="5549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GB" sz="16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sSub>
                        <m:sSubPr>
                          <m:ctrlPr>
                            <a:rPr lang="en-GB" sz="16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m:rPr>
                          <m:nor/>
                        </m:rPr>
                        <a:rPr lang="en-GB" sz="1600" dirty="0"/>
                        <m:t> </m:t>
                      </m:r>
                      <m:func>
                        <m:funcPr>
                          <m:ctrlPr>
                            <a:rPr lang="en-GB" sz="16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acc>
                        <m:accPr>
                          <m:chr m:val="̂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̂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96EE83-0A9C-1BEC-A8A9-859F97756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2708920"/>
                <a:ext cx="4572000" cy="5549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0703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6617C-82BA-F48B-2539-C9A776073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274BB-EE2C-7C35-7B32-C64F622B2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Policy gradient methods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A7AFD9F-7F04-8402-2D67-4A8C691DCE22}"/>
              </a:ext>
            </a:extLst>
          </p:cNvPr>
          <p:cNvSpPr txBox="1">
            <a:spLocks/>
          </p:cNvSpPr>
          <p:nvPr/>
        </p:nvSpPr>
        <p:spPr bwMode="auto">
          <a:xfrm>
            <a:off x="611560" y="1628800"/>
            <a:ext cx="4871893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dirty="0"/>
              <a:t>There exist pure policy gradient methods in RL but they also have some issues</a:t>
            </a:r>
            <a:endParaRPr lang="en-US" sz="1600" dirty="0"/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/>
              <a:t>Even with tricks: </a:t>
            </a:r>
            <a:r>
              <a:rPr lang="en-US" sz="1600" b="1" dirty="0">
                <a:solidFill>
                  <a:srgbClr val="7030A0"/>
                </a:solidFill>
              </a:rPr>
              <a:t>high variance in gradient estimates</a:t>
            </a:r>
          </a:p>
          <a:p>
            <a:endParaRPr lang="en-US" sz="1600" dirty="0"/>
          </a:p>
          <a:p>
            <a:r>
              <a:rPr lang="en-US" sz="1600" dirty="0"/>
              <a:t>Sample inefficient: they are strictly </a:t>
            </a:r>
            <a:r>
              <a:rPr lang="en-US" sz="1600" b="1" dirty="0">
                <a:solidFill>
                  <a:srgbClr val="7030A0"/>
                </a:solidFill>
              </a:rPr>
              <a:t>on-policy </a:t>
            </a:r>
            <a:r>
              <a:rPr lang="en-US" sz="1600" dirty="0"/>
              <a:t>to calculate a gradient, Tt must collect new trajectories using its current policy weights. Once a step is taken, all past experience is stale and discarded.</a:t>
            </a:r>
          </a:p>
          <a:p>
            <a:endParaRPr lang="en-US" sz="1600" b="1" dirty="0">
              <a:solidFill>
                <a:srgbClr val="7030A0"/>
              </a:solidFill>
            </a:endParaRPr>
          </a:p>
          <a:p>
            <a:r>
              <a:rPr lang="en-US" sz="1600" b="1" dirty="0">
                <a:solidFill>
                  <a:srgbClr val="7030A0"/>
                </a:solidFill>
              </a:rPr>
              <a:t>Actions can get unfairly </a:t>
            </a:r>
            <a:r>
              <a:rPr lang="en-US" sz="1600" b="1" dirty="0" err="1">
                <a:solidFill>
                  <a:srgbClr val="7030A0"/>
                </a:solidFill>
              </a:rPr>
              <a:t>pensalised</a:t>
            </a:r>
            <a:r>
              <a:rPr lang="en-US" sz="1600" dirty="0">
                <a:solidFill>
                  <a:srgbClr val="7030A0"/>
                </a:solidFill>
              </a:rPr>
              <a:t>: </a:t>
            </a:r>
            <a:r>
              <a:rPr lang="en-US" sz="1600" dirty="0"/>
              <a:t>we are considering whole trajectories, if an agent does something good at step 5, but fails terrible the next 100, it gets unfairly penalized. No individual actions are evaluated.</a:t>
            </a:r>
            <a:endParaRPr lang="en-US" sz="1600" b="1" dirty="0"/>
          </a:p>
          <a:p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3" name="Picture 2" descr="What is the Gradient Descent Algorithm - Analytics Vidhya">
            <a:extLst>
              <a:ext uri="{FF2B5EF4-FFF2-40B4-BE49-F238E27FC236}">
                <a16:creationId xmlns:a16="http://schemas.microsoft.com/office/drawing/2014/main" id="{B67EA73D-C40B-2532-B0BD-9DDD89EA9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453" y="2636912"/>
            <a:ext cx="3660547" cy="227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804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5597C-5584-07EA-AF72-788D64827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52860-6156-A2BB-CD59-27189E730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Actor-Critic algorithms</a:t>
            </a:r>
          </a:p>
        </p:txBody>
      </p:sp>
      <p:pic>
        <p:nvPicPr>
          <p:cNvPr id="11" name="Picture 10" descr="The Actor-Critic Architecture | Download Scientific Diagram">
            <a:extLst>
              <a:ext uri="{FF2B5EF4-FFF2-40B4-BE49-F238E27FC236}">
                <a16:creationId xmlns:a16="http://schemas.microsoft.com/office/drawing/2014/main" id="{B0D8EC53-7A41-26BE-BBAF-82A7B7481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823" y="1556792"/>
            <a:ext cx="3263900" cy="2463800"/>
          </a:xfrm>
          <a:prstGeom prst="rect">
            <a:avLst/>
          </a:prstGeom>
        </p:spPr>
      </p:pic>
      <p:pic>
        <p:nvPicPr>
          <p:cNvPr id="12" name="Picture 11" descr="Advantage Actor Critic (A2C)">
            <a:extLst>
              <a:ext uri="{FF2B5EF4-FFF2-40B4-BE49-F238E27FC236}">
                <a16:creationId xmlns:a16="http://schemas.microsoft.com/office/drawing/2014/main" id="{30E22137-3A5D-39AA-222C-13053A78C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756" y="4485991"/>
            <a:ext cx="4203700" cy="19177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BC7C0250-4085-4E2F-E8A4-497643414BE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95536" y="1644328"/>
                <a:ext cx="3960441" cy="25767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600" dirty="0"/>
                  <a:t>Almost ALL algorithms used are Actor-Critic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r>
                  <a:rPr lang="en-US" sz="1600" dirty="0"/>
                  <a:t>The </a:t>
                </a:r>
                <a:r>
                  <a:rPr lang="en-US" sz="1600" dirty="0">
                    <a:solidFill>
                      <a:srgbClr val="7030A0"/>
                    </a:solidFill>
                  </a:rPr>
                  <a:t>critic</a:t>
                </a:r>
                <a:r>
                  <a:rPr lang="en-US" sz="1600" dirty="0"/>
                  <a:t> observes actions and </a:t>
                </a:r>
                <a:r>
                  <a:rPr lang="en-US" sz="1600" dirty="0">
                    <a:solidFill>
                      <a:srgbClr val="7030A0"/>
                    </a:solidFill>
                  </a:rPr>
                  <a:t>provides feedback/values</a:t>
                </a:r>
              </a:p>
              <a:p>
                <a:endParaRPr lang="en-US" sz="1600" dirty="0">
                  <a:solidFill>
                    <a:srgbClr val="7030A0"/>
                  </a:solidFill>
                </a:endParaRPr>
              </a:p>
              <a:p>
                <a:r>
                  <a:rPr lang="en-US" sz="1600" dirty="0"/>
                  <a:t>We are going to try to learn a </a:t>
                </a:r>
                <a:r>
                  <a:rPr lang="en-US" sz="1600" dirty="0">
                    <a:solidFill>
                      <a:srgbClr val="7030A0"/>
                    </a:solidFill>
                  </a:rPr>
                  <a:t>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1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GB" sz="1600" b="0" dirty="0">
                    <a:solidFill>
                      <a:srgbClr val="7030A0"/>
                    </a:solidFill>
                  </a:rPr>
                  <a:t> </a:t>
                </a:r>
                <a:r>
                  <a:rPr lang="en-GB" sz="1600" dirty="0">
                    <a:solidFill>
                      <a:srgbClr val="7030A0"/>
                    </a:solidFill>
                  </a:rPr>
                  <a:t>AND a value function (</a:t>
                </a:r>
                <a:r>
                  <a:rPr lang="en-GB" sz="1600" dirty="0"/>
                  <a:t>state-value or action-value).</a:t>
                </a:r>
                <a:endParaRPr lang="en-GB" sz="1600" b="0" dirty="0"/>
              </a:p>
              <a:p>
                <a:endParaRPr lang="en-US" sz="1600" dirty="0">
                  <a:solidFill>
                    <a:srgbClr val="7030A0"/>
                  </a:solidFill>
                </a:endParaRPr>
              </a:p>
              <a:p>
                <a:endParaRPr lang="en-US" sz="16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BC7C0250-4085-4E2F-E8A4-497643414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536" y="1644328"/>
                <a:ext cx="3960441" cy="2576760"/>
              </a:xfrm>
              <a:prstGeom prst="rect">
                <a:avLst/>
              </a:prstGeom>
              <a:blipFill>
                <a:blip r:embed="rId5"/>
                <a:stretch>
                  <a:fillRect l="-958" t="-49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4827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DCE5A-9BF6-97D7-DCE3-249EEB15B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F959-6EAC-6604-005A-BD0522B80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Recap on algorithm types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DACA8C-4CB1-9997-BDEE-37558EC5C207}"/>
              </a:ext>
            </a:extLst>
          </p:cNvPr>
          <p:cNvSpPr/>
          <p:nvPr/>
        </p:nvSpPr>
        <p:spPr>
          <a:xfrm>
            <a:off x="946416" y="2336086"/>
            <a:ext cx="3249597" cy="33681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D6F72F-11E4-E522-3808-CB4003883129}"/>
              </a:ext>
            </a:extLst>
          </p:cNvPr>
          <p:cNvSpPr/>
          <p:nvPr/>
        </p:nvSpPr>
        <p:spPr>
          <a:xfrm>
            <a:off x="5086400" y="2359666"/>
            <a:ext cx="3249597" cy="33681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852EA1-4A20-0DC1-7D27-A2A3D04379D0}"/>
                  </a:ext>
                </a:extLst>
              </p:cNvPr>
              <p:cNvSpPr txBox="1"/>
              <p:nvPr/>
            </p:nvSpPr>
            <p:spPr>
              <a:xfrm>
                <a:off x="1234200" y="2783213"/>
                <a:ext cx="2517610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On-policy learning</a:t>
                </a:r>
              </a:p>
              <a:p>
                <a:endParaRPr lang="en-US" dirty="0"/>
              </a:p>
              <a:p>
                <a:pPr algn="ctr"/>
                <a:r>
                  <a:rPr lang="en-US" sz="1400" dirty="0"/>
                  <a:t>Learn about policy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400" dirty="0"/>
                  <a:t> from experience sampled from that policy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852EA1-4A20-0DC1-7D27-A2A3D0437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200" y="2783213"/>
                <a:ext cx="2517610" cy="1292662"/>
              </a:xfrm>
              <a:prstGeom prst="rect">
                <a:avLst/>
              </a:prstGeom>
              <a:blipFill>
                <a:blip r:embed="rId3"/>
                <a:stretch>
                  <a:fillRect l="-500" t="-2913" r="-2500" b="-2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4D3E09F-D182-6E2F-1FB9-D93ED88D42E1}"/>
              </a:ext>
            </a:extLst>
          </p:cNvPr>
          <p:cNvSpPr txBox="1"/>
          <p:nvPr/>
        </p:nvSpPr>
        <p:spPr>
          <a:xfrm>
            <a:off x="5366823" y="2883691"/>
            <a:ext cx="268875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Off-policy learning</a:t>
            </a:r>
          </a:p>
          <a:p>
            <a:endParaRPr lang="en-US" dirty="0"/>
          </a:p>
          <a:p>
            <a:pPr algn="ctr"/>
            <a:r>
              <a:rPr lang="en-US" sz="1400" dirty="0"/>
              <a:t>Learn on a policy different than the one generating the data, e.g. one by another agent or a better on that it is currently following.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A202E3-F096-757A-B57D-96E59E111258}"/>
              </a:ext>
            </a:extLst>
          </p:cNvPr>
          <p:cNvSpPr txBox="1"/>
          <p:nvPr/>
        </p:nvSpPr>
        <p:spPr>
          <a:xfrm>
            <a:off x="1312409" y="4763598"/>
            <a:ext cx="2517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“Learn while on the job”</a:t>
            </a:r>
            <a:endParaRPr lang="en-US" sz="1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84FD96-F832-E25D-A4C0-AC788EB139F5}"/>
              </a:ext>
            </a:extLst>
          </p:cNvPr>
          <p:cNvSpPr txBox="1"/>
          <p:nvPr/>
        </p:nvSpPr>
        <p:spPr>
          <a:xfrm>
            <a:off x="5530748" y="4790603"/>
            <a:ext cx="251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“Learn over someone’s shoulder”</a:t>
            </a:r>
            <a:endParaRPr lang="en-US" sz="12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26D76EC-A21D-FDB1-8AE8-37EC52BCC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40358"/>
            <a:ext cx="8229600" cy="670512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We classify the algorithms in two groups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65056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8221E-F93D-D004-608D-3E2586C36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D6123-983B-1DB3-A75C-0CDE4D4B1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On or off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71BE7-8EAC-E0CC-4E51-0DB0A0DF2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40358"/>
            <a:ext cx="8229600" cy="670512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We classify the algorithms in two groups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3BAF76-9BC6-3B71-06F2-CCA60FAD98AC}"/>
              </a:ext>
            </a:extLst>
          </p:cNvPr>
          <p:cNvSpPr/>
          <p:nvPr/>
        </p:nvSpPr>
        <p:spPr>
          <a:xfrm>
            <a:off x="946416" y="2336086"/>
            <a:ext cx="3249597" cy="33681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24BABE-9AE8-C966-B0C2-33A851594685}"/>
              </a:ext>
            </a:extLst>
          </p:cNvPr>
          <p:cNvSpPr/>
          <p:nvPr/>
        </p:nvSpPr>
        <p:spPr>
          <a:xfrm>
            <a:off x="5086400" y="2359666"/>
            <a:ext cx="3249597" cy="33681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42F71F-E858-1C08-91C0-3581D6CB0EB8}"/>
              </a:ext>
            </a:extLst>
          </p:cNvPr>
          <p:cNvSpPr txBox="1"/>
          <p:nvPr/>
        </p:nvSpPr>
        <p:spPr>
          <a:xfrm>
            <a:off x="1234200" y="2783213"/>
            <a:ext cx="251761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On-policy learning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Safer during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Tend to be more stable an easier to converge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B82560-ED18-F319-91DE-6C216361FE7D}"/>
              </a:ext>
            </a:extLst>
          </p:cNvPr>
          <p:cNvSpPr txBox="1"/>
          <p:nvPr/>
        </p:nvSpPr>
        <p:spPr>
          <a:xfrm>
            <a:off x="5366823" y="2783213"/>
            <a:ext cx="26887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Off-policy learning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More sampling effective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Can learn from logs (use a replay buffer)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1F12D7-C2B3-FD95-2E3B-70AE05CFCD5E}"/>
              </a:ext>
            </a:extLst>
          </p:cNvPr>
          <p:cNvSpPr txBox="1"/>
          <p:nvPr/>
        </p:nvSpPr>
        <p:spPr>
          <a:xfrm>
            <a:off x="1312409" y="4763598"/>
            <a:ext cx="251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Proximal Policy Optimization (PPO)</a:t>
            </a:r>
            <a:endParaRPr lang="en-US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2CB5FF-B830-2683-2B9C-F17CB654645B}"/>
              </a:ext>
            </a:extLst>
          </p:cNvPr>
          <p:cNvSpPr txBox="1"/>
          <p:nvPr/>
        </p:nvSpPr>
        <p:spPr>
          <a:xfrm>
            <a:off x="5530748" y="4790603"/>
            <a:ext cx="2517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Soft Actor-Critic (SAC)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71745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B5C2C-38B9-1CFA-B86A-FA655B28F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357F2-F4DA-2702-C740-88F2A1EF4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Separating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A3198-A2A6-CBAC-07CD-688B9B9B7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40358"/>
            <a:ext cx="8229600" cy="670512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Separating the algorithms based on: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234760-08B3-2280-4E93-A07056457F8A}"/>
              </a:ext>
            </a:extLst>
          </p:cNvPr>
          <p:cNvSpPr/>
          <p:nvPr/>
        </p:nvSpPr>
        <p:spPr>
          <a:xfrm>
            <a:off x="946416" y="2336086"/>
            <a:ext cx="3249597" cy="33681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12C694-B406-7449-CF68-820B8A38BEA7}"/>
              </a:ext>
            </a:extLst>
          </p:cNvPr>
          <p:cNvSpPr/>
          <p:nvPr/>
        </p:nvSpPr>
        <p:spPr>
          <a:xfrm>
            <a:off x="5086400" y="2359666"/>
            <a:ext cx="3249597" cy="3368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3190EE-033A-8555-FA8B-8DAB9619E472}"/>
              </a:ext>
            </a:extLst>
          </p:cNvPr>
          <p:cNvSpPr txBox="1"/>
          <p:nvPr/>
        </p:nvSpPr>
        <p:spPr>
          <a:xfrm>
            <a:off x="1234200" y="2665405"/>
            <a:ext cx="251761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Can you reuse old data?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On-policy: data is only valid for the policy that collected it. Then throw away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Off-policy: keep a replay buffer 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3AF78D-F22A-4111-67EF-1C82DD3EC4C3}"/>
              </a:ext>
            </a:extLst>
          </p:cNvPr>
          <p:cNvSpPr txBox="1"/>
          <p:nvPr/>
        </p:nvSpPr>
        <p:spPr>
          <a:xfrm>
            <a:off x="5366823" y="2643097"/>
            <a:ext cx="268875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Where does exploration come from?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From the policy itself (stochastic policy)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Actively encouraged (add noise to actions, or add a reward that </a:t>
            </a:r>
            <a:r>
              <a:rPr lang="en-US" sz="1400" dirty="0" err="1"/>
              <a:t>favours</a:t>
            </a:r>
            <a:r>
              <a:rPr lang="en-US" sz="1400" dirty="0"/>
              <a:t> exploration, e.g. SAC)</a:t>
            </a:r>
          </a:p>
        </p:txBody>
      </p:sp>
    </p:spTree>
    <p:extLst>
      <p:ext uri="{BB962C8B-B14F-4D97-AF65-F5344CB8AC3E}">
        <p14:creationId xmlns:p14="http://schemas.microsoft.com/office/powerpoint/2010/main" val="791108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43898-38D9-D932-3E25-27E4B6E03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225CB-DCE1-9D6E-59E7-17169C061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Two popular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3D43F-6BD8-3DFD-86CB-F710EC0BD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40358"/>
            <a:ext cx="8229600" cy="670512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We will go conceptually through both, and in detail through PPO.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B02009-CFB0-65EC-ABC1-7238AD7E4B3C}"/>
              </a:ext>
            </a:extLst>
          </p:cNvPr>
          <p:cNvSpPr/>
          <p:nvPr/>
        </p:nvSpPr>
        <p:spPr>
          <a:xfrm>
            <a:off x="946416" y="2336086"/>
            <a:ext cx="3249597" cy="33681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10A49D-57E5-F1E4-15FC-03930D0A8D2D}"/>
              </a:ext>
            </a:extLst>
          </p:cNvPr>
          <p:cNvSpPr/>
          <p:nvPr/>
        </p:nvSpPr>
        <p:spPr>
          <a:xfrm>
            <a:off x="5086400" y="2359666"/>
            <a:ext cx="3249597" cy="3368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E7F0E3-2003-A9E2-07F9-1F6C01D22CD6}"/>
              </a:ext>
            </a:extLst>
          </p:cNvPr>
          <p:cNvSpPr txBox="1"/>
          <p:nvPr/>
        </p:nvSpPr>
        <p:spPr>
          <a:xfrm>
            <a:off x="1234200" y="2665405"/>
            <a:ext cx="251761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Can you reuse old data?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On-policy: data is only valid for the policy that collected it. Then throw away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Off-policy: keep a replay buffer 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5E6AB1-FF90-5939-38E8-568A92E5457D}"/>
              </a:ext>
            </a:extLst>
          </p:cNvPr>
          <p:cNvSpPr txBox="1"/>
          <p:nvPr/>
        </p:nvSpPr>
        <p:spPr>
          <a:xfrm>
            <a:off x="5366823" y="2643097"/>
            <a:ext cx="268875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Where does exploration come from?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From the policy itself (stochastic policy)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Actively encouraged (add noise to actions, or add a reward that </a:t>
            </a:r>
            <a:r>
              <a:rPr lang="en-US" sz="1400" dirty="0" err="1"/>
              <a:t>favours</a:t>
            </a:r>
            <a:r>
              <a:rPr lang="en-US" sz="1400" dirty="0"/>
              <a:t> exploration, e.g. SAC)</a:t>
            </a:r>
          </a:p>
        </p:txBody>
      </p:sp>
    </p:spTree>
    <p:extLst>
      <p:ext uri="{BB962C8B-B14F-4D97-AF65-F5344CB8AC3E}">
        <p14:creationId xmlns:p14="http://schemas.microsoft.com/office/powerpoint/2010/main" val="1352083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6A665-BB08-2471-3A59-A14E7CD8E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9E083-B149-6C5E-FDD6-FDDF5F1C3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Proximal Policy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59C39-4FCC-73CB-5CE4-B87FF7197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40358"/>
            <a:ext cx="8229600" cy="670512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PPO is one of the most popular RL algorithms. It is the closest to “just works”.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84BA63FC-75A7-E0D9-930B-1DFE4EDFCB94}"/>
              </a:ext>
            </a:extLst>
          </p:cNvPr>
          <p:cNvSpPr/>
          <p:nvPr/>
        </p:nvSpPr>
        <p:spPr>
          <a:xfrm>
            <a:off x="1331640" y="1941055"/>
            <a:ext cx="6192688" cy="468052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9E6301E1-B2CF-58D4-2AEB-1FDEA2A37C3F}"/>
              </a:ext>
            </a:extLst>
          </p:cNvPr>
          <p:cNvSpPr/>
          <p:nvPr/>
        </p:nvSpPr>
        <p:spPr>
          <a:xfrm>
            <a:off x="1563211" y="2110645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ml_intro_deck/icons/clipboard_white.png">
            <a:extLst>
              <a:ext uri="{FF2B5EF4-FFF2-40B4-BE49-F238E27FC236}">
                <a16:creationId xmlns:a16="http://schemas.microsoft.com/office/drawing/2014/main" id="{CE2523F4-DC1A-6579-D19F-C5BB907F5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857" y="2253291"/>
            <a:ext cx="309067" cy="309067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279730E-AEF4-D679-E6DC-13E9BBDC6FC2}"/>
              </a:ext>
            </a:extLst>
          </p:cNvPr>
          <p:cNvSpPr txBox="1">
            <a:spLocks/>
          </p:cNvSpPr>
          <p:nvPr/>
        </p:nvSpPr>
        <p:spPr bwMode="auto">
          <a:xfrm>
            <a:off x="2507710" y="2110645"/>
            <a:ext cx="4785047" cy="4438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</a:rPr>
              <a:t>Key idea: </a:t>
            </a:r>
            <a:r>
              <a:rPr lang="en-US" sz="1400" dirty="0"/>
              <a:t>we want to improve the training stability of the policy limiting the change we do (every time we collect experience).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Why?</a:t>
            </a:r>
          </a:p>
          <a:p>
            <a:pPr marL="0" indent="0">
              <a:buNone/>
            </a:pPr>
            <a:endParaRPr lang="en-US" sz="1400" b="1" dirty="0"/>
          </a:p>
          <a:p>
            <a:r>
              <a:rPr lang="en-US" sz="1400" dirty="0"/>
              <a:t>Empirically, we know that smaller policy updates are more likely to converge to an optimal solution.</a:t>
            </a:r>
          </a:p>
          <a:p>
            <a:endParaRPr lang="en-US" sz="1400" dirty="0"/>
          </a:p>
          <a:p>
            <a:r>
              <a:rPr lang="en-US" sz="1400" dirty="0"/>
              <a:t>Taking to big a step can make us “fall of the cliff” and makes it hard to recover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</a:rPr>
              <a:t>An analogy: </a:t>
            </a:r>
            <a:r>
              <a:rPr lang="en-GB" sz="1400" dirty="0"/>
              <a:t>You run a batch of wind-tunnel experiments to design a controller. The results tell you how small tweaks will behave. They tell you nothing reliable about a radically different controller.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3697852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520-57DA-EE1A-F0D8-043E9604A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D8B70-90E9-EBAA-800F-BCC852390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Proximal Policy Optimization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687C3A94-BE92-B5EC-F91A-00861ADE9881}"/>
              </a:ext>
            </a:extLst>
          </p:cNvPr>
          <p:cNvSpPr/>
          <p:nvPr/>
        </p:nvSpPr>
        <p:spPr>
          <a:xfrm>
            <a:off x="1331640" y="1941055"/>
            <a:ext cx="6192688" cy="3360153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FAFF5E84-7353-5732-6300-27C491423F29}"/>
              </a:ext>
            </a:extLst>
          </p:cNvPr>
          <p:cNvSpPr/>
          <p:nvPr/>
        </p:nvSpPr>
        <p:spPr>
          <a:xfrm>
            <a:off x="1563211" y="2110645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ml_intro_deck/icons/clipboard_white.png">
            <a:extLst>
              <a:ext uri="{FF2B5EF4-FFF2-40B4-BE49-F238E27FC236}">
                <a16:creationId xmlns:a16="http://schemas.microsoft.com/office/drawing/2014/main" id="{FCD11D65-9B99-544C-BD88-E85B22164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857" y="2253291"/>
            <a:ext cx="309067" cy="3090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D7F913C9-98FA-DF0B-C2C5-08F8D8C24E9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507710" y="2110645"/>
                <a:ext cx="4785047" cy="24704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7030A0"/>
                    </a:solidFill>
                  </a:rPr>
                  <a:t>How do we limit the policy?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GB" sz="1600" dirty="0"/>
                  <a:t>We measure how much the policy has changes with respect to the one using a ratio calculation between the current and former policy. And we clip this ratio in a range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en-GB" sz="1600"/>
                        </m:ctrlPr>
                      </m:dPr>
                      <m:e>
                        <m:r>
                          <a:rPr lang="en-GB" sz="1600"/>
                          <m:t>1</m:t>
                        </m:r>
                      </m:e>
                      <m:e>
                        <m:r>
                          <a:rPr lang="en-GB" sz="1600"/>
                          <m:t>−</m:t>
                        </m:r>
                        <m:r>
                          <a:rPr lang="en-GB" sz="1600" i="1"/>
                          <m:t>𝜖</m:t>
                        </m:r>
                        <m:r>
                          <a:rPr lang="en-GB" sz="16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/>
                          <m:t>1+</m:t>
                        </m:r>
                        <m:r>
                          <a:rPr lang="en-GB" sz="1600" i="1"/>
                          <m:t>𝜖</m:t>
                        </m:r>
                      </m:e>
                    </m:d>
                  </m:oMath>
                </a14:m>
                <a:r>
                  <a:rPr lang="en-GB" sz="1600" dirty="0"/>
                  <a:t>, meaning that we </a:t>
                </a:r>
                <a:r>
                  <a:rPr lang="en-GB" sz="1600" b="1" dirty="0"/>
                  <a:t>remove the incentive for the current policy to go too far from the old one (that’s why it is called proximal policy).</a:t>
                </a:r>
                <a:endParaRPr lang="en-GB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endParaRPr lang="en-US" sz="1400" b="1" dirty="0"/>
              </a:p>
            </p:txBody>
          </p:sp>
        </mc:Choice>
        <mc:Fallback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D7F913C9-98FA-DF0B-C2C5-08F8D8C24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7710" y="2110645"/>
                <a:ext cx="4785047" cy="2470483"/>
              </a:xfrm>
              <a:prstGeom prst="rect">
                <a:avLst/>
              </a:prstGeom>
              <a:blipFill>
                <a:blip r:embed="rId4"/>
                <a:stretch>
                  <a:fillRect l="-794" t="-1026" r="-26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6389AD3-B35A-0786-13B6-05B094B96FAC}"/>
              </a:ext>
            </a:extLst>
          </p:cNvPr>
          <p:cNvSpPr txBox="1">
            <a:spLocks/>
          </p:cNvSpPr>
          <p:nvPr/>
        </p:nvSpPr>
        <p:spPr bwMode="auto">
          <a:xfrm>
            <a:off x="115186" y="6386401"/>
            <a:ext cx="4785047" cy="48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From Hugging Face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72830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27032-D91F-99A9-410B-B88084AAD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9B46D-E59A-16B1-E4CF-CEDAEE2E4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Proximal Policy Optimization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7F067B24-4271-9661-EC51-31D66472300D}"/>
              </a:ext>
            </a:extLst>
          </p:cNvPr>
          <p:cNvSpPr/>
          <p:nvPr/>
        </p:nvSpPr>
        <p:spPr>
          <a:xfrm>
            <a:off x="1331640" y="1941055"/>
            <a:ext cx="6192688" cy="4080233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2F195603-985B-FDD1-BD5D-6F33D5F741F4}"/>
              </a:ext>
            </a:extLst>
          </p:cNvPr>
          <p:cNvSpPr/>
          <p:nvPr/>
        </p:nvSpPr>
        <p:spPr>
          <a:xfrm>
            <a:off x="1563211" y="2110645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ml_intro_deck/icons/clipboard_white.png">
            <a:extLst>
              <a:ext uri="{FF2B5EF4-FFF2-40B4-BE49-F238E27FC236}">
                <a16:creationId xmlns:a16="http://schemas.microsoft.com/office/drawing/2014/main" id="{7C5C8D52-EF6F-6E70-F476-041951194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857" y="2253291"/>
            <a:ext cx="309067" cy="309067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1FEB8B-DFC8-2349-ADA0-C278F1F0E52B}"/>
              </a:ext>
            </a:extLst>
          </p:cNvPr>
          <p:cNvSpPr txBox="1">
            <a:spLocks/>
          </p:cNvSpPr>
          <p:nvPr/>
        </p:nvSpPr>
        <p:spPr bwMode="auto">
          <a:xfrm>
            <a:off x="115186" y="6386401"/>
            <a:ext cx="4785047" cy="48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From Hugging Face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endParaRPr 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26BC8E9-55A3-A8BB-FA56-F46B51487E0C}"/>
                  </a:ext>
                </a:extLst>
              </p:cNvPr>
              <p:cNvSpPr txBox="1"/>
              <p:nvPr/>
            </p:nvSpPr>
            <p:spPr>
              <a:xfrm>
                <a:off x="2286000" y="2426337"/>
                <a:ext cx="45720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en-GB" sz="16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26BC8E9-55A3-A8BB-FA56-F46B51487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2426337"/>
                <a:ext cx="4572000" cy="338554"/>
              </a:xfrm>
              <a:prstGeom prst="rect">
                <a:avLst/>
              </a:prstGeom>
              <a:blipFill>
                <a:blip r:embed="rId4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35B729DA-6774-AC31-6A85-16D53308D6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099" y="3343423"/>
            <a:ext cx="5614829" cy="7948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B215081-9D44-41E2-6A4F-78F7756B4A61}"/>
              </a:ext>
            </a:extLst>
          </p:cNvPr>
          <p:cNvSpPr txBox="1"/>
          <p:nvPr/>
        </p:nvSpPr>
        <p:spPr>
          <a:xfrm>
            <a:off x="2350358" y="2135798"/>
            <a:ext cx="4176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Instead of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6D996A-D637-51CE-9EC8-9D8B9414A534}"/>
              </a:ext>
            </a:extLst>
          </p:cNvPr>
          <p:cNvSpPr txBox="1"/>
          <p:nvPr/>
        </p:nvSpPr>
        <p:spPr>
          <a:xfrm>
            <a:off x="2286000" y="3058804"/>
            <a:ext cx="4176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 use a clipped loss for the update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F44CF48-2A9B-8569-DB19-8E0F022080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4871909"/>
            <a:ext cx="2555776" cy="6585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4F725CF-A0A4-24D4-00E8-D6DDE3FCFAAD}"/>
              </a:ext>
            </a:extLst>
          </p:cNvPr>
          <p:cNvSpPr txBox="1"/>
          <p:nvPr/>
        </p:nvSpPr>
        <p:spPr>
          <a:xfrm>
            <a:off x="1705857" y="4622844"/>
            <a:ext cx="4176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 ratio function:</a:t>
            </a:r>
          </a:p>
        </p:txBody>
      </p:sp>
    </p:spTree>
    <p:extLst>
      <p:ext uri="{BB962C8B-B14F-4D97-AF65-F5344CB8AC3E}">
        <p14:creationId xmlns:p14="http://schemas.microsoft.com/office/powerpoint/2010/main" val="4042535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BE989-EBE5-31D4-6EFF-56A58BF3B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DEB3E-01A2-4A93-F876-81A8C21D6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Proximal Policy Optimization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E367096-57B3-B5F2-29D2-E269FD27E31D}"/>
              </a:ext>
            </a:extLst>
          </p:cNvPr>
          <p:cNvSpPr/>
          <p:nvPr/>
        </p:nvSpPr>
        <p:spPr>
          <a:xfrm>
            <a:off x="251520" y="1728739"/>
            <a:ext cx="5328592" cy="3428453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F0F9B80D-43F5-06F9-80D0-FC26570A2D48}"/>
              </a:ext>
            </a:extLst>
          </p:cNvPr>
          <p:cNvSpPr/>
          <p:nvPr/>
        </p:nvSpPr>
        <p:spPr>
          <a:xfrm>
            <a:off x="483091" y="1898329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ml_intro_deck/icons/clipboard_white.png">
            <a:extLst>
              <a:ext uri="{FF2B5EF4-FFF2-40B4-BE49-F238E27FC236}">
                <a16:creationId xmlns:a16="http://schemas.microsoft.com/office/drawing/2014/main" id="{5C974A79-0395-A46A-4F1A-7CDA85A23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7" y="2040975"/>
            <a:ext cx="309067" cy="309067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C0DA8C8-4330-B85E-033B-5289A7A097C8}"/>
              </a:ext>
            </a:extLst>
          </p:cNvPr>
          <p:cNvSpPr txBox="1">
            <a:spLocks/>
          </p:cNvSpPr>
          <p:nvPr/>
        </p:nvSpPr>
        <p:spPr bwMode="auto">
          <a:xfrm>
            <a:off x="115186" y="6386401"/>
            <a:ext cx="4785047" cy="48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From Hugging Face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endParaRPr lang="en-US" sz="14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F3D666-C040-A3E2-DE11-E3AD1F81B7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91" y="2608634"/>
            <a:ext cx="4900837" cy="6938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612BCAD-4C47-0DF4-EE04-3319E19F58D2}"/>
              </a:ext>
            </a:extLst>
          </p:cNvPr>
          <p:cNvSpPr txBox="1"/>
          <p:nvPr/>
        </p:nvSpPr>
        <p:spPr>
          <a:xfrm>
            <a:off x="1242392" y="2222935"/>
            <a:ext cx="4176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 use a clipped loss for the update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2A234E2-6E37-265E-1423-847CDB8251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224" y="4036040"/>
            <a:ext cx="2555776" cy="6585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3D0D315-6FB9-705A-0880-F9417D57C279}"/>
              </a:ext>
            </a:extLst>
          </p:cNvPr>
          <p:cNvSpPr txBox="1"/>
          <p:nvPr/>
        </p:nvSpPr>
        <p:spPr>
          <a:xfrm>
            <a:off x="662249" y="3786975"/>
            <a:ext cx="4176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 ratio function: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EB6EF5-098C-6B1E-69F9-CF4C5C954198}"/>
                  </a:ext>
                </a:extLst>
              </p:cNvPr>
              <p:cNvSpPr txBox="1"/>
              <p:nvPr/>
            </p:nvSpPr>
            <p:spPr>
              <a:xfrm>
                <a:off x="5768782" y="1556792"/>
                <a:ext cx="2986499" cy="4031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0" algn="l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GB" sz="1600" b="0" i="0" dirty="0">
                    <a:solidFill>
                      <a:schemeClr val="tx1"/>
                    </a:solidFill>
                    <a:effectLst/>
                  </a:rPr>
                  <a:t> denotes the probability ratio between the current and old policy:</a:t>
                </a:r>
              </a:p>
              <a:p>
                <a:pPr marL="342900" marR="0" lvl="0" indent="-342900" algn="l">
                  <a:buFont typeface="Arial" panose="020B0604020202020204" pitchFamily="34" charset="0"/>
                  <a:buChar char="•"/>
                </a:pPr>
                <a:r>
                  <a:rPr lang="en-GB" sz="1600" b="0" i="0" dirty="0">
                    <a:solidFill>
                      <a:schemeClr val="tx1"/>
                    </a:solidFill>
                    <a:effectLst/>
                  </a:rPr>
                  <a:t>If</a:t>
                </a:r>
                <a14:m>
                  <m:oMath xmlns:m="http://schemas.openxmlformats.org/officeDocument/2006/math"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GB" sz="1600" i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GB" sz="1600" b="0" i="0" dirty="0">
                    <a:solidFill>
                      <a:schemeClr val="tx1"/>
                    </a:solidFill>
                    <a:effectLst/>
                  </a:rPr>
                  <a:t>, the </a:t>
                </a:r>
                <a:r>
                  <a:rPr lang="en-GB" sz="1600" b="1" i="0" dirty="0">
                    <a:solidFill>
                      <a:schemeClr val="tx1"/>
                    </a:solidFill>
                    <a:effectLst/>
                  </a:rPr>
                  <a:t>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600" b="1" i="0" dirty="0">
                    <a:solidFill>
                      <a:schemeClr val="tx1"/>
                    </a:solidFill>
                    <a:effectLst/>
                  </a:rPr>
                  <a:t> at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600" b="1" i="0" dirty="0">
                    <a:solidFill>
                      <a:schemeClr val="tx1"/>
                    </a:solidFill>
                    <a:effectLst/>
                  </a:rPr>
                  <a:t> is more likely in the current policy than the old policy.</a:t>
                </a:r>
                <a:endParaRPr lang="en-GB" sz="1600" b="0" i="0" dirty="0">
                  <a:solidFill>
                    <a:schemeClr val="tx1"/>
                  </a:solidFill>
                  <a:effectLst/>
                </a:endParaRPr>
              </a:p>
              <a:p>
                <a:pPr marL="342900" marR="0" lvl="0" indent="-342900" algn="l">
                  <a:buFont typeface="Arial" panose="020B0604020202020204" pitchFamily="34" charset="0"/>
                  <a:buChar char="•"/>
                </a:pPr>
                <a:r>
                  <a:rPr lang="en-GB" sz="1600" b="0" i="0" dirty="0">
                    <a:solidFill>
                      <a:schemeClr val="tx1"/>
                    </a:solidFill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GB" sz="1600" b="0" i="0" dirty="0">
                    <a:solidFill>
                      <a:schemeClr val="tx1"/>
                    </a:solidFill>
                    <a:effectLst/>
                  </a:rPr>
                  <a:t> is between 0 and 1, the </a:t>
                </a:r>
                <a:r>
                  <a:rPr lang="en-GB" sz="1600" b="1" i="0" dirty="0">
                    <a:solidFill>
                      <a:schemeClr val="tx1"/>
                    </a:solidFill>
                    <a:effectLst/>
                  </a:rPr>
                  <a:t>action is less likely for the current policy than for the old one</a:t>
                </a:r>
                <a:r>
                  <a:rPr lang="en-GB" sz="1600" b="0" i="0" dirty="0">
                    <a:solidFill>
                      <a:schemeClr val="tx1"/>
                    </a:solidFill>
                    <a:effectLst/>
                  </a:rPr>
                  <a:t>.</a:t>
                </a:r>
              </a:p>
              <a:p>
                <a:pPr marL="0" marR="0" indent="0" algn="l">
                  <a:buNone/>
                </a:pPr>
                <a:r>
                  <a:rPr lang="en-GB" sz="1600" dirty="0"/>
                  <a:t>This is</a:t>
                </a:r>
                <a:r>
                  <a:rPr lang="en-GB" sz="1600" b="0" i="0" dirty="0">
                    <a:solidFill>
                      <a:schemeClr val="tx1"/>
                    </a:solidFill>
                    <a:effectLst/>
                  </a:rPr>
                  <a:t> an </a:t>
                </a:r>
                <a:r>
                  <a:rPr lang="en-GB" sz="1600" b="1" i="0" dirty="0">
                    <a:solidFill>
                      <a:schemeClr val="tx1"/>
                    </a:solidFill>
                    <a:effectLst/>
                  </a:rPr>
                  <a:t>easy way to estimate the divergence between old and current policy.</a:t>
                </a:r>
                <a:endParaRPr lang="en-GB" sz="1600" b="0" i="0" dirty="0">
                  <a:solidFill>
                    <a:srgbClr val="B3BCC9"/>
                  </a:solidFill>
                  <a:effectLst/>
                  <a:latin typeface="Source Sans Pro" panose="020B0503030403020204" pitchFamily="34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EB6EF5-098C-6B1E-69F9-CF4C5C954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782" y="1556792"/>
                <a:ext cx="2986499" cy="4031873"/>
              </a:xfrm>
              <a:prstGeom prst="rect">
                <a:avLst/>
              </a:prstGeom>
              <a:blipFill>
                <a:blip r:embed="rId6"/>
                <a:stretch>
                  <a:fillRect l="-1271" t="-627" r="-2119" b="-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079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4B244-A53E-8632-BCC4-CD5AAEB52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AE644-1D15-B9E3-CBEA-25B97D11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Proximal Policy Optimization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A8E41F5F-BB4A-0096-39FE-3D3839622DB3}"/>
              </a:ext>
            </a:extLst>
          </p:cNvPr>
          <p:cNvSpPr/>
          <p:nvPr/>
        </p:nvSpPr>
        <p:spPr>
          <a:xfrm>
            <a:off x="1763688" y="1435869"/>
            <a:ext cx="5616624" cy="1700261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5B53DE4C-8E64-8A01-CE48-7B24AD811623}"/>
              </a:ext>
            </a:extLst>
          </p:cNvPr>
          <p:cNvSpPr/>
          <p:nvPr/>
        </p:nvSpPr>
        <p:spPr>
          <a:xfrm>
            <a:off x="1995259" y="1605459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ml_intro_deck/icons/clipboard_white.png">
            <a:extLst>
              <a:ext uri="{FF2B5EF4-FFF2-40B4-BE49-F238E27FC236}">
                <a16:creationId xmlns:a16="http://schemas.microsoft.com/office/drawing/2014/main" id="{28C90208-4120-2D6D-AB96-C92FD06D2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905" y="1748105"/>
            <a:ext cx="309067" cy="309067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79C3B6B-229C-EC68-B76A-F9CCA2A85114}"/>
              </a:ext>
            </a:extLst>
          </p:cNvPr>
          <p:cNvSpPr txBox="1">
            <a:spLocks/>
          </p:cNvSpPr>
          <p:nvPr/>
        </p:nvSpPr>
        <p:spPr bwMode="auto">
          <a:xfrm>
            <a:off x="115186" y="6386401"/>
            <a:ext cx="4785047" cy="48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From Hugging Face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endParaRPr lang="en-US" sz="14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54FFFD4-508C-3220-8A10-EF6C3C5C4F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659" y="2315764"/>
            <a:ext cx="4900837" cy="6938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9F5F7F2-81B2-8FDF-ACF4-FDA0FF7806D2}"/>
              </a:ext>
            </a:extLst>
          </p:cNvPr>
          <p:cNvSpPr txBox="1"/>
          <p:nvPr/>
        </p:nvSpPr>
        <p:spPr>
          <a:xfrm>
            <a:off x="2754560" y="1930065"/>
            <a:ext cx="4176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 use a clipped loss for the update</a:t>
            </a:r>
          </a:p>
        </p:txBody>
      </p:sp>
      <p:pic>
        <p:nvPicPr>
          <p:cNvPr id="3" name="Picture 2" descr="PPO">
            <a:extLst>
              <a:ext uri="{FF2B5EF4-FFF2-40B4-BE49-F238E27FC236}">
                <a16:creationId xmlns:a16="http://schemas.microsoft.com/office/drawing/2014/main" id="{73A12651-BFB3-7C28-0A21-D0D71B48B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4842" y="3252637"/>
            <a:ext cx="5805264" cy="326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D1A54-B9DC-D27C-4FB2-4D2B756C4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DABB5-9149-F567-B217-5CEED3337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Soft Actor-Critic SAC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55FC1D4-7208-4AC6-3BD9-91B3BDEE98C2}"/>
              </a:ext>
            </a:extLst>
          </p:cNvPr>
          <p:cNvSpPr/>
          <p:nvPr/>
        </p:nvSpPr>
        <p:spPr>
          <a:xfrm>
            <a:off x="1331640" y="1941055"/>
            <a:ext cx="6192688" cy="468052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D4D8092-7642-E21C-FED3-1E6F423B1831}"/>
              </a:ext>
            </a:extLst>
          </p:cNvPr>
          <p:cNvSpPr/>
          <p:nvPr/>
        </p:nvSpPr>
        <p:spPr>
          <a:xfrm>
            <a:off x="1563211" y="2110645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36D40FB-C2D0-3D2C-0D3B-F6CAB4449B8A}"/>
              </a:ext>
            </a:extLst>
          </p:cNvPr>
          <p:cNvSpPr txBox="1">
            <a:spLocks/>
          </p:cNvSpPr>
          <p:nvPr/>
        </p:nvSpPr>
        <p:spPr bwMode="auto">
          <a:xfrm>
            <a:off x="2507710" y="2110645"/>
            <a:ext cx="4785047" cy="4438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</a:rPr>
              <a:t>Key idea: </a:t>
            </a:r>
            <a:r>
              <a:rPr lang="en-US" sz="1400" dirty="0"/>
              <a:t>based on the Maximum Entropy Reinforcement Learning framework. The agent seeks to </a:t>
            </a:r>
            <a:r>
              <a:rPr lang="en-US" sz="1400" dirty="0" err="1"/>
              <a:t>maximise</a:t>
            </a:r>
            <a:r>
              <a:rPr lang="en-US" sz="1400" dirty="0"/>
              <a:t> both the return and the entropy simultaneously.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Some principles</a:t>
            </a:r>
          </a:p>
          <a:p>
            <a:pPr marL="0" indent="0">
              <a:buNone/>
            </a:pPr>
            <a:endParaRPr lang="en-US" sz="1400" b="1" dirty="0"/>
          </a:p>
          <a:p>
            <a:r>
              <a:rPr lang="en-US" sz="1400" dirty="0"/>
              <a:t>It is off-policy, in PPO, the data is used for a while and then thrown away. If data is expensive (typical in engineering applications) we want to reuse it.</a:t>
            </a:r>
          </a:p>
          <a:p>
            <a:endParaRPr lang="en-US" sz="1400" dirty="0"/>
          </a:p>
          <a:p>
            <a:r>
              <a:rPr lang="en-US" sz="1400" dirty="0"/>
              <a:t>We actively reward the policy for staying random, if there are several options, choose the one that keeps more doors open.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</a:rPr>
              <a:t>An analogy: </a:t>
            </a:r>
            <a:r>
              <a:rPr lang="en-GB" sz="1400" dirty="0"/>
              <a:t>Exploring a design space, we do focus only on the first workable design. We keep several candidates alive, because the first one may be fragile once you test it.</a:t>
            </a:r>
          </a:p>
        </p:txBody>
      </p:sp>
      <p:pic>
        <p:nvPicPr>
          <p:cNvPr id="11" name="Image 0" descr="/home/claude/ml_intro_deck/icons/clipboard_white.png">
            <a:extLst>
              <a:ext uri="{FF2B5EF4-FFF2-40B4-BE49-F238E27FC236}">
                <a16:creationId xmlns:a16="http://schemas.microsoft.com/office/drawing/2014/main" id="{7F8F0DA0-62BF-EBB8-4FD1-9F0D61108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857" y="2253291"/>
            <a:ext cx="309067" cy="309067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C7553F-CF30-41A0-4D02-D71B3F97D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40358"/>
            <a:ext cx="8229600" cy="670512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SAC is one of the more modern (and common algorithms)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752651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05ADE-F730-C75C-A0E7-5B3E1918A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72234-319A-7922-6329-B49133121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Soft Actor-Critic SAC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00CEB9C-045B-8D07-0E24-2FF5142EB956}"/>
              </a:ext>
            </a:extLst>
          </p:cNvPr>
          <p:cNvSpPr/>
          <p:nvPr/>
        </p:nvSpPr>
        <p:spPr>
          <a:xfrm>
            <a:off x="1331640" y="1941055"/>
            <a:ext cx="6192688" cy="468052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5727D8C-B305-728D-9949-705E0DA0CA2B}"/>
              </a:ext>
            </a:extLst>
          </p:cNvPr>
          <p:cNvSpPr/>
          <p:nvPr/>
        </p:nvSpPr>
        <p:spPr>
          <a:xfrm>
            <a:off x="1563211" y="2110645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512F37D-2CF0-DCCC-B12A-CD67C5ACBC1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507710" y="2110645"/>
                <a:ext cx="4785047" cy="44389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7030A0"/>
                    </a:solidFill>
                  </a:rPr>
                  <a:t>Definition of entropy:</a:t>
                </a: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 ., 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en-GB" sz="1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It is a measure of how spread out the action distribution is.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The good about SAC: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r>
                  <a:rPr lang="en-US" sz="1400" dirty="0"/>
                  <a:t>Exploration is automatic, since entropy is in the loss.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Robustness to model errors: several near similar strategies don’t degrade too badly.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Better conditioned </a:t>
                </a:r>
                <a:r>
                  <a:rPr lang="en-US" sz="1400" dirty="0" err="1"/>
                  <a:t>optimisation</a:t>
                </a:r>
                <a:r>
                  <a:rPr lang="en-US" sz="1400" dirty="0"/>
                  <a:t>: entropy produces a better landscape.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</p:txBody>
          </p:sp>
        </mc:Choice>
        <mc:Fallback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512F37D-2CF0-DCCC-B12A-CD67C5ACB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7710" y="2110645"/>
                <a:ext cx="4785047" cy="4438922"/>
              </a:xfrm>
              <a:prstGeom prst="rect">
                <a:avLst/>
              </a:prstGeom>
              <a:blipFill>
                <a:blip r:embed="rId3"/>
                <a:stretch>
                  <a:fillRect l="-529" t="-28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 0" descr="/home/claude/ml_intro_deck/icons/clipboard_white.png">
            <a:extLst>
              <a:ext uri="{FF2B5EF4-FFF2-40B4-BE49-F238E27FC236}">
                <a16:creationId xmlns:a16="http://schemas.microsoft.com/office/drawing/2014/main" id="{C1158B85-6AB1-3710-AA06-501BC7DFF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857" y="2253291"/>
            <a:ext cx="309067" cy="30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332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2BC0C-810A-DB88-33D1-715AA9C94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9A518-25C0-007B-2FB9-E010E147A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Soft Actor-Critic SAC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44EAAC9-3C87-4EDE-A1D6-84248B41E9DB}"/>
              </a:ext>
            </a:extLst>
          </p:cNvPr>
          <p:cNvSpPr/>
          <p:nvPr/>
        </p:nvSpPr>
        <p:spPr>
          <a:xfrm>
            <a:off x="1331640" y="1941055"/>
            <a:ext cx="6192688" cy="3072121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BA95601-D9EF-18EE-610F-7446E9041F93}"/>
              </a:ext>
            </a:extLst>
          </p:cNvPr>
          <p:cNvSpPr/>
          <p:nvPr/>
        </p:nvSpPr>
        <p:spPr>
          <a:xfrm>
            <a:off x="1563211" y="2110645"/>
            <a:ext cx="594360" cy="59436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E96EB16-B245-6B94-6605-E89DB7180901}"/>
              </a:ext>
            </a:extLst>
          </p:cNvPr>
          <p:cNvSpPr txBox="1">
            <a:spLocks/>
          </p:cNvSpPr>
          <p:nvPr/>
        </p:nvSpPr>
        <p:spPr bwMode="auto">
          <a:xfrm>
            <a:off x="2507710" y="2110645"/>
            <a:ext cx="4785047" cy="2686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SAC is off-policy, so it has similar issues to DQN.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There are a bunch of technical aspects: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sz="1400" dirty="0"/>
              <a:t>It has a replay buffer</a:t>
            </a:r>
          </a:p>
          <a:p>
            <a:endParaRPr lang="en-US" sz="1400" dirty="0"/>
          </a:p>
          <a:p>
            <a:r>
              <a:rPr lang="en-US" sz="1400" dirty="0"/>
              <a:t>It has twin critics and takes the most conservative one.</a:t>
            </a:r>
          </a:p>
          <a:p>
            <a:endParaRPr lang="en-US" sz="1400" dirty="0"/>
          </a:p>
          <a:p>
            <a:r>
              <a:rPr lang="en-US" sz="1400" dirty="0"/>
              <a:t>It has twin target networks (for each of the critics)</a:t>
            </a:r>
          </a:p>
          <a:p>
            <a:pPr marL="0" indent="0">
              <a:buNone/>
            </a:pPr>
            <a:endParaRPr lang="en-US" sz="1400" dirty="0"/>
          </a:p>
          <a:p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11" name="Image 0" descr="/home/claude/ml_intro_deck/icons/clipboard_white.png">
            <a:extLst>
              <a:ext uri="{FF2B5EF4-FFF2-40B4-BE49-F238E27FC236}">
                <a16:creationId xmlns:a16="http://schemas.microsoft.com/office/drawing/2014/main" id="{A1C5209C-2BFD-5D6B-F833-F424408A6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857" y="2253291"/>
            <a:ext cx="309067" cy="30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834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60C15-3F08-6652-A694-C0FDBD103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F02F7-9FAD-B2A5-D713-AF672E33B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Selecting algorithms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1D674D-99D6-553D-7F87-890ACC7CDC1A}"/>
              </a:ext>
            </a:extLst>
          </p:cNvPr>
          <p:cNvSpPr/>
          <p:nvPr/>
        </p:nvSpPr>
        <p:spPr>
          <a:xfrm>
            <a:off x="539552" y="1999138"/>
            <a:ext cx="8136904" cy="99781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6173DD-8CEE-1066-51CC-12822E55FAEF}"/>
              </a:ext>
            </a:extLst>
          </p:cNvPr>
          <p:cNvSpPr/>
          <p:nvPr/>
        </p:nvSpPr>
        <p:spPr>
          <a:xfrm>
            <a:off x="539552" y="3501008"/>
            <a:ext cx="8136904" cy="97476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E66BE2-626F-7CB3-D8EC-A4DCF8494AAB}"/>
              </a:ext>
            </a:extLst>
          </p:cNvPr>
          <p:cNvSpPr txBox="1"/>
          <p:nvPr/>
        </p:nvSpPr>
        <p:spPr>
          <a:xfrm>
            <a:off x="748217" y="2262122"/>
            <a:ext cx="2517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Loads of options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A11EED-4FC4-BA3C-2D96-7743F2175AE1}"/>
              </a:ext>
            </a:extLst>
          </p:cNvPr>
          <p:cNvSpPr txBox="1"/>
          <p:nvPr/>
        </p:nvSpPr>
        <p:spPr>
          <a:xfrm>
            <a:off x="3758138" y="2262122"/>
            <a:ext cx="46376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There are many many many options to choose from, typically libraries (e.g. Stable Baselines 3) have a guide.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CAE8B7-3EE0-6AB3-5C10-995C4344CE15}"/>
              </a:ext>
            </a:extLst>
          </p:cNvPr>
          <p:cNvSpPr txBox="1"/>
          <p:nvPr/>
        </p:nvSpPr>
        <p:spPr>
          <a:xfrm>
            <a:off x="3203848" y="3677748"/>
            <a:ext cx="51872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Consider: continuous vs discrete actions, importance of sampling, cost of the simulation, </a:t>
            </a:r>
            <a:r>
              <a:rPr lang="en-US" sz="1200" dirty="0" err="1"/>
              <a:t>etc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B60015-7FED-0CDE-2053-1666AB584E26}"/>
              </a:ext>
            </a:extLst>
          </p:cNvPr>
          <p:cNvSpPr txBox="1"/>
          <p:nvPr/>
        </p:nvSpPr>
        <p:spPr>
          <a:xfrm>
            <a:off x="686238" y="3770081"/>
            <a:ext cx="2517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Considerations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6B972-78F9-DA6A-0943-873DED5840B3}"/>
              </a:ext>
            </a:extLst>
          </p:cNvPr>
          <p:cNvSpPr/>
          <p:nvPr/>
        </p:nvSpPr>
        <p:spPr>
          <a:xfrm>
            <a:off x="539552" y="4941168"/>
            <a:ext cx="8136904" cy="99781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BAEB04-BEC5-058D-B9C4-1830134A7359}"/>
              </a:ext>
            </a:extLst>
          </p:cNvPr>
          <p:cNvSpPr txBox="1"/>
          <p:nvPr/>
        </p:nvSpPr>
        <p:spPr>
          <a:xfrm>
            <a:off x="748217" y="5204152"/>
            <a:ext cx="2517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Difficulty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DD09E3-44B7-DB16-E6B6-9BD683056843}"/>
              </a:ext>
            </a:extLst>
          </p:cNvPr>
          <p:cNvSpPr txBox="1"/>
          <p:nvPr/>
        </p:nvSpPr>
        <p:spPr>
          <a:xfrm>
            <a:off x="3265828" y="5085184"/>
            <a:ext cx="5129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The real difficulty is usually not in the algorithm (although it is usually a good idea to try PPO since it is very forgiving). Difficulty in environment design, design of the reward, evaluation of the model</a:t>
            </a:r>
          </a:p>
        </p:txBody>
      </p:sp>
    </p:spTree>
    <p:extLst>
      <p:ext uri="{BB962C8B-B14F-4D97-AF65-F5344CB8AC3E}">
        <p14:creationId xmlns:p14="http://schemas.microsoft.com/office/powerpoint/2010/main" val="1553538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C30DA-3C97-EA0A-441F-6239B0A6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7B7C-1E9B-CAB7-45F6-AE7242617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Practical considerations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BB64D2-DA76-0091-8D88-3A8298CFFF2E}"/>
              </a:ext>
            </a:extLst>
          </p:cNvPr>
          <p:cNvSpPr/>
          <p:nvPr/>
        </p:nvSpPr>
        <p:spPr>
          <a:xfrm>
            <a:off x="539552" y="1433372"/>
            <a:ext cx="8136904" cy="99781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D1409D-04BD-5ADF-F304-DB2E0D81CC57}"/>
              </a:ext>
            </a:extLst>
          </p:cNvPr>
          <p:cNvSpPr/>
          <p:nvPr/>
        </p:nvSpPr>
        <p:spPr>
          <a:xfrm>
            <a:off x="539552" y="2935242"/>
            <a:ext cx="8136904" cy="97476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6A784B-00E9-2A17-B5F7-3906AAED5264}"/>
              </a:ext>
            </a:extLst>
          </p:cNvPr>
          <p:cNvSpPr txBox="1"/>
          <p:nvPr/>
        </p:nvSpPr>
        <p:spPr>
          <a:xfrm>
            <a:off x="748217" y="1696356"/>
            <a:ext cx="2517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Normalise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1F4703-782D-C3F7-AECA-99DE5B18D59F}"/>
              </a:ext>
            </a:extLst>
          </p:cNvPr>
          <p:cNvSpPr txBox="1"/>
          <p:nvPr/>
        </p:nvSpPr>
        <p:spPr>
          <a:xfrm>
            <a:off x="3758138" y="1696356"/>
            <a:ext cx="4637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These are statistical tools and statistics work best between 0 and 1 (or -1 and 1). Make sure you normalize your observations, actions, and reward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0E5E47-BF1D-71F5-59C3-9D21B02E00C5}"/>
              </a:ext>
            </a:extLst>
          </p:cNvPr>
          <p:cNvSpPr txBox="1"/>
          <p:nvPr/>
        </p:nvSpPr>
        <p:spPr>
          <a:xfrm>
            <a:off x="3203848" y="3111982"/>
            <a:ext cx="51872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 err="1"/>
              <a:t>Normalise</a:t>
            </a:r>
            <a:r>
              <a:rPr lang="en-US" sz="1200" dirty="0"/>
              <a:t> the inputs and outputs of the RL algorithm, undo these </a:t>
            </a:r>
            <a:r>
              <a:rPr lang="en-US" sz="1200" dirty="0" err="1"/>
              <a:t>normalisations</a:t>
            </a:r>
            <a:r>
              <a:rPr lang="en-US" sz="1200" dirty="0"/>
              <a:t> when interacting with the environment.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5C250C-38B2-4469-3399-06279E5CACDC}"/>
              </a:ext>
            </a:extLst>
          </p:cNvPr>
          <p:cNvSpPr txBox="1"/>
          <p:nvPr/>
        </p:nvSpPr>
        <p:spPr>
          <a:xfrm>
            <a:off x="686238" y="3204315"/>
            <a:ext cx="2517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When to normalize?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B3EFFC-7A62-790A-1F0F-B72129C33EEC}"/>
              </a:ext>
            </a:extLst>
          </p:cNvPr>
          <p:cNvSpPr/>
          <p:nvPr/>
        </p:nvSpPr>
        <p:spPr>
          <a:xfrm>
            <a:off x="539552" y="4375402"/>
            <a:ext cx="8136904" cy="99781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A9A09F-891F-E1E2-033B-DB53A39452D1}"/>
              </a:ext>
            </a:extLst>
          </p:cNvPr>
          <p:cNvSpPr txBox="1"/>
          <p:nvPr/>
        </p:nvSpPr>
        <p:spPr>
          <a:xfrm>
            <a:off x="741107" y="4551143"/>
            <a:ext cx="2517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Don’t implement from scratch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288564-7BBB-BA9E-D962-293FFFBC5E63}"/>
              </a:ext>
            </a:extLst>
          </p:cNvPr>
          <p:cNvSpPr txBox="1"/>
          <p:nvPr/>
        </p:nvSpPr>
        <p:spPr>
          <a:xfrm>
            <a:off x="3265828" y="4519418"/>
            <a:ext cx="5129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It is almost always possible to find a RL algorithm + environment for simple problems from e.g. </a:t>
            </a:r>
            <a:r>
              <a:rPr lang="en-US" sz="1200" dirty="0" err="1"/>
              <a:t>cleanRL</a:t>
            </a:r>
            <a:r>
              <a:rPr lang="en-US" sz="1200" dirty="0"/>
              <a:t>, you don’t need to do all the work every time!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AF5A79-FB8B-A860-884E-4200719D04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5197474"/>
            <a:ext cx="6846742" cy="1093787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6306916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1D070-2F57-3252-0DBD-8B5C7CDC6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EE6D6-EBC1-47D2-B25F-5687E1FC6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Reward shaping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9482C8-0E0A-750E-D1FB-13285B3601B0}"/>
              </a:ext>
            </a:extLst>
          </p:cNvPr>
          <p:cNvSpPr txBox="1">
            <a:spLocks/>
          </p:cNvSpPr>
          <p:nvPr/>
        </p:nvSpPr>
        <p:spPr bwMode="auto">
          <a:xfrm>
            <a:off x="4067944" y="1988841"/>
            <a:ext cx="4824536" cy="23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How should we choose our reward?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GB" sz="1600" dirty="0"/>
              <a:t>Sparse rewards are usually not very good, The agent can get lost without any progress.</a:t>
            </a:r>
            <a:endParaRPr lang="en-US" sz="1600" u="sng" dirty="0"/>
          </a:p>
          <a:p>
            <a:endParaRPr lang="en-US" sz="1600" dirty="0"/>
          </a:p>
          <a:p>
            <a:r>
              <a:rPr lang="en-US" sz="1600" dirty="0"/>
              <a:t>Reaching a target in engineering applications matter, but also: </a:t>
            </a:r>
            <a:r>
              <a:rPr lang="en-US" sz="1600" dirty="0">
                <a:solidFill>
                  <a:srgbClr val="7030A0"/>
                </a:solidFill>
              </a:rPr>
              <a:t>the energy spent, the smoothness of the control, the actuator wear,…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Font typeface="Arial" pitchFamily="34" charset="0"/>
              <a:buNone/>
            </a:pPr>
            <a:endParaRPr lang="en-US" sz="1600" dirty="0">
              <a:solidFill>
                <a:srgbClr val="7030A0"/>
              </a:solidFill>
            </a:endParaRPr>
          </a:p>
        </p:txBody>
      </p:sp>
      <p:pic>
        <p:nvPicPr>
          <p:cNvPr id="9" name="Picture 8" descr="Flagpole | Nintendo | Fandom">
            <a:extLst>
              <a:ext uri="{FF2B5EF4-FFF2-40B4-BE49-F238E27FC236}">
                <a16:creationId xmlns:a16="http://schemas.microsoft.com/office/drawing/2014/main" id="{6BD69931-1A70-A8A2-71BC-2500BFD53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64" y="1988841"/>
            <a:ext cx="2692529" cy="25202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5E8BD1-F0CE-882C-6710-28F10D8A8BBB}"/>
                  </a:ext>
                </a:extLst>
              </p:cNvPr>
              <p:cNvSpPr txBox="1"/>
              <p:nvPr/>
            </p:nvSpPr>
            <p:spPr>
              <a:xfrm>
                <a:off x="3491880" y="5877272"/>
                <a:ext cx="1761316" cy="3673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5E8BD1-F0CE-882C-6710-28F10D8A8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5877272"/>
                <a:ext cx="1761316" cy="367345"/>
              </a:xfrm>
              <a:prstGeom prst="rect">
                <a:avLst/>
              </a:prstGeom>
              <a:blipFill>
                <a:blip r:embed="rId4"/>
                <a:stretch>
                  <a:fillRect l="-2878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31D0B43-EB98-0A57-7F07-41C267AEFE14}"/>
              </a:ext>
            </a:extLst>
          </p:cNvPr>
          <p:cNvSpPr txBox="1">
            <a:spLocks/>
          </p:cNvSpPr>
          <p:nvPr/>
        </p:nvSpPr>
        <p:spPr bwMode="auto">
          <a:xfrm>
            <a:off x="529058" y="5319210"/>
            <a:ext cx="5123062" cy="342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Example: </a:t>
            </a:r>
            <a:r>
              <a:rPr lang="en-US" sz="1600" dirty="0" err="1"/>
              <a:t>penalising</a:t>
            </a:r>
            <a:r>
              <a:rPr lang="en-US" sz="1600" dirty="0"/>
              <a:t> very energetic actions:</a:t>
            </a:r>
          </a:p>
        </p:txBody>
      </p:sp>
    </p:spTree>
    <p:extLst>
      <p:ext uri="{BB962C8B-B14F-4D97-AF65-F5344CB8AC3E}">
        <p14:creationId xmlns:p14="http://schemas.microsoft.com/office/powerpoint/2010/main" val="23188483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032A3-AE94-52E7-62D5-16E418AC9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E6488-73E8-F746-043E-FBFA88CDF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Reward hacking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615808C-9528-C51A-1FA1-74BB8663D349}"/>
              </a:ext>
            </a:extLst>
          </p:cNvPr>
          <p:cNvSpPr txBox="1">
            <a:spLocks/>
          </p:cNvSpPr>
          <p:nvPr/>
        </p:nvSpPr>
        <p:spPr bwMode="auto">
          <a:xfrm>
            <a:off x="533232" y="4797152"/>
            <a:ext cx="8431255" cy="1824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Agents then to find loopholes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GB" sz="1600" dirty="0"/>
              <a:t>If lambda is too large, it might find that the best to do is to not anything at all!</a:t>
            </a:r>
            <a:endParaRPr lang="en-US" sz="1600" dirty="0"/>
          </a:p>
          <a:p>
            <a:r>
              <a:rPr lang="en-US" sz="1600" dirty="0"/>
              <a:t>Practically: don’t just train and wait, evaluate your policy every few episodes to make sure it is doing what it meant to do!</a:t>
            </a:r>
            <a:endParaRPr lang="en-US" sz="16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Font typeface="Arial" pitchFamily="34" charset="0"/>
              <a:buNone/>
            </a:pPr>
            <a:endParaRPr lang="en-US" sz="1600" dirty="0">
              <a:solidFill>
                <a:srgbClr val="7030A0"/>
              </a:solidFill>
            </a:endParaRPr>
          </a:p>
        </p:txBody>
      </p:sp>
      <p:pic>
        <p:nvPicPr>
          <p:cNvPr id="9" name="Picture 8" descr="Flagpole | Nintendo | Fandom">
            <a:extLst>
              <a:ext uri="{FF2B5EF4-FFF2-40B4-BE49-F238E27FC236}">
                <a16:creationId xmlns:a16="http://schemas.microsoft.com/office/drawing/2014/main" id="{916077A1-4D46-159A-CCD2-152F9831A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64" y="1988841"/>
            <a:ext cx="2692529" cy="25202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14482A-2EA3-90A3-612B-106310172F46}"/>
                  </a:ext>
                </a:extLst>
              </p:cNvPr>
              <p:cNvSpPr txBox="1"/>
              <p:nvPr/>
            </p:nvSpPr>
            <p:spPr>
              <a:xfrm>
                <a:off x="5387293" y="3284803"/>
                <a:ext cx="1761316" cy="3673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14482A-2EA3-90A3-612B-106310172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293" y="3284803"/>
                <a:ext cx="1761316" cy="367345"/>
              </a:xfrm>
              <a:prstGeom prst="rect">
                <a:avLst/>
              </a:prstGeom>
              <a:blipFill>
                <a:blip r:embed="rId4"/>
                <a:stretch>
                  <a:fillRect l="-285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E8C125E-B8DD-4471-3A0B-16172FD7B0D4}"/>
              </a:ext>
            </a:extLst>
          </p:cNvPr>
          <p:cNvSpPr txBox="1">
            <a:spLocks/>
          </p:cNvSpPr>
          <p:nvPr/>
        </p:nvSpPr>
        <p:spPr bwMode="auto">
          <a:xfrm>
            <a:off x="4211960" y="2524429"/>
            <a:ext cx="5123062" cy="342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Example: </a:t>
            </a:r>
            <a:r>
              <a:rPr lang="en-US" sz="1600" dirty="0" err="1"/>
              <a:t>penalising</a:t>
            </a:r>
            <a:r>
              <a:rPr lang="en-US" sz="1600" dirty="0"/>
              <a:t> very energetic actions:</a:t>
            </a:r>
          </a:p>
        </p:txBody>
      </p:sp>
    </p:spTree>
    <p:extLst>
      <p:ext uri="{BB962C8B-B14F-4D97-AF65-F5344CB8AC3E}">
        <p14:creationId xmlns:p14="http://schemas.microsoft.com/office/powerpoint/2010/main" val="40210756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67425-0929-B770-DA6F-235FC742C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9BD9E-9240-0818-9151-CFD0E9AE7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What typically goes wrong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C604800-B839-25BF-C79B-76F5FB8FEDAB}"/>
              </a:ext>
            </a:extLst>
          </p:cNvPr>
          <p:cNvSpPr txBox="1">
            <a:spLocks/>
          </p:cNvSpPr>
          <p:nvPr/>
        </p:nvSpPr>
        <p:spPr bwMode="auto">
          <a:xfrm>
            <a:off x="467544" y="1772816"/>
            <a:ext cx="8431255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Even though RL is great, sometimes it doesn’t work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GB" sz="1600" dirty="0"/>
              <a:t>The reward might be unlearnable: it is too sparse or badly scaled against the penalty</a:t>
            </a:r>
          </a:p>
          <a:p>
            <a:endParaRPr lang="en-GB" sz="1600" dirty="0"/>
          </a:p>
          <a:p>
            <a:r>
              <a:rPr lang="en-GB" sz="1600" dirty="0"/>
              <a:t>The process is not Markov: something is too dependent on history, e.g. hysteresis process.</a:t>
            </a:r>
          </a:p>
          <a:p>
            <a:endParaRPr lang="en-GB" sz="1600" dirty="0"/>
          </a:p>
          <a:p>
            <a:r>
              <a:rPr lang="en-GB" sz="1600" dirty="0"/>
              <a:t>The episode is too long: giving rewards for a very long time is a hard task</a:t>
            </a:r>
          </a:p>
          <a:p>
            <a:endParaRPr lang="en-GB" sz="1600" dirty="0"/>
          </a:p>
          <a:p>
            <a:r>
              <a:rPr lang="en-GB" sz="1600" dirty="0"/>
              <a:t>We are limited by data: very commonly, engineering applications require expensive simulations which are the real bottleneck here.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Font typeface="Arial" pitchFamily="34" charset="0"/>
              <a:buNone/>
            </a:pP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824011-EFBC-53A4-96D4-D1BFCBA4B831}"/>
              </a:ext>
            </a:extLst>
          </p:cNvPr>
          <p:cNvSpPr txBox="1"/>
          <p:nvPr/>
        </p:nvSpPr>
        <p:spPr>
          <a:xfrm>
            <a:off x="323528" y="5308184"/>
            <a:ext cx="842493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GB" sz="16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all these before thinking about the algorithms or the hyperparameters!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853898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E7999-8AD6-DD98-5527-516B959C8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99FB7-E268-D3DC-A523-CBD99A5CD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5" y="236425"/>
            <a:ext cx="5842992" cy="1143000"/>
          </a:xfrm>
        </p:spPr>
        <p:txBody>
          <a:bodyPr/>
          <a:lstStyle/>
          <a:p>
            <a:r>
              <a:rPr lang="en-US" dirty="0"/>
              <a:t>In practice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8CCECF-C3E9-61F8-54DD-000E25DE8591}"/>
              </a:ext>
            </a:extLst>
          </p:cNvPr>
          <p:cNvSpPr txBox="1">
            <a:spLocks/>
          </p:cNvSpPr>
          <p:nvPr/>
        </p:nvSpPr>
        <p:spPr bwMode="auto">
          <a:xfrm>
            <a:off x="570449" y="1628800"/>
            <a:ext cx="7967229" cy="1348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We rarely need to do our own RL implementations from scratch, algorithms have a lot of pitfalls and tricks.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Many available libraries and repositories to do this: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Font typeface="Arial" pitchFamily="34" charset="0"/>
              <a:buNone/>
            </a:pPr>
            <a:endParaRPr lang="en-US" sz="1600" dirty="0">
              <a:solidFill>
                <a:srgbClr val="7030A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9E30CA-4A8A-A4BD-16F2-999D772571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967076"/>
            <a:ext cx="7772400" cy="21531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ACFC2C-93CD-C8C2-7099-97AEC1E346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565" y="4256624"/>
            <a:ext cx="6129462" cy="240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1429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216FE-EDCB-801E-6D96-190617578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6">
            <a:extLst>
              <a:ext uri="{FF2B5EF4-FFF2-40B4-BE49-F238E27FC236}">
                <a16:creationId xmlns:a16="http://schemas.microsoft.com/office/drawing/2014/main" id="{D70E520F-317A-53E4-70FC-0D12CE01C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2209106"/>
            <a:ext cx="82184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Thank you for your attention!</a:t>
            </a:r>
          </a:p>
          <a:p>
            <a:pPr>
              <a:defRPr/>
            </a:pPr>
            <a:endParaRPr lang="en-US" sz="300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5362" name="Rectangle 7">
            <a:extLst>
              <a:ext uri="{FF2B5EF4-FFF2-40B4-BE49-F238E27FC236}">
                <a16:creationId xmlns:a16="http://schemas.microsoft.com/office/drawing/2014/main" id="{4726091D-645F-2A9C-E895-C6F932FC1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899" y="3818228"/>
            <a:ext cx="6821488" cy="937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GB" sz="2400" b="1" dirty="0">
                <a:cs typeface="Arial" charset="0"/>
              </a:rPr>
              <a:t>Happy to take any questions</a:t>
            </a:r>
          </a:p>
          <a:p>
            <a:pPr algn="ctr">
              <a:lnSpc>
                <a:spcPct val="120000"/>
              </a:lnSpc>
            </a:pPr>
            <a:endParaRPr lang="en-GB" sz="2400" dirty="0">
              <a:solidFill>
                <a:srgbClr val="595959"/>
              </a:solidFill>
              <a:cs typeface="Arial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2CBAE7-8823-EABB-256B-9BB32D81EA7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9113" y="2809875"/>
            <a:ext cx="7013575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5364" name="Picture 2" descr="TAB_col_white_background.eps">
            <a:extLst>
              <a:ext uri="{FF2B5EF4-FFF2-40B4-BE49-F238E27FC236}">
                <a16:creationId xmlns:a16="http://schemas.microsoft.com/office/drawing/2014/main" id="{1EE07ADF-BC38-032E-F0A8-8C51E0AF42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9753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ro to ML" id="{BF33F6EA-1390-7A4D-83EB-6ECF2FF31E46}" vid="{A1D538FE-21FE-9A48-BEE6-019F6DA707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30359</TotalTime>
  <Words>2482</Words>
  <Application>Microsoft Macintosh PowerPoint</Application>
  <PresentationFormat>On-screen Show (4:3)</PresentationFormat>
  <Paragraphs>374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Cambria Math</vt:lpstr>
      <vt:lpstr>Source Sans Pro</vt:lpstr>
      <vt:lpstr>Wingdings</vt:lpstr>
      <vt:lpstr>Office Theme</vt:lpstr>
      <vt:lpstr>PowerPoint Presentation</vt:lpstr>
      <vt:lpstr>Recap</vt:lpstr>
      <vt:lpstr>The state-value function</vt:lpstr>
      <vt:lpstr>The action-value function</vt:lpstr>
      <vt:lpstr>Recap</vt:lpstr>
      <vt:lpstr>From value to policy</vt:lpstr>
      <vt:lpstr>From value to policy</vt:lpstr>
      <vt:lpstr>Deterministic or not?</vt:lpstr>
      <vt:lpstr>Policy optimisation</vt:lpstr>
      <vt:lpstr>Policy optimisation</vt:lpstr>
      <vt:lpstr>Policy optimisation</vt:lpstr>
      <vt:lpstr>Policy optimisation</vt:lpstr>
      <vt:lpstr>Policy optimisation</vt:lpstr>
      <vt:lpstr>Policy optimisation</vt:lpstr>
      <vt:lpstr>Policy gradient methods</vt:lpstr>
      <vt:lpstr>Actor-Critic algorithms</vt:lpstr>
      <vt:lpstr>Recap on algorithm types</vt:lpstr>
      <vt:lpstr>On or off policy</vt:lpstr>
      <vt:lpstr>Separating algorithms</vt:lpstr>
      <vt:lpstr>Two popular algorithms</vt:lpstr>
      <vt:lpstr>Proximal Policy Optimization</vt:lpstr>
      <vt:lpstr>Proximal Policy Optimization</vt:lpstr>
      <vt:lpstr>Proximal Policy Optimization</vt:lpstr>
      <vt:lpstr>Proximal Policy Optimization</vt:lpstr>
      <vt:lpstr>Proximal Policy Optimization</vt:lpstr>
      <vt:lpstr>Soft Actor-Critic SAC</vt:lpstr>
      <vt:lpstr>Soft Actor-Critic SAC</vt:lpstr>
      <vt:lpstr>Soft Actor-Critic SAC</vt:lpstr>
      <vt:lpstr>Selecting algorithms</vt:lpstr>
      <vt:lpstr>Practical considerations</vt:lpstr>
      <vt:lpstr>Reward shaping</vt:lpstr>
      <vt:lpstr>Reward hacking</vt:lpstr>
      <vt:lpstr>What typically goes wrong</vt:lpstr>
      <vt:lpstr>In practice</vt:lpstr>
      <vt:lpstr>PowerPoint Presentation</vt:lpstr>
    </vt:vector>
  </TitlesOfParts>
  <Company>University of Manchester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MZYSSPB2</dc:creator>
  <cp:lastModifiedBy>Miguel Beneitez</cp:lastModifiedBy>
  <cp:revision>545</cp:revision>
  <dcterms:created xsi:type="dcterms:W3CDTF">2012-06-12T15:56:20Z</dcterms:created>
  <dcterms:modified xsi:type="dcterms:W3CDTF">2026-08-24T13:14:42Z</dcterms:modified>
</cp:coreProperties>
</file>