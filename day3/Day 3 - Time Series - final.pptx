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2123708ed44f13" /><Relationship Type="http://schemas.openxmlformats.org/officeDocument/2006/relationships/extended-properties" Target="/docProps/app.xml" Id="R9e2c6d74aa4b4012" /><Relationship Type="http://schemas.openxmlformats.org/officeDocument/2006/relationships/officeDocument" Target="/ppt/presentation.xml" Id="Rb5a3aa1b0926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7bd11b633480f"/>
  </p:sldMasterIdLst>
  <p:notesMasterIdLst>
    <p:notesMasterId xmlns:r="http://schemas.openxmlformats.org/officeDocument/2006/relationships" r:id="Reb7314a41c194710"/>
  </p:notesMasterIdLst>
  <p:sldIdLst>
    <p:sldId xmlns:r="http://schemas.openxmlformats.org/officeDocument/2006/relationships" id="256" r:id="R3e8b2b8c8008407f"/>
    <p:sldId xmlns:r="http://schemas.openxmlformats.org/officeDocument/2006/relationships" id="257" r:id="Rc54ff564b793455f"/>
    <p:sldId xmlns:r="http://schemas.openxmlformats.org/officeDocument/2006/relationships" id="258" r:id="R62d3d1bd173446e3"/>
    <p:sldId xmlns:r="http://schemas.openxmlformats.org/officeDocument/2006/relationships" id="259" r:id="R7dc629e8fd7244fe"/>
    <p:sldId xmlns:r="http://schemas.openxmlformats.org/officeDocument/2006/relationships" id="260" r:id="R18619badd28b498d"/>
    <p:sldId xmlns:r="http://schemas.openxmlformats.org/officeDocument/2006/relationships" id="261" r:id="Reabf3dd21c9d4f5f"/>
    <p:sldId xmlns:r="http://schemas.openxmlformats.org/officeDocument/2006/relationships" id="262" r:id="R4b7eab1425a44296"/>
    <p:sldId xmlns:r="http://schemas.openxmlformats.org/officeDocument/2006/relationships" id="263" r:id="R8cbeae94e4ba4aca"/>
    <p:sldId xmlns:r="http://schemas.openxmlformats.org/officeDocument/2006/relationships" id="264" r:id="R2e53d79bc66c4bdc"/>
    <p:sldId xmlns:r="http://schemas.openxmlformats.org/officeDocument/2006/relationships" id="265" r:id="R24cf9fbb93dd4fb5"/>
    <p:sldId xmlns:r="http://schemas.openxmlformats.org/officeDocument/2006/relationships" id="266" r:id="R165ad9d7ea014d0b"/>
    <p:sldId xmlns:r="http://schemas.openxmlformats.org/officeDocument/2006/relationships" id="267" r:id="R8dcdb440f1a64a76"/>
    <p:sldId xmlns:r="http://schemas.openxmlformats.org/officeDocument/2006/relationships" id="268" r:id="R1a39c80a06bd4e96"/>
    <p:sldId xmlns:r="http://schemas.openxmlformats.org/officeDocument/2006/relationships" id="269" r:id="Re34c63bac8664ccf"/>
    <p:sldId xmlns:r="http://schemas.openxmlformats.org/officeDocument/2006/relationships" id="270" r:id="R104000c37270421d"/>
    <p:sldId xmlns:r="http://schemas.openxmlformats.org/officeDocument/2006/relationships" id="271" r:id="R78c3a277678a4e26"/>
    <p:sldId xmlns:r="http://schemas.openxmlformats.org/officeDocument/2006/relationships" id="272" r:id="Ra218e0786b924ad0"/>
    <p:sldId xmlns:r="http://schemas.openxmlformats.org/officeDocument/2006/relationships" id="273" r:id="R1ed7f39563384542"/>
    <p:sldId xmlns:r="http://schemas.openxmlformats.org/officeDocument/2006/relationships" id="274" r:id="R0ac57b74068c4cf4"/>
    <p:sldId xmlns:r="http://schemas.openxmlformats.org/officeDocument/2006/relationships" id="275" r:id="Rcba9fd7d1496453a"/>
    <p:sldId xmlns:r="http://schemas.openxmlformats.org/officeDocument/2006/relationships" id="276" r:id="Re3f97ffafa674341"/>
    <p:sldId xmlns:r="http://schemas.openxmlformats.org/officeDocument/2006/relationships" id="277" r:id="R69e9a33c18cf4afb"/>
    <p:sldId xmlns:r="http://schemas.openxmlformats.org/officeDocument/2006/relationships" id="278" r:id="R7d806b577b6641c2"/>
    <p:sldId xmlns:r="http://schemas.openxmlformats.org/officeDocument/2006/relationships" id="279" r:id="Rd7af2aec9afd4ef1"/>
    <p:sldId xmlns:r="http://schemas.openxmlformats.org/officeDocument/2006/relationships" id="280" r:id="R94d28cf4ae404c47"/>
    <p:sldId xmlns:r="http://schemas.openxmlformats.org/officeDocument/2006/relationships" id="281" r:id="R91481af579174299"/>
    <p:sldId xmlns:r="http://schemas.openxmlformats.org/officeDocument/2006/relationships" id="282" r:id="R98a581fd666f48f9"/>
    <p:sldId xmlns:r="http://schemas.openxmlformats.org/officeDocument/2006/relationships" id="283" r:id="R8ef855d4df3f429f"/>
    <p:sldId xmlns:r="http://schemas.openxmlformats.org/officeDocument/2006/relationships" id="284" r:id="R63644600cd68409c"/>
    <p:sldId xmlns:r="http://schemas.openxmlformats.org/officeDocument/2006/relationships" id="285" r:id="R1f96d3ae7d9e4fe3"/>
    <p:sldId xmlns:r="http://schemas.openxmlformats.org/officeDocument/2006/relationships" id="286" r:id="R9253613c074445f7"/>
    <p:sldId xmlns:r="http://schemas.openxmlformats.org/officeDocument/2006/relationships" id="287" r:id="Rbec593353f8e4efd"/>
    <p:sldId xmlns:r="http://schemas.openxmlformats.org/officeDocument/2006/relationships" id="288" r:id="R7c76bf89d5be4b5b"/>
    <p:sldId xmlns:r="http://schemas.openxmlformats.org/officeDocument/2006/relationships" id="289" r:id="R82255e7093894579"/>
    <p:sldId xmlns:r="http://schemas.openxmlformats.org/officeDocument/2006/relationships" id="290" r:id="R5b2ea05872ef4929"/>
    <p:sldId xmlns:r="http://schemas.openxmlformats.org/officeDocument/2006/relationships" id="291" r:id="R75954a99e56d4dd4"/>
    <p:sldId xmlns:r="http://schemas.openxmlformats.org/officeDocument/2006/relationships" id="292" r:id="R7dd7b835bb334bcd"/>
    <p:sldId xmlns:r="http://schemas.openxmlformats.org/officeDocument/2006/relationships" id="293" r:id="Rc4c9ed6c44ce4226"/>
    <p:sldId xmlns:r="http://schemas.openxmlformats.org/officeDocument/2006/relationships" id="294" r:id="R68acf916265745dc"/>
    <p:sldId xmlns:r="http://schemas.openxmlformats.org/officeDocument/2006/relationships" id="295" r:id="Rbbc927b8ef234a56"/>
    <p:sldId xmlns:r="http://schemas.openxmlformats.org/officeDocument/2006/relationships" id="296" r:id="R99c2f763302a4be3"/>
    <p:sldId xmlns:r="http://schemas.openxmlformats.org/officeDocument/2006/relationships" id="297" r:id="R278cb99edaf4448f"/>
    <p:sldId xmlns:r="http://schemas.openxmlformats.org/officeDocument/2006/relationships" id="298" r:id="R66c9a5c1007547b6"/>
    <p:sldId xmlns:r="http://schemas.openxmlformats.org/officeDocument/2006/relationships" id="299" r:id="Re6d4f106e14a48a1"/>
    <p:sldId xmlns:r="http://schemas.openxmlformats.org/officeDocument/2006/relationships" id="300" r:id="R7aafc9c4ef0a45f0"/>
    <p:sldId xmlns:r="http://schemas.openxmlformats.org/officeDocument/2006/relationships" id="301" r:id="R201848c971cd4eb8"/>
    <p:sldId xmlns:r="http://schemas.openxmlformats.org/officeDocument/2006/relationships" id="302" r:id="R90f7ed5cc27e4f0c"/>
    <p:sldId xmlns:r="http://schemas.openxmlformats.org/officeDocument/2006/relationships" id="303" r:id="R476a447658e848e5"/>
    <p:sldId xmlns:r="http://schemas.openxmlformats.org/officeDocument/2006/relationships" id="304" r:id="Rc0c081d932c94130"/>
    <p:sldId xmlns:r="http://schemas.openxmlformats.org/officeDocument/2006/relationships" id="305" r:id="R0fdfc0a3a2454226"/>
    <p:sldId xmlns:r="http://schemas.openxmlformats.org/officeDocument/2006/relationships" id="306" r:id="R139e0320dfbe4f6e"/>
    <p:sldId xmlns:r="http://schemas.openxmlformats.org/officeDocument/2006/relationships" id="307" r:id="Rb54bb329add04ff6"/>
    <p:sldId xmlns:r="http://schemas.openxmlformats.org/officeDocument/2006/relationships" id="308" r:id="R26eea20a1c544dc4"/>
    <p:sldId xmlns:r="http://schemas.openxmlformats.org/officeDocument/2006/relationships" id="309" r:id="R191f80e0ce3a45f1"/>
    <p:sldId xmlns:r="http://schemas.openxmlformats.org/officeDocument/2006/relationships" id="310" r:id="R4e44c8d962fb4784"/>
    <p:sldId xmlns:r="http://schemas.openxmlformats.org/officeDocument/2006/relationships" id="311" r:id="Rbc0e310ab2bf4629"/>
    <p:sldId xmlns:r="http://schemas.openxmlformats.org/officeDocument/2006/relationships" id="312" r:id="R6085c3b1ac75462c"/>
    <p:sldId xmlns:r="http://schemas.openxmlformats.org/officeDocument/2006/relationships" id="313" r:id="R29702f3b5fa84081"/>
    <p:sldId xmlns:r="http://schemas.openxmlformats.org/officeDocument/2006/relationships" id="314" r:id="R6eed901e47e64f19"/>
    <p:sldId xmlns:r="http://schemas.openxmlformats.org/officeDocument/2006/relationships" id="315" r:id="R97b31efcedcf4b84"/>
    <p:sldId xmlns:r="http://schemas.openxmlformats.org/officeDocument/2006/relationships" id="316" r:id="R8f59ae214878423d"/>
    <p:sldId xmlns:r="http://schemas.openxmlformats.org/officeDocument/2006/relationships" id="317" r:id="R407c17e030cb4ced"/>
    <p:sldId xmlns:r="http://schemas.openxmlformats.org/officeDocument/2006/relationships" id="318" r:id="Rca6faeee3ba04e17"/>
    <p:sldId xmlns:r="http://schemas.openxmlformats.org/officeDocument/2006/relationships" id="319" r:id="R9c113f7057eb43a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1dc3143564faa" /><Relationship Type="http://schemas.openxmlformats.org/officeDocument/2006/relationships/slideMaster" Target="/ppt/slideMasters/slideMaster1.xml" Id="R1ad7bd11b633480f" /><Relationship Type="http://schemas.openxmlformats.org/officeDocument/2006/relationships/notesMaster" Target="/ppt/notesMasters/notesMaster1.xml" Id="Reb7314a41c194710" /><Relationship Type="http://schemas.openxmlformats.org/officeDocument/2006/relationships/presProps" Target="/ppt/presProps.xml" Id="R7ac38d3702744d4c" /><Relationship Type="http://schemas.openxmlformats.org/officeDocument/2006/relationships/viewProps" Target="/ppt/viewProps.xml" Id="R803f5161e7134a2a" /><Relationship Type="http://schemas.openxmlformats.org/officeDocument/2006/relationships/tableStyles" Target="/ppt/tableStyles.xml" Id="R4b96fa2191614ce0" /><Relationship Type="http://schemas.openxmlformats.org/officeDocument/2006/relationships/slide" Target="/ppt/slides/slide1.xml" Id="R3e8b2b8c8008407f" /><Relationship Type="http://schemas.openxmlformats.org/officeDocument/2006/relationships/slide" Target="/ppt/slides/slide2.xml" Id="Rc54ff564b793455f" /><Relationship Type="http://schemas.openxmlformats.org/officeDocument/2006/relationships/slide" Target="/ppt/slides/slide3.xml" Id="R62d3d1bd173446e3" /><Relationship Type="http://schemas.openxmlformats.org/officeDocument/2006/relationships/slide" Target="/ppt/slides/slide4.xml" Id="R7dc629e8fd7244fe" /><Relationship Type="http://schemas.openxmlformats.org/officeDocument/2006/relationships/slide" Target="/ppt/slides/slide5.xml" Id="R18619badd28b498d" /><Relationship Type="http://schemas.openxmlformats.org/officeDocument/2006/relationships/slide" Target="/ppt/slides/slide6.xml" Id="Reabf3dd21c9d4f5f" /><Relationship Type="http://schemas.openxmlformats.org/officeDocument/2006/relationships/slide" Target="/ppt/slides/slide7.xml" Id="R4b7eab1425a44296" /><Relationship Type="http://schemas.openxmlformats.org/officeDocument/2006/relationships/slide" Target="/ppt/slides/slide8.xml" Id="R8cbeae94e4ba4aca" /><Relationship Type="http://schemas.openxmlformats.org/officeDocument/2006/relationships/slide" Target="/ppt/slides/slide9.xml" Id="R2e53d79bc66c4bdc" /><Relationship Type="http://schemas.openxmlformats.org/officeDocument/2006/relationships/slide" Target="/ppt/slides/slide10.xml" Id="R24cf9fbb93dd4fb5" /><Relationship Type="http://schemas.openxmlformats.org/officeDocument/2006/relationships/slide" Target="/ppt/slides/slide11.xml" Id="R165ad9d7ea014d0b" /><Relationship Type="http://schemas.openxmlformats.org/officeDocument/2006/relationships/slide" Target="/ppt/slides/slide12.xml" Id="R8dcdb440f1a64a76" /><Relationship Type="http://schemas.openxmlformats.org/officeDocument/2006/relationships/slide" Target="/ppt/slides/slide13.xml" Id="R1a39c80a06bd4e96" /><Relationship Type="http://schemas.openxmlformats.org/officeDocument/2006/relationships/slide" Target="/ppt/slides/slide14.xml" Id="Re34c63bac8664ccf" /><Relationship Type="http://schemas.openxmlformats.org/officeDocument/2006/relationships/slide" Target="/ppt/slides/slide15.xml" Id="R104000c37270421d" /><Relationship Type="http://schemas.openxmlformats.org/officeDocument/2006/relationships/slide" Target="/ppt/slides/slide16.xml" Id="R78c3a277678a4e26" /><Relationship Type="http://schemas.openxmlformats.org/officeDocument/2006/relationships/slide" Target="/ppt/slides/slide17.xml" Id="Ra218e0786b924ad0" /><Relationship Type="http://schemas.openxmlformats.org/officeDocument/2006/relationships/slide" Target="/ppt/slides/slide18.xml" Id="R1ed7f39563384542" /><Relationship Type="http://schemas.openxmlformats.org/officeDocument/2006/relationships/slide" Target="/ppt/slides/slide19.xml" Id="R0ac57b74068c4cf4" /><Relationship Type="http://schemas.openxmlformats.org/officeDocument/2006/relationships/slide" Target="/ppt/slides/slide20.xml" Id="Rcba9fd7d1496453a" /><Relationship Type="http://schemas.openxmlformats.org/officeDocument/2006/relationships/slide" Target="/ppt/slides/slide21.xml" Id="Re3f97ffafa674341" /><Relationship Type="http://schemas.openxmlformats.org/officeDocument/2006/relationships/slide" Target="/ppt/slides/slide22.xml" Id="R69e9a33c18cf4afb" /><Relationship Type="http://schemas.openxmlformats.org/officeDocument/2006/relationships/slide" Target="/ppt/slides/slide23.xml" Id="R7d806b577b6641c2" /><Relationship Type="http://schemas.openxmlformats.org/officeDocument/2006/relationships/slide" Target="/ppt/slides/slide24.xml" Id="Rd7af2aec9afd4ef1" /><Relationship Type="http://schemas.openxmlformats.org/officeDocument/2006/relationships/slide" Target="/ppt/slides/slide25.xml" Id="R94d28cf4ae404c47" /><Relationship Type="http://schemas.openxmlformats.org/officeDocument/2006/relationships/slide" Target="/ppt/slides/slide26.xml" Id="R91481af579174299" /><Relationship Type="http://schemas.openxmlformats.org/officeDocument/2006/relationships/slide" Target="/ppt/slides/slide27.xml" Id="R98a581fd666f48f9" /><Relationship Type="http://schemas.openxmlformats.org/officeDocument/2006/relationships/slide" Target="/ppt/slides/slide28.xml" Id="R8ef855d4df3f429f" /><Relationship Type="http://schemas.openxmlformats.org/officeDocument/2006/relationships/slide" Target="/ppt/slides/slide29.xml" Id="R63644600cd68409c" /><Relationship Type="http://schemas.openxmlformats.org/officeDocument/2006/relationships/slide" Target="/ppt/slides/slide30.xml" Id="R1f96d3ae7d9e4fe3" /><Relationship Type="http://schemas.openxmlformats.org/officeDocument/2006/relationships/slide" Target="/ppt/slides/slide31.xml" Id="R9253613c074445f7" /><Relationship Type="http://schemas.openxmlformats.org/officeDocument/2006/relationships/slide" Target="/ppt/slides/slide32.xml" Id="Rbec593353f8e4efd" /><Relationship Type="http://schemas.openxmlformats.org/officeDocument/2006/relationships/slide" Target="/ppt/slides/slide33.xml" Id="R7c76bf89d5be4b5b" /><Relationship Type="http://schemas.openxmlformats.org/officeDocument/2006/relationships/slide" Target="/ppt/slides/slide34.xml" Id="R82255e7093894579" /><Relationship Type="http://schemas.openxmlformats.org/officeDocument/2006/relationships/slide" Target="/ppt/slides/slide35.xml" Id="R5b2ea05872ef4929" /><Relationship Type="http://schemas.openxmlformats.org/officeDocument/2006/relationships/slide" Target="/ppt/slides/slide36.xml" Id="R75954a99e56d4dd4" /><Relationship Type="http://schemas.openxmlformats.org/officeDocument/2006/relationships/slide" Target="/ppt/slides/slide37.xml" Id="R7dd7b835bb334bcd" /><Relationship Type="http://schemas.openxmlformats.org/officeDocument/2006/relationships/slide" Target="/ppt/slides/slide38.xml" Id="Rc4c9ed6c44ce4226" /><Relationship Type="http://schemas.openxmlformats.org/officeDocument/2006/relationships/slide" Target="/ppt/slides/slide39.xml" Id="R68acf916265745dc" /><Relationship Type="http://schemas.openxmlformats.org/officeDocument/2006/relationships/slide" Target="/ppt/slides/slide40.xml" Id="Rbbc927b8ef234a56" /><Relationship Type="http://schemas.openxmlformats.org/officeDocument/2006/relationships/slide" Target="/ppt/slides/slide41.xml" Id="R99c2f763302a4be3" /><Relationship Type="http://schemas.openxmlformats.org/officeDocument/2006/relationships/slide" Target="/ppt/slides/slide42.xml" Id="R278cb99edaf4448f" /><Relationship Type="http://schemas.openxmlformats.org/officeDocument/2006/relationships/slide" Target="/ppt/slides/slide43.xml" Id="R66c9a5c1007547b6" /><Relationship Type="http://schemas.openxmlformats.org/officeDocument/2006/relationships/slide" Target="/ppt/slides/slide44.xml" Id="Re6d4f106e14a48a1" /><Relationship Type="http://schemas.openxmlformats.org/officeDocument/2006/relationships/slide" Target="/ppt/slides/slide45.xml" Id="R7aafc9c4ef0a45f0" /><Relationship Type="http://schemas.openxmlformats.org/officeDocument/2006/relationships/slide" Target="/ppt/slides/slide46.xml" Id="R201848c971cd4eb8" /><Relationship Type="http://schemas.openxmlformats.org/officeDocument/2006/relationships/slide" Target="/ppt/slides/slide47.xml" Id="R90f7ed5cc27e4f0c" /><Relationship Type="http://schemas.openxmlformats.org/officeDocument/2006/relationships/slide" Target="/ppt/slides/slide48.xml" Id="R476a447658e848e5" /><Relationship Type="http://schemas.openxmlformats.org/officeDocument/2006/relationships/slide" Target="/ppt/slides/slide49.xml" Id="Rc0c081d932c94130" /><Relationship Type="http://schemas.openxmlformats.org/officeDocument/2006/relationships/slide" Target="/ppt/slides/slide50.xml" Id="R0fdfc0a3a2454226" /><Relationship Type="http://schemas.openxmlformats.org/officeDocument/2006/relationships/slide" Target="/ppt/slides/slide51.xml" Id="R139e0320dfbe4f6e" /><Relationship Type="http://schemas.openxmlformats.org/officeDocument/2006/relationships/slide" Target="/ppt/slides/slide52.xml" Id="Rb54bb329add04ff6" /><Relationship Type="http://schemas.openxmlformats.org/officeDocument/2006/relationships/slide" Target="/ppt/slides/slide53.xml" Id="R26eea20a1c544dc4" /><Relationship Type="http://schemas.openxmlformats.org/officeDocument/2006/relationships/slide" Target="/ppt/slides/slide54.xml" Id="R191f80e0ce3a45f1" /><Relationship Type="http://schemas.openxmlformats.org/officeDocument/2006/relationships/slide" Target="/ppt/slides/slide55.xml" Id="R4e44c8d962fb4784" /><Relationship Type="http://schemas.openxmlformats.org/officeDocument/2006/relationships/slide" Target="/ppt/slides/slide56.xml" Id="Rbc0e310ab2bf4629" /><Relationship Type="http://schemas.openxmlformats.org/officeDocument/2006/relationships/slide" Target="/ppt/slides/slide57.xml" Id="R6085c3b1ac75462c" /><Relationship Type="http://schemas.openxmlformats.org/officeDocument/2006/relationships/slide" Target="/ppt/slides/slide58.xml" Id="R29702f3b5fa84081" /><Relationship Type="http://schemas.openxmlformats.org/officeDocument/2006/relationships/slide" Target="/ppt/slides/slide59.xml" Id="R6eed901e47e64f19" /><Relationship Type="http://schemas.openxmlformats.org/officeDocument/2006/relationships/slide" Target="/ppt/slides/slide60.xml" Id="R97b31efcedcf4b84" /><Relationship Type="http://schemas.openxmlformats.org/officeDocument/2006/relationships/slide" Target="/ppt/slides/slide61.xml" Id="R8f59ae214878423d" /><Relationship Type="http://schemas.openxmlformats.org/officeDocument/2006/relationships/slide" Target="/ppt/slides/slide62.xml" Id="R407c17e030cb4ced" /><Relationship Type="http://schemas.openxmlformats.org/officeDocument/2006/relationships/slide" Target="/ppt/slides/slide63.xml" Id="Rca6faeee3ba04e17" /><Relationship Type="http://schemas.openxmlformats.org/officeDocument/2006/relationships/slide" Target="/ppt/slides/slide64.xml" Id="R9c113f7057eb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9945b1bc48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43759f48d4211" /><Relationship Type="http://schemas.openxmlformats.org/officeDocument/2006/relationships/notesMaster" Target="/ppt/notesMasters/notesMaster1.xml" Id="R2ebaf8ac0999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6f78b46ca41b2" /><Relationship Type="http://schemas.openxmlformats.org/officeDocument/2006/relationships/notesMaster" Target="/ppt/notesMasters/notesMaster1.xml" Id="R4b34e7ee17a840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9c0c97b784377" /><Relationship Type="http://schemas.openxmlformats.org/officeDocument/2006/relationships/notesMaster" Target="/ppt/notesMasters/notesMaster1.xml" Id="Rcbe8b06b776b4d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3bebc755a24ae2" /><Relationship Type="http://schemas.openxmlformats.org/officeDocument/2006/relationships/notesMaster" Target="/ppt/notesMasters/notesMaster1.xml" Id="R2967baf74e2847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a241a05277472c" /><Relationship Type="http://schemas.openxmlformats.org/officeDocument/2006/relationships/notesMaster" Target="/ppt/notesMasters/notesMaster1.xml" Id="R553492b65bc846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8734e791ec4b46" /><Relationship Type="http://schemas.openxmlformats.org/officeDocument/2006/relationships/notesMaster" Target="/ppt/notesMasters/notesMaster1.xml" Id="R4ca287889ca7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5cdff17ce64b5d" /><Relationship Type="http://schemas.openxmlformats.org/officeDocument/2006/relationships/notesMaster" Target="/ppt/notesMasters/notesMaster1.xml" Id="Rfdb891cd398548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13cab26bcc415b" /><Relationship Type="http://schemas.openxmlformats.org/officeDocument/2006/relationships/notesMaster" Target="/ppt/notesMasters/notesMaster1.xml" Id="R1ffb163c96a940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efd4968f2d4d12" /><Relationship Type="http://schemas.openxmlformats.org/officeDocument/2006/relationships/notesMaster" Target="/ppt/notesMasters/notesMaster1.xml" Id="Rc59dc73558104e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50756cf3d84fe1" /><Relationship Type="http://schemas.openxmlformats.org/officeDocument/2006/relationships/notesMaster" Target="/ppt/notesMasters/notesMaster1.xml" Id="Rd7fca79072924b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efae1db31a4c61" /><Relationship Type="http://schemas.openxmlformats.org/officeDocument/2006/relationships/notesMaster" Target="/ppt/notesMasters/notesMaster1.xml" Id="R0667a2c8c86b4b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132d070cfc40b5" /><Relationship Type="http://schemas.openxmlformats.org/officeDocument/2006/relationships/notesMaster" Target="/ppt/notesMasters/notesMaster1.xml" Id="Rd06b4bdd7aac4d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ac5a2ea2a143df" /><Relationship Type="http://schemas.openxmlformats.org/officeDocument/2006/relationships/notesMaster" Target="/ppt/notesMasters/notesMaster1.xml" Id="R7e03f96dbfff45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65965157d84411" /><Relationship Type="http://schemas.openxmlformats.org/officeDocument/2006/relationships/notesMaster" Target="/ppt/notesMasters/notesMaster1.xml" Id="Rc2a408203e9f42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c9432fd533455c" /><Relationship Type="http://schemas.openxmlformats.org/officeDocument/2006/relationships/notesMaster" Target="/ppt/notesMasters/notesMaster1.xml" Id="Rd5555c3cf01c46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479b0bceed498d" /><Relationship Type="http://schemas.openxmlformats.org/officeDocument/2006/relationships/notesMaster" Target="/ppt/notesMasters/notesMaster1.xml" Id="R91276330a3fe49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7cc85c843c48ba" /><Relationship Type="http://schemas.openxmlformats.org/officeDocument/2006/relationships/notesMaster" Target="/ppt/notesMasters/notesMaster1.xml" Id="R86c90c3a6e454b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7d8eb207664ad5" /><Relationship Type="http://schemas.openxmlformats.org/officeDocument/2006/relationships/notesMaster" Target="/ppt/notesMasters/notesMaster1.xml" Id="R16ab6c2d57cd43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7049dbd1564466" /><Relationship Type="http://schemas.openxmlformats.org/officeDocument/2006/relationships/notesMaster" Target="/ppt/notesMasters/notesMaster1.xml" Id="Rd2059786022f4f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a5d0c38cdd4b82" /><Relationship Type="http://schemas.openxmlformats.org/officeDocument/2006/relationships/notesMaster" Target="/ppt/notesMasters/notesMaster1.xml" Id="Rb227a53e72e34c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a7116bdc3f64772" /><Relationship Type="http://schemas.openxmlformats.org/officeDocument/2006/relationships/notesMaster" Target="/ppt/notesMasters/notesMaster1.xml" Id="R3fdbede1d8d940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b1212194554bdf" /><Relationship Type="http://schemas.openxmlformats.org/officeDocument/2006/relationships/notesMaster" Target="/ppt/notesMasters/notesMaster1.xml" Id="Rfdd876c0b3764a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93cd5c424f84215" /><Relationship Type="http://schemas.openxmlformats.org/officeDocument/2006/relationships/notesMaster" Target="/ppt/notesMasters/notesMaster1.xml" Id="R4f05b152046a41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ba7a28b6f74ad7" /><Relationship Type="http://schemas.openxmlformats.org/officeDocument/2006/relationships/notesMaster" Target="/ppt/notesMasters/notesMaster1.xml" Id="Rc9c3acad37854b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570f64d88143b2" /><Relationship Type="http://schemas.openxmlformats.org/officeDocument/2006/relationships/notesMaster" Target="/ppt/notesMasters/notesMaster1.xml" Id="Rc933b3e604524a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f2817871324432" /><Relationship Type="http://schemas.openxmlformats.org/officeDocument/2006/relationships/notesMaster" Target="/ppt/notesMasters/notesMaster1.xml" Id="R7880f77fd70b470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f124378a0343c2" /><Relationship Type="http://schemas.openxmlformats.org/officeDocument/2006/relationships/notesMaster" Target="/ppt/notesMasters/notesMaster1.xml" Id="Rf3b92b384a1546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59b54194dac46da" /><Relationship Type="http://schemas.openxmlformats.org/officeDocument/2006/relationships/notesMaster" Target="/ppt/notesMasters/notesMaster1.xml" Id="R77745759e71c4a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1467ecff7e4b4c" /><Relationship Type="http://schemas.openxmlformats.org/officeDocument/2006/relationships/notesMaster" Target="/ppt/notesMasters/notesMaster1.xml" Id="R82b4730c4e2b42b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4bd2eb22634fc6" /><Relationship Type="http://schemas.openxmlformats.org/officeDocument/2006/relationships/notesMaster" Target="/ppt/notesMasters/notesMaster1.xml" Id="R1c5dfec4425c4ff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a75985ee76142d9" /><Relationship Type="http://schemas.openxmlformats.org/officeDocument/2006/relationships/notesMaster" Target="/ppt/notesMasters/notesMaster1.xml" Id="R10d4516afbc24fa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7d7c7f8263f4a1b" /><Relationship Type="http://schemas.openxmlformats.org/officeDocument/2006/relationships/notesMaster" Target="/ppt/notesMasters/notesMaster1.xml" Id="R503e18aa615448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b037522b2b436d" /><Relationship Type="http://schemas.openxmlformats.org/officeDocument/2006/relationships/notesMaster" Target="/ppt/notesMasters/notesMaster1.xml" Id="Rcd127f8fbe7f48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d93e0f74a5e415f" /><Relationship Type="http://schemas.openxmlformats.org/officeDocument/2006/relationships/notesMaster" Target="/ppt/notesMasters/notesMaster1.xml" Id="R8401aae2ff5042c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16d7198dae4189" /><Relationship Type="http://schemas.openxmlformats.org/officeDocument/2006/relationships/notesMaster" Target="/ppt/notesMasters/notesMaster1.xml" Id="R4af4cd7ca57e4e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10b00922fda450a" /><Relationship Type="http://schemas.openxmlformats.org/officeDocument/2006/relationships/notesMaster" Target="/ppt/notesMasters/notesMaster1.xml" Id="R3301d1b9bfe041a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1011c79f29b41ce" /><Relationship Type="http://schemas.openxmlformats.org/officeDocument/2006/relationships/notesMaster" Target="/ppt/notesMasters/notesMaster1.xml" Id="Rd9c1a584edab4ac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e3c6e39bb29434a" /><Relationship Type="http://schemas.openxmlformats.org/officeDocument/2006/relationships/notesMaster" Target="/ppt/notesMasters/notesMaster1.xml" Id="Raa459a5f0d74455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1cf8f4735d541b3" /><Relationship Type="http://schemas.openxmlformats.org/officeDocument/2006/relationships/notesMaster" Target="/ppt/notesMasters/notesMaster1.xml" Id="R6724753cc7ce46b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cce6afadf6844f4" /><Relationship Type="http://schemas.openxmlformats.org/officeDocument/2006/relationships/notesMaster" Target="/ppt/notesMasters/notesMaster1.xml" Id="R323072206a6042d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3c88ffe122f4332" /><Relationship Type="http://schemas.openxmlformats.org/officeDocument/2006/relationships/notesMaster" Target="/ppt/notesMasters/notesMaster1.xml" Id="R7a71a3e861b1432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389f208160642e6" /><Relationship Type="http://schemas.openxmlformats.org/officeDocument/2006/relationships/notesMaster" Target="/ppt/notesMasters/notesMaster1.xml" Id="R5ec34d1519b044e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3cdb8e975ac4182" /><Relationship Type="http://schemas.openxmlformats.org/officeDocument/2006/relationships/notesMaster" Target="/ppt/notesMasters/notesMaster1.xml" Id="R9ebe7e90eb90472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817a5b9285c409f" /><Relationship Type="http://schemas.openxmlformats.org/officeDocument/2006/relationships/notesMaster" Target="/ppt/notesMasters/notesMaster1.xml" Id="Rfa7a41ef88c9414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5c76e54218740a5" /><Relationship Type="http://schemas.openxmlformats.org/officeDocument/2006/relationships/notesMaster" Target="/ppt/notesMasters/notesMaster1.xml" Id="R43f73586e7e04ad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4f8ccc723ce462a" /><Relationship Type="http://schemas.openxmlformats.org/officeDocument/2006/relationships/notesMaster" Target="/ppt/notesMasters/notesMaster1.xml" Id="R1ff2dea1c887475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bb034ccb5bc4d36" /><Relationship Type="http://schemas.openxmlformats.org/officeDocument/2006/relationships/notesMaster" Target="/ppt/notesMasters/notesMaster1.xml" Id="R89d025dcfe80468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f3c82c30f844612" /><Relationship Type="http://schemas.openxmlformats.org/officeDocument/2006/relationships/notesMaster" Target="/ppt/notesMasters/notesMaster1.xml" Id="Re8d82122a26e49f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83a104eee8a4c93" /><Relationship Type="http://schemas.openxmlformats.org/officeDocument/2006/relationships/notesMaster" Target="/ppt/notesMasters/notesMaster1.xml" Id="Rc7c000e094bd4f4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67edd2c9cad4dd0" /><Relationship Type="http://schemas.openxmlformats.org/officeDocument/2006/relationships/notesMaster" Target="/ppt/notesMasters/notesMaster1.xml" Id="R1a34c9d2a64f479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b67ed7ede254083" /><Relationship Type="http://schemas.openxmlformats.org/officeDocument/2006/relationships/notesMaster" Target="/ppt/notesMasters/notesMaster1.xml" Id="R4b99cc15ed5a49d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9a221d7d3844e7a" /><Relationship Type="http://schemas.openxmlformats.org/officeDocument/2006/relationships/notesMaster" Target="/ppt/notesMasters/notesMaster1.xml" Id="R7c69aebe86ee465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368d62a0f424c9f" /><Relationship Type="http://schemas.openxmlformats.org/officeDocument/2006/relationships/notesMaster" Target="/ppt/notesMasters/notesMaster1.xml" Id="R21d3a055c6b44f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001d824fe484a54" /><Relationship Type="http://schemas.openxmlformats.org/officeDocument/2006/relationships/notesMaster" Target="/ppt/notesMasters/notesMaster1.xml" Id="R8babbda0e40f474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9be6dc323a740de" /><Relationship Type="http://schemas.openxmlformats.org/officeDocument/2006/relationships/notesMaster" Target="/ppt/notesMasters/notesMaster1.xml" Id="Re685f01d720246a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eebf946d0ce400a" /><Relationship Type="http://schemas.openxmlformats.org/officeDocument/2006/relationships/notesMaster" Target="/ppt/notesMasters/notesMaster1.xml" Id="R612e355950ae45e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853f1a7dc4c47c7" /><Relationship Type="http://schemas.openxmlformats.org/officeDocument/2006/relationships/notesMaster" Target="/ppt/notesMasters/notesMaster1.xml" Id="R42ae94376c0742a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1c28464cca04cc7" /><Relationship Type="http://schemas.openxmlformats.org/officeDocument/2006/relationships/notesMaster" Target="/ppt/notesMasters/notesMaster1.xml" Id="R419fda463c174bb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63534d1d51047b6" /><Relationship Type="http://schemas.openxmlformats.org/officeDocument/2006/relationships/notesMaster" Target="/ppt/notesMasters/notesMaster1.xml" Id="R50d71a991f19425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4445f52921b4373" /><Relationship Type="http://schemas.openxmlformats.org/officeDocument/2006/relationships/notesMaster" Target="/ppt/notesMasters/notesMaster1.xml" Id="Ra228801feffe456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34cec28f35342f9" /><Relationship Type="http://schemas.openxmlformats.org/officeDocument/2006/relationships/notesMaster" Target="/ppt/notesMasters/notesMaster1.xml" Id="R3c9532fed46d42d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806c34af0614fe8" /><Relationship Type="http://schemas.openxmlformats.org/officeDocument/2006/relationships/notesMaster" Target="/ppt/notesMasters/notesMaster1.xml" Id="Re60583f18f1c4ec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fe4adbbb7d040cf" /><Relationship Type="http://schemas.openxmlformats.org/officeDocument/2006/relationships/notesMaster" Target="/ppt/notesMasters/notesMaster1.xml" Id="R7af975dd4f88478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3d563af83464d67" /><Relationship Type="http://schemas.openxmlformats.org/officeDocument/2006/relationships/notesMaster" Target="/ppt/notesMasters/notesMaster1.xml" Id="R4e75654684b4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1 minutes]</a:t>
            </a:r>
          </a:p>
          <a:p xmlns:a="http://schemas.openxmlformats.org/drawingml/2006/main">
            <a:r>
              <a:t>Timing: approximately 1 minute.</a:t>
            </a:r>
          </a:p>
          <a:p xmlns:a="http://schemas.openxmlformats.org/drawingml/2006/main">
            <a:r>
              <a:t>Teaching notes: Use this slide to orient the next part of the source sequence.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provided Day 1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3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lecture as a decision process. The first act extracts structure, the second defines the map from available history to required future, the third chooses a model family, and the fourth asks whether the resulting forecast is trustworthy.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Supplied Day 1/Day 2 PDFs and the current Day 3 deck.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15.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Timing: approximately 0.5 minutes.</a:t>
            </a:r>
          </a:p>
          <a:p xmlns:a="http://schemas.openxmlformats.org/drawingml/2006/main">
            <a:r>
              <a:t>Teaching notes: Use this slide to orient the next part of the source sequence.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provided Day 1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66.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67.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69.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70.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71.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74.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78.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79.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Timing: approximately 0.5 minutes.</a:t>
            </a:r>
          </a:p>
          <a:p xmlns:a="http://schemas.openxmlformats.org/drawingml/2006/main">
            <a:r>
              <a:t>Teaching notes: Use this slide to orient the next part of the source sequence.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provided Day 1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65.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80.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85.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87.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95.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Timing: approximately 0.5 minutes.</a:t>
            </a:r>
          </a:p>
          <a:p xmlns:a="http://schemas.openxmlformats.org/drawingml/2006/main">
            <a:r>
              <a:t>Teaching notes: Use this slide to orient the next part of the source sequence.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provided Day 1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165.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171.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188.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190.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193.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 minute.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IE_CDT_SP_HT25_D1.pdf, page 194.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Connect the preceding DFT material to time-domain dependence. The purpose of ACF, PACF and cross-correlation is to expose repeatable structure before modelling.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Narrative structure synthesised from the supplied two-day time-series material and S3-L1/S3-L2/S3-L3 learning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Read several prominent lags from the ACF and ask whether they suggest persistence or seasonality. Explain that ACF includes direct and propagated dependence; PACF and CCF answer different questions.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Hyndman &amp; Athanasopoulos, Forecasting: Principles and Practice, 2nd ed., https://otexts.com/fpp2/autocorrelation.html</a:t>
            </a:r>
          </a:p>
          <a:p xmlns:a="http://schemas.openxmlformats.org/drawingml/2006/main">
            <a:r>
              <a:t>- Technical reference: Box, Jenkins, Reinsel &amp; Ljung, Time Series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111.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113.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Contrast an ideal AR(1), whose ACF decays but PACF cuts off after lag 1, with an ideal moving-average process. The clean cut-off is a diagnostic under textbook conditions, not a guarantee on real data.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Moon motif, Partial Autocorrelation Function Graph, Wikimedia Commons, CC BY-SA 4.0, https://commons.wikimedia.org/wiki/File:Partial_Autocorrelation_Function_Graph.png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Technical reference: Box, Jenkins, Reinsel &amp; Ljung, Time Series Analysis.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137.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 minutes]</a:t>
            </a:r>
          </a:p>
          <a:p xmlns:a="http://schemas.openxmlformats.org/drawingml/2006/main">
            <a:r>
              <a:t>Compare filtered and unfiltered cross-correlation. Shared low-frequency movement can create a broad, impressive peak. Pre-whitening asks whether innovations in one series predict innovations in the other.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Cambridge Core figure from Complex optical/UV and X-ray variability in Seyfert 1 galaxy Mrk 509, https://www.cambridge.org/core/journals/publications-of-the-astronomical-society-of-australia/article/complex-opticaluv-and-xray-variability-in-seyfert-1-galaxy-mrk-509/</a:t>
            </a:r>
          </a:p>
          <a:p xmlns:a="http://schemas.openxmlformats.org/drawingml/2006/main">
            <a:r>
              <a:t>- Technical reference: Box, Jenkins, Reinsel &amp; Ljung, Time Series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Use the spurious-regression picture to show why shared low-frequency behaviour can look predictive. Distinguish weak stationarity from strict stationarity and avoid presenting differencing as an automatic preprocessing step.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Kwj2772, Spurious regression with non-stationary time series, Wikimedia Commons, CC BY 4.0, https://commons.wikimedia.org/wiki/File:Spurious_regression_with_non-stationary_time_series.svg</a:t>
            </a:r>
          </a:p>
          <a:p xmlns:a="http://schemas.openxmlformats.org/drawingml/2006/main">
            <a:r>
              <a:t>- Hyndman &amp; Athanasopoulos, Forecasting: Principles and Practice, 3rd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Before choosing a model, formalise the target, forecast origin, horizon, known-future inputs and evaluation protocol. This turns an informal time-series question into a supervised mapping.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Narrative structure synthesised from the supplied two-day time-series material and S3-L1/S3-L2/S3-L3 learning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Use concrete examples to distinguish one-step prediction, path forecasting and risk forecasting. Ask whether planned control actions or weather forecasts are genuinely available at the forecast origin.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skforecast documentation, https://skforecast.org/latest/introduction-forecasting/introduction-forecasting</a:t>
            </a:r>
          </a:p>
          <a:p xmlns:a="http://schemas.openxmlformats.org/drawingml/2006/main">
            <a:r>
              <a:t>- Hyndman &amp; Athanasopoulos, Forecasting: Principles and Practice, 3rd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Point to the expanding training windows and later test blocks. Explain how fitting preprocessing on all timestamps leaks future distributional information even when the forecasting model itself is trained chronologically.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scikit-learn TimeSeriesSplit example, BSD-3-Clause, https://scikit-learn.org/stable/auto_examples/model_selection/plot_cv_indices.html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Tashman (2000), Out-of-sample tests of forecasting accuracy.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Ask which baseline should win for a slowly drifting sensor, a seasonal load series and a stationary zero-mean signal. The baseline must use the same horizon, information and retraining schedule as the candidate.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Hyndman &amp; Athanasopoulos, Forecasting: Principles and Practice, 2nd ed., https://otexts.com/fpp2/simple-methods.html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Link the metric to the decision. RMSE is appropriate when large misses are disproportionately costly; quantile loss handles asymmetric costs. Explain why MAPE behaves badly near zero.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Hyndman &amp; Athanasopoulos, Forecasting: Principles and Practice, 3rd ed., https://otexts.com/fpp3/tscv.html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Hyndman &amp; Koehler (2006), Another look at measures of forecast accuracy.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Run this as a formulation exercise. Ask what changes if the aim is anomaly detection rather than forecasting, or if future load is unknown. Make the information boundary explicit.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InviCom vibration monitoring sensor, https://invicom.com/applications/vibration-monitoring</a:t>
            </a:r>
          </a:p>
          <a:p xmlns:a="http://schemas.openxmlformats.org/drawingml/2006/main">
            <a:r>
              <a:t>- Illustrative engineering task synthesised from the supplied time-series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the mapping from the time history to a small set of sinusoidal coefficients, then extrapolate phase into the forecast horizon. Contrast deterministic harmonic regression with stochastic models for the residual. Emphasise instability under frequency or regime drift.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 constructed from the DFT and harmonic-regression concepts in the supplied PDFs.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Hyndman &amp; Athanasopoulos, Forecasting: Principles and Practice, 3rd ed., dynamic harmonic regression.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115.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117.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121.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purple dashed line is the one-step AR(4) prediction and the charcoal line is the observed signal. The residual plot uses the same vertical scale. Compare σ²ₑ = 0.079 with σ²ₓ = 0.3882: the model explains substantial predictable variation but leaves irregular innovations.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series digitised from the supplied PDF Figure 4.9; AR coefficients [1.46, −1.08, 0.60, −0.186]ᵀ.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143.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Frame model selection as matching assumptions, representation, data volume, horizon and uncertainty needs—not as choosing the newest algorithm.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Narrative structure synthesised from the supplied two-day time-series material and S3-L1/S3-L2/S3-L3 learning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 minutes]</a:t>
            </a:r>
          </a:p>
          <a:p xmlns:a="http://schemas.openxmlformats.org/drawingml/2006/main">
            <a:r>
              <a:t>Use this as the model map. Trees and boosting enter only after converting the sequence into a lag table; they remain useful nonlinear baselines but do not carry temporal state or causality automatically.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adapted from Deep Time Series Forecasting Models: A Comprehensive Survey, Mathematics 2024, https://www.mdpi.com/2227-7390/12/10/1504</a:t>
            </a:r>
          </a:p>
          <a:p xmlns:a="http://schemas.openxmlformats.org/drawingml/2006/main">
            <a:r>
              <a:t>- Lim &amp; Zohren (2021), Time-series forecasting with deep learning: a survey.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3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Connect decomposition to explicit components in ETS and dynamic regression. Explain that ARIMA and many exponential-smoothing models also have state-space representations, so these families are related rather than isolated boxes.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Hyndman &amp; Athanasopoulos, Forecasting: Principles and Practice, 3rd ed., https://otexts.com/fpp3/stl.html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1.5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149.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1.5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142.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0.5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2 minutes.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Teaching notes: Use the supplied source figure as the teaching focus. Follow its derivation or build in the printed order, define every symbol, and connect the final statement to the previous slide.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Provided IE_CDT_SP_HT25_D2.pdf, page 147.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3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Introduce the prior over functions, then explain that the kernel is a modelling assumption about temporal similarity. Walk through the posterior mean and covariance at a conceptual level. Mention periodic and locally periodic kernels, and the O(n^3) exact-training limitation.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scikit-learn Gaussian-process regression example, BSD-3-Clause, https://scikit-learn.org/stable/auto_examples/gaussian_process/plot_gpr_noisy_targets.html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Rasmussen &amp; Williams (2006), Gaussian Processes for Machine Learning.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Relate a 1D convolution to a learned FIR filter. Causality prevents future leakage; dilation grows the receptive field without a long recurrent chain. Ask how many past samples are visible after several layers.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Bai, Kolter &amp; Koltun (2018), An Empirical Evaluation of Generic Convolutional and Recurrent Networks for Sequence Modeling, https://arxiv.org/abs/1803.01271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3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shared recurrent update, then use the diagram to identify the input, forget and output gates. Contrast deterministic recurrent regression with DeepAR's distributional output and sharing across related series.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Guillaume Chevalier / Ketograff, LSTM cell, Wikimedia Commons, CC BY 4.0, https://commons.wikimedia.org/wiki/File:LSTM_cell.svg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Salinas et al. (2020), DeepAR: Probabilistic forecasting with autoregressive recurrent networks.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Compare recursive, direct and multi-output forecasts. Explain exposure bias: a recursive model is trained on observed histories but deployed on its own predictions.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Visuals: skforecast multi-step forecasting diagrams, https://skforecast.org/latest/introduction-forecasting/introduction-forecasting</a:t>
            </a:r>
          </a:p>
          <a:p xmlns:a="http://schemas.openxmlformats.org/drawingml/2006/main">
            <a:r>
              <a:t>- Hyndman &amp; Athanasopoulos, Forecasting: Principles and Practice, 3rd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Give a landscape rather than full derivations. N-BEATS and N-HiTS learn basis-like residual expansions; TFT integrates known-future covariates and attention; PatchTST uses channel-wise patches for long contexts. Point students to DeepAR as a common probabilistic RNN baseline.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Oreshkin et al. (2020), N-BEATS, https://arxiv.org/abs/1905.10437</a:t>
            </a:r>
          </a:p>
          <a:p xmlns:a="http://schemas.openxmlformats.org/drawingml/2006/main">
            <a:r>
              <a:t>- Lim et al. (2021), Temporal Fusion Transformers, https://arxiv.org/abs/1912.09363</a:t>
            </a:r>
          </a:p>
          <a:p xmlns:a="http://schemas.openxmlformats.org/drawingml/2006/main">
            <a:r>
              <a:t>- Nie et al. (2023), PatchTST, https://arxiv.org/abs/2211.14730</a:t>
            </a:r>
          </a:p>
          <a:p xmlns:a="http://schemas.openxmlformats.org/drawingml/2006/main">
            <a:r>
              <a:t>- Challu et al. (2023), N-HiTS.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A forecasting algorithm becomes useful only when uncertainty, interpretation, temporal tuning, distribution shift and deployment-specific evaluation are handled together.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Narrative structure synthesised from the supplied two-day time-series material and S3-L1/S3-L2/S3-L3 learning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Distinguish parameter confidence intervals from prediction intervals. Explain that interval quality has two dimensions: calibration and sharpness. Quantile, likelihood and conformal approaches provide different routes.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Rob J Hyndman, Visualisation of probabilistic forecasts, https://robjhyndman.com/hyndsight/visualization-of-probabilistic-forecasts/</a:t>
            </a:r>
          </a:p>
          <a:p xmlns:a="http://schemas.openxmlformats.org/drawingml/2006/main">
            <a:r>
              <a:t>- Gneiting &amp; Raftery (2007), Strictly Proper Scoring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2.5 minutes]</a:t>
            </a:r>
          </a:p>
          <a:p xmlns:a="http://schemas.openxmlformats.org/drawingml/2006/main">
            <a:r>
              <a:t>Show why independent permutation of individual time points destroys sequence structure. Prefer block or grouped perturbations for correlated lags. For scientific forecasting, mechanistic checks may be more useful than a generic feature ranking.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Salesforce OmniXAI time-series SHAP tutorial, https://opensource.salesforce.com/OmniXAI/latest/tutorials/timeseries/shap.html</a:t>
            </a:r>
          </a:p>
          <a:p xmlns:a="http://schemas.openxmlformats.org/drawingml/2006/main">
            <a:r>
              <a:t>- Lundberg &amp; Lee (2017), SHAP.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sensor recalibration as covariate shift and component degradation as possible concept shift. The medical-imaging diagram is a general vocabulary for thinking about how training and deployment populations differ.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Causality matters in medical imaging, Nature Communications 2020, https://www.nature.com/articles/s41467-020-17478-w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Quionero-Candela et al. (2009), Dataset Shift in Machine Learning.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[Timing: 2.5 minutes]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Sketch nested temporal evaluation. Several earlier origins select hyperparameters; one final untouched future period reports performance. Random search over a random split only optimises leakage.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Visual: Hyndman &amp; Athanasopoulos, Forecasting: Principles and Practice, 3rd ed., https://otexts.com/fpp3/tscv.html</a:t>
            </a:r>
            <a:endParaRPr sz="1000"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Bergmeir &amp; Benítez (2012), cross-validation for time series.</a:t>
            </a:r>
            <a:endParaRPr sz="1000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3 minutes]</a:t>
            </a:r>
          </a:p>
          <a:p xmlns:a="http://schemas.openxmlformats.org/drawingml/2006/main">
            <a:r>
              <a:t>Invite students to identify one statistical, one engineering and one scientific failure that a random test split would miss. Evaluation must reproduce the information, latency and decision loop at deployment.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NASA/JPL-Caltech/Lockheed Martin, Preparing NASA's InSight Spacecraft for Vibration Test, https://science.nasa.gov/photojournal/preparing-nasas-insight-spacecraft-for-vibration-test/</a:t>
            </a:r>
          </a:p>
          <a:p xmlns:a="http://schemas.openxmlformats.org/drawingml/2006/main">
            <a:r>
              <a:t>- Synthesis of Tashman (2000) and Gneiting &amp; Raftery (2007).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5 minutes]</a:t>
            </a:r>
          </a:p>
          <a:p xmlns:a="http://schemas.openxmlformats.org/drawingml/2006/main">
            <a:r>
              <a:t>Use this as retrieval practice. Ask students to state a target and horizon, one diagnostic, one baseline, one candidate model and one trustworthiness check for their own data.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Hyndman &amp; Athanasopoulos, A tidy forecasting workflow, https://otexts.com/fpp3/a-tidy-forecasting-workflow.html</a:t>
            </a:r>
          </a:p>
          <a:p xmlns:a="http://schemas.openxmlformats.org/drawingml/2006/main">
            <a:r>
              <a:t>- Integrated synthesis of the supplied PDFs and S3-L1/S3-L2/S3-L3 methodology.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0.5 minutes]</a:t>
            </a:r>
          </a:p>
          <a:p xmlns:a="http://schemas.openxmlformats.org/drawingml/2006/main">
            <a:r>
              <a:t>Use the prompt to test whether students now connect model choice with horizon, baselines, temporal validation and trustworthiness.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Session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35a6519144391" /><Relationship Type="http://schemas.openxmlformats.org/officeDocument/2006/relationships/image" Target="/ppt/media/image.emf" Id="R790d7715ea604c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c9db4ef13468c" /><Relationship Type="http://schemas.openxmlformats.org/officeDocument/2006/relationships/image" Target="/ppt/media/image.emf" Id="R0a3c39767e5748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0e126e9f143cb" /><Relationship Type="http://schemas.openxmlformats.org/officeDocument/2006/relationships/image" Target="/ppt/media/image.emf" Id="R5debc2a0c45249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86d99edb740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c7a11a2324f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5a8c8ad6c4b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514128e324b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6c81fa58645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3020c320740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58c835df94d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63c4c6e8c4fa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30db2ae2a4e4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699918-E355-4CBF-8AF3-4D926637921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67544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59903B1-4F1D-4ECB-ACF8-EFADA10206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7544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B9AEC6-6CE4-4A11-B805-1DDAADEF2D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C7AB759-530A-46AC-842F-B07144F002F9}" type="datetimeFigureOut">
              <a:t>8/18/26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60A960-1241-41F9-A159-159CA08880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A872E2-B1D2-4079-ADFE-2552271CBF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0AD8A0A-4898-40BF-9009-4DA7E611EAC1}" type="slidenum">
              <a:t>‹#›</a:t>
            </a:fld>
            <a:endParaRPr/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d7715ea604c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D10375-5928-490E-89C5-F0E730F4D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5880" y="1268760"/>
            <a:ext cx="5842992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D60A6D-74CE-4337-A9F0-05B670CC7A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5536" y="2492896"/>
            <a:ext cx="8229600" cy="363326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B3CA76-4116-4A8A-85B6-DA0B0EF24B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22B6232-AB33-4513-9527-F98CEC472D23}" type="datetimeFigureOut">
              <a:t>8/18/26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5F59C3-C67C-4072-9629-A533A4FB50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7E3F55-BEC2-49D3-B6AD-539FA8288C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758A139-7ABE-46A1-B082-C2C77667394C}" type="slidenum">
              <a:t>‹#›</a:t>
            </a:fld>
            <a:endParaRPr/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c39767e5748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6C93EA-E98C-4159-9C79-38205DC82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6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49520A-B891-4398-BE77-D4B0039416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5536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7BA0B8-3F0F-41D0-A147-93C9AB0DE8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45CD916-7149-4247-856D-87DAB39295C7}" type="datetimeFigureOut">
              <a:t>8/18/26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9C7B3-329E-43F4-A70D-F551B0E83A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5B69D9-9C21-455E-8A3C-3159505BFD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3ACF840-035C-411F-BA81-AF7A8ED78138}" type="slidenum">
              <a:t>‹#›</a:t>
            </a:fld>
            <a:endParaRPr/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bc2a0c45249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E469A2-649C-4F2D-AE8A-A73F24640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5880" y="1268760"/>
            <a:ext cx="5842992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DBBBDA-7450-4E90-87CF-17E192069C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5536" y="2492896"/>
            <a:ext cx="4038600" cy="363326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aseline="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AC789D-A8F3-4B6F-905A-DB0D6CAD1F5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86536" y="2492896"/>
            <a:ext cx="4038600" cy="363326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6B20E7-ECB6-4A9A-ACEC-4C2CD2C3D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FD09641-23CB-4E80-A5B0-5F03D2E94610}" type="datetimeFigureOut">
              <a:t>8/18/26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BB3A51-0262-4D66-81B7-2498A4396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82158E-7D72-471F-9475-F99AFAD3F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A264-F771-4264-8DF0-4BB7F0DA3C6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75A993-504A-45CB-805A-B3E357E29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5880" y="1268760"/>
            <a:ext cx="5842992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DAB814-1266-4472-944D-2C86DDE30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5880" y="2348880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AF7C0AD-2E83-4197-9688-4F1217E2C1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95536" y="3068959"/>
            <a:ext cx="4040188" cy="305720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B56B752-EE96-423A-AAD0-D17F5274E0B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582344" y="2348880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9349D3-D98D-4C45-8627-F88034B84A9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583361" y="3068960"/>
            <a:ext cx="4041775" cy="305720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E03790-0D81-46B5-B9DD-C5F7728031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3A9A4E03-F40B-4399-AC2E-A4C6E9D600B3}" type="datetimeFigureOut">
              <a:t>8/18/26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BAF608-F5E4-460B-BF05-D4F9AABC1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01BAB7-6A33-44BC-A294-ABB1A0B42C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8692BDDC-0BFC-44A0-A4BA-47C3E99EB1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0AEC7E-6485-4F0B-ABFF-ADEDD94B6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623784-E436-4F4D-81F5-C7CBD92A4F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FE8F7DA-80EC-4CF7-AB7B-078F533B953B}" type="datetimeFigureOut">
              <a:t>8/18/26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915DF1-3765-429E-884F-203254A99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CA80C8-0DD8-4FCE-93C8-5B56B8840C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74E6293-7DA2-4D9E-8605-5715E69AF2C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7D009-C4ED-416E-80C0-4C27440BEF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1AE269B-21F6-4A71-848B-6E891C314B78}" type="datetimeFigureOut">
              <a:t>8/18/26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3DCA9C-D821-414E-838F-2690C46ECF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74CA68-22C1-4791-9DE1-50F56BCAD3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32789173-A1D5-421E-B384-2A426DF314C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ED0590-E0D0-4A5E-8BF2-7F108D5503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6" y="118683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2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FFADF8-6E03-45E2-8F8D-795BB14DA8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1196752"/>
            <a:ext cx="5111750" cy="492941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B6D2E1B-098A-41FD-AE10-A3C792B896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420888"/>
            <a:ext cx="3008313" cy="370527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7FBA6F-2C0C-4730-AC87-88CB37A90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89648B1-3911-4AC2-8E3A-DF4A70CC86E7}" type="datetimeFigureOut">
              <a:t>8/18/26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5EEBFB-0E0D-4A31-B75F-ADBCBDA96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5B31F4-FE60-42C4-9A81-8B1349252C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853D388-5704-4C64-A883-D899E857066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793F80-25D0-4F53-9EEB-AC07B6EB5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188DC6-93BF-4CAB-8617-A8D0D256DBA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24F186-9223-4FE7-8877-ED283BA486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D58528-3E8D-4787-A385-E7650C44C6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2AAA9A3-945F-42AF-BCAE-8459AEA58868}" type="datetimeFigureOut">
              <a:t>8/18/26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FAF3B0-98E8-457F-9EEE-0AA642AA38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AAB078-C651-43C1-ABDE-B004DB687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E74E2F5-7E8D-47B8-82FB-3832A72B6BD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23FEDF-D22B-4F18-95C3-3750A381B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B173C3-7A0A-400D-990B-6A7076E12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80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20F063-1A58-4799-940E-B380B1511A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8FF8105-8845-4543-9ED8-9E57E8E42CB7}" type="datetimeFigureOut">
              <a:t>8/18/26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CCAE05-6D8C-46BE-B732-D23C35A496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D395A6-E16E-42D5-B9DD-C0D5A0B762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8FF8E4D-CDF4-4B1F-BD52-35BFB528DB8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3506FD1-FBCA-4999-99C9-E9C8D5036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1556792"/>
            <a:ext cx="2057400" cy="4569371"/>
          </a:xfrm>
        </p:spPr>
        <p:txBody>
          <a:bodyPr xmlns:a="http://schemas.openxmlformats.org/drawingml/2006/main" vert="eaVert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393081-5C60-4CC8-BADB-7915E70C75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56792"/>
            <a:ext cx="6019800" cy="4569371"/>
          </a:xfrm>
        </p:spPr>
        <p:txBody>
          <a:bodyPr xmlns:a="http://schemas.openxmlformats.org/drawingml/2006/main" vert="eaVert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0B651E-3BBA-448E-8684-6A54E315D1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8976883-B614-42E6-9595-363FA777B038}" type="datetimeFigureOut">
              <a:t>8/18/26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AE5773-F547-4217-833F-5E6BF33C03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1E6A73-826A-4CAF-8C9C-41DF960F57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86915344-E335-44E9-ACDC-CB482645048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AF81B8A5-9497-4184-99C9-1802DBB46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93367"/>
            <a:ext cx="8520600" cy="83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F9267481-1A31-455E-8D08-A2224AEAD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536633"/>
            <a:ext cx="85206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16">
            <a:extLst xmlns:a="http://schemas.openxmlformats.org/drawingml/2006/main">
              <a:ext uri="{FF2B5EF4-FFF2-40B4-BE49-F238E27FC236}">
                <a16:creationId xmlns:a16="http://schemas.microsoft.com/office/drawing/2014/main" id="{5BF9802C-A8BF-485B-AF03-5F7C0863EF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97999" y="6251679"/>
            <a:ext cx="548700" cy="52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70a0aee5630a4e44" /><Relationship Type="http://schemas.openxmlformats.org/officeDocument/2006/relationships/theme" Target="/ppt/slideMasters/theme/theme2.xml" Id="R434c842519ac4f41" /><Relationship Type="http://schemas.openxmlformats.org/officeDocument/2006/relationships/slideLayout" Target="/ppt/slideLayouts/slideLayout1.xml" Id="R14dec2b595b94f97" /><Relationship Type="http://schemas.openxmlformats.org/officeDocument/2006/relationships/slideLayout" Target="/ppt/slideLayouts/slideLayout2.xml" Id="R0dfe35db45b148aa" /><Relationship Type="http://schemas.openxmlformats.org/officeDocument/2006/relationships/slideLayout" Target="/ppt/slideLayouts/slideLayout3.xml" Id="Rc623d1494b0c4899" /><Relationship Type="http://schemas.openxmlformats.org/officeDocument/2006/relationships/slideLayout" Target="/ppt/slideLayouts/slideLayout4.xml" Id="R78efa20845f84042" /><Relationship Type="http://schemas.openxmlformats.org/officeDocument/2006/relationships/slideLayout" Target="/ppt/slideLayouts/slideLayout5.xml" Id="Rf3b2ab4784194d46" /><Relationship Type="http://schemas.openxmlformats.org/officeDocument/2006/relationships/slideLayout" Target="/ppt/slideLayouts/slideLayout6.xml" Id="R385dac34038548f9" /><Relationship Type="http://schemas.openxmlformats.org/officeDocument/2006/relationships/slideLayout" Target="/ppt/slideLayouts/slideLayout7.xml" Id="R7d3f8499c2c34301" /><Relationship Type="http://schemas.openxmlformats.org/officeDocument/2006/relationships/slideLayout" Target="/ppt/slideLayouts/slideLayout8.xml" Id="Rea744cf3020b4577" /><Relationship Type="http://schemas.openxmlformats.org/officeDocument/2006/relationships/slideLayout" Target="/ppt/slideLayouts/slideLayout9.xml" Id="R4a9c4fe263e54f64" /><Relationship Type="http://schemas.openxmlformats.org/officeDocument/2006/relationships/slideLayout" Target="/ppt/slideLayouts/slideLayout10.xml" Id="R02d6178719d04279" /><Relationship Type="http://schemas.openxmlformats.org/officeDocument/2006/relationships/slideLayout" Target="/ppt/slideLayouts/slideLayout11.xml" Id="R0c91de16015440ef" /><Relationship Type="http://schemas.openxmlformats.org/officeDocument/2006/relationships/slideLayout" Target="/ppt/slideLayouts/slideLayout12.xml" Id="R7fb92738530e4c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BD9AC02-078D-4651-9666-5A60B26F6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7544" y="1268760"/>
            <a:ext cx="5842992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8CB207-34A6-4E6F-B65B-121C69D382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492896"/>
            <a:ext cx="8229600" cy="363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ADC905-8DC0-48C3-A9AF-49EA185AFA8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456A7D1D-6254-4063-974C-6A2AE04E4B91}" type="datetimeFigureOut">
              <a:t>8/18/26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37774E-AE3C-4ED6-AC8B-462B347783A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880ACA-F7FD-4880-9DAF-D963E031B20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26878614-5F41-4702-8E44-D9C8B2874F5D}" type="slidenum">
              <a:t>‹#›</a:t>
            </a:fld>
            <a:endParaRPr/>
          </a:p>
        </p:txBody>
      </p:sp>
      <p:pic>
        <p:nvPicPr>
          <p:cNvPr id="103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0aee5630a4e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dec2b595b94f97"/>
    <p:sldLayoutId xmlns:r="http://schemas.openxmlformats.org/officeDocument/2006/relationships" id="2147483650" r:id="R0dfe35db45b148aa"/>
    <p:sldLayoutId xmlns:r="http://schemas.openxmlformats.org/officeDocument/2006/relationships" id="2147483651" r:id="Rc623d1494b0c4899"/>
    <p:sldLayoutId xmlns:r="http://schemas.openxmlformats.org/officeDocument/2006/relationships" id="2147483652" r:id="R78efa20845f84042"/>
    <p:sldLayoutId xmlns:r="http://schemas.openxmlformats.org/officeDocument/2006/relationships" id="2147483653" r:id="Rf3b2ab4784194d46"/>
    <p:sldLayoutId xmlns:r="http://schemas.openxmlformats.org/officeDocument/2006/relationships" id="2147483654" r:id="R385dac34038548f9"/>
    <p:sldLayoutId xmlns:r="http://schemas.openxmlformats.org/officeDocument/2006/relationships" id="2147483655" r:id="R7d3f8499c2c34301"/>
    <p:sldLayoutId xmlns:r="http://schemas.openxmlformats.org/officeDocument/2006/relationships" id="2147483656" r:id="Rea744cf3020b4577"/>
    <p:sldLayoutId xmlns:r="http://schemas.openxmlformats.org/officeDocument/2006/relationships" id="2147483657" r:id="R4a9c4fe263e54f64"/>
    <p:sldLayoutId xmlns:r="http://schemas.openxmlformats.org/officeDocument/2006/relationships" id="2147483658" r:id="R02d6178719d04279"/>
    <p:sldLayoutId xmlns:r="http://schemas.openxmlformats.org/officeDocument/2006/relationships" id="2147483659" r:id="R0c91de16015440ef"/>
    <p:sldLayoutId xmlns:r="http://schemas.openxmlformats.org/officeDocument/2006/relationships" id="2147483660" r:id="R7fb92738530e4cf0"/>
  </p:sldLayoutIdLst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3200" b="1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53f311f01405d" /><Relationship Type="http://schemas.openxmlformats.org/officeDocument/2006/relationships/image" Target="/ppt/media/image.emf" Id="R76249881bf4d42f6" /><Relationship Type="http://schemas.openxmlformats.org/officeDocument/2006/relationships/notesSlide" Target="/ppt/notesSlides/notesSlide1.xml" Id="Ra7e5fa78ec7b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333de7139044dd" /><Relationship Type="http://schemas.openxmlformats.org/officeDocument/2006/relationships/notesSlide" Target="/ppt/notesSlides/notesSlide2.xml" Id="R851bee7e8bd94d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86ee6b03494876" /><Relationship Type="http://schemas.openxmlformats.org/officeDocument/2006/relationships/image" Target="/ppt/media/image.png" Id="Rcaf04512c6274a3f" /><Relationship Type="http://schemas.openxmlformats.org/officeDocument/2006/relationships/notesSlide" Target="/ppt/notesSlides/notesSlide3.xml" Id="Rd1aae3b57085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38caa5c246e0" /><Relationship Type="http://schemas.openxmlformats.org/officeDocument/2006/relationships/image" Target="/ppt/media/image.emf" Id="R3f7e8a4d6b50497f" /><Relationship Type="http://schemas.openxmlformats.org/officeDocument/2006/relationships/notesSlide" Target="/ppt/notesSlides/notesSlide4.xml" Id="R1e57d36feada4a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4030925bb74f68" /><Relationship Type="http://schemas.openxmlformats.org/officeDocument/2006/relationships/image" Target="/ppt/media/image2.png" Id="Rfeb06d101fc64f2f" /><Relationship Type="http://schemas.openxmlformats.org/officeDocument/2006/relationships/notesSlide" Target="/ppt/notesSlides/notesSlide5.xml" Id="R1ebf89e1213d4f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6c749745884342" /><Relationship Type="http://schemas.openxmlformats.org/officeDocument/2006/relationships/image" Target="/ppt/media/image3.png" Id="R05df46971f4c40f8" /><Relationship Type="http://schemas.openxmlformats.org/officeDocument/2006/relationships/notesSlide" Target="/ppt/notesSlides/notesSlide6.xml" Id="R19038efadd8e44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5c115c8d234031" /><Relationship Type="http://schemas.openxmlformats.org/officeDocument/2006/relationships/image" Target="/ppt/media/image4.png" Id="Rb9971b128f6d4514" /><Relationship Type="http://schemas.openxmlformats.org/officeDocument/2006/relationships/notesSlide" Target="/ppt/notesSlides/notesSlide7.xml" Id="R280a060899a540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d8047a92ea4b11" /><Relationship Type="http://schemas.openxmlformats.org/officeDocument/2006/relationships/image" Target="/ppt/media/image5.png" Id="Rb092d917114a4555" /><Relationship Type="http://schemas.openxmlformats.org/officeDocument/2006/relationships/notesSlide" Target="/ppt/notesSlides/notesSlide8.xml" Id="R0c25cd99f8c04e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8b6287bd894bbb" /><Relationship Type="http://schemas.openxmlformats.org/officeDocument/2006/relationships/image" Target="/ppt/media/image6.png" Id="R817a918287b84dab" /><Relationship Type="http://schemas.openxmlformats.org/officeDocument/2006/relationships/notesSlide" Target="/ppt/notesSlides/notesSlide9.xml" Id="R547f83d272aa43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b7003257934dd4" /><Relationship Type="http://schemas.openxmlformats.org/officeDocument/2006/relationships/image" Target="/ppt/media/image7.png" Id="R43e589c7b17d489d" /><Relationship Type="http://schemas.openxmlformats.org/officeDocument/2006/relationships/notesSlide" Target="/ppt/notesSlides/notesSlide10.xml" Id="R3a2a88a02ae64f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4baab6331f435f" /><Relationship Type="http://schemas.openxmlformats.org/officeDocument/2006/relationships/image" Target="/ppt/media/image8.png" Id="R6e88bcf25de04e16" /><Relationship Type="http://schemas.openxmlformats.org/officeDocument/2006/relationships/notesSlide" Target="/ppt/notesSlides/notesSlide11.xml" Id="R3c02196ce4a646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3cd5e335dd94424" /><Relationship Type="http://schemas.openxmlformats.org/officeDocument/2006/relationships/image" Target="/ppt/media/image9.png" Id="R92d52dd8fb744eae" /><Relationship Type="http://schemas.openxmlformats.org/officeDocument/2006/relationships/notesSlide" Target="/ppt/notesSlides/notesSlide12.xml" Id="Rbf4ab897870f42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d65d4e53b4c76" /><Relationship Type="http://schemas.openxmlformats.org/officeDocument/2006/relationships/image" Target="/ppt/media/image.emf" Id="Rce11a02cc8c048e3" /><Relationship Type="http://schemas.openxmlformats.org/officeDocument/2006/relationships/notesSlide" Target="/ppt/notesSlides/notesSlide13.xml" Id="R9dddbdbad38745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40a0cda13dd484d" /><Relationship Type="http://schemas.openxmlformats.org/officeDocument/2006/relationships/image" Target="/ppt/media/image10.png" Id="Rfb7812d5556d4192" /><Relationship Type="http://schemas.openxmlformats.org/officeDocument/2006/relationships/notesSlide" Target="/ppt/notesSlides/notesSlide14.xml" Id="R9081a2754d664b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a9b37691374849" /><Relationship Type="http://schemas.openxmlformats.org/officeDocument/2006/relationships/image" Target="/ppt/media/image11.png" Id="R7da6c31f1a394d6c" /><Relationship Type="http://schemas.openxmlformats.org/officeDocument/2006/relationships/notesSlide" Target="/ppt/notesSlides/notesSlide15.xml" Id="R907a9ab7f2ab46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4d47babb634389" /><Relationship Type="http://schemas.openxmlformats.org/officeDocument/2006/relationships/image" Target="/ppt/media/image12.png" Id="R238607c387c84056" /><Relationship Type="http://schemas.openxmlformats.org/officeDocument/2006/relationships/notesSlide" Target="/ppt/notesSlides/notesSlide16.xml" Id="Rce06343dbbe04c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b935bbfc224388" /><Relationship Type="http://schemas.openxmlformats.org/officeDocument/2006/relationships/image" Target="/ppt/media/image13.png" Id="Ra714f5b7cfbd40f8" /><Relationship Type="http://schemas.openxmlformats.org/officeDocument/2006/relationships/notesSlide" Target="/ppt/notesSlides/notesSlide17.xml" Id="Ra7401d59a99a41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44121ee96048a8" /><Relationship Type="http://schemas.openxmlformats.org/officeDocument/2006/relationships/image" Target="/ppt/media/image14.png" Id="R7286a044eadd4700" /><Relationship Type="http://schemas.openxmlformats.org/officeDocument/2006/relationships/notesSlide" Target="/ppt/notesSlides/notesSlide18.xml" Id="R74c58cece5aa4a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2314ee784ef5" /><Relationship Type="http://schemas.openxmlformats.org/officeDocument/2006/relationships/image" Target="/ppt/media/image.emf" Id="R01fb5bdbf5544c64" /><Relationship Type="http://schemas.openxmlformats.org/officeDocument/2006/relationships/notesSlide" Target="/ppt/notesSlides/notesSlide19.xml" Id="R5262d7c89bd24cc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72db186a634171" /><Relationship Type="http://schemas.openxmlformats.org/officeDocument/2006/relationships/image" Target="/ppt/media/image15.png" Id="R5aca1858053b46a5" /><Relationship Type="http://schemas.openxmlformats.org/officeDocument/2006/relationships/notesSlide" Target="/ppt/notesSlides/notesSlide20.xml" Id="R6660b6591d6443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2245c8ec2b4ba1" /><Relationship Type="http://schemas.openxmlformats.org/officeDocument/2006/relationships/image" Target="/ppt/media/image16.png" Id="R43c8bf53df8a4435" /><Relationship Type="http://schemas.openxmlformats.org/officeDocument/2006/relationships/notesSlide" Target="/ppt/notesSlides/notesSlide21.xml" Id="R74fe8bab71c747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27417d93f042f4" /><Relationship Type="http://schemas.openxmlformats.org/officeDocument/2006/relationships/image" Target="/ppt/media/image17.png" Id="R491a0e9727a74a37" /><Relationship Type="http://schemas.openxmlformats.org/officeDocument/2006/relationships/notesSlide" Target="/ppt/notesSlides/notesSlide22.xml" Id="Ra9c6728315a64e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8857e03b9c4aaf" /><Relationship Type="http://schemas.openxmlformats.org/officeDocument/2006/relationships/image" Target="/ppt/media/image18.png" Id="R80fa4706b82f4d1f" /><Relationship Type="http://schemas.openxmlformats.org/officeDocument/2006/relationships/notesSlide" Target="/ppt/notesSlides/notesSlide23.xml" Id="R0aa8a8f2352d44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032d6478b6496b" /><Relationship Type="http://schemas.openxmlformats.org/officeDocument/2006/relationships/image" Target="/ppt/media/image19.png" Id="Rd8da0d6285c547bb" /><Relationship Type="http://schemas.openxmlformats.org/officeDocument/2006/relationships/notesSlide" Target="/ppt/notesSlides/notesSlide24.xml" Id="Rc3590535a0ef4e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5f321ec907493c" /><Relationship Type="http://schemas.openxmlformats.org/officeDocument/2006/relationships/image" Target="/ppt/media/image20.png" Id="R1e50d8676357483a" /><Relationship Type="http://schemas.openxmlformats.org/officeDocument/2006/relationships/notesSlide" Target="/ppt/notesSlides/notesSlide25.xml" Id="R9fefc5f99d0249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c609c6c0b4db6" /><Relationship Type="http://schemas.openxmlformats.org/officeDocument/2006/relationships/image" Target="/ppt/media/image.emf" Id="R111fe5f1eb004cd9" /><Relationship Type="http://schemas.openxmlformats.org/officeDocument/2006/relationships/notesSlide" Target="/ppt/notesSlides/notesSlide26.xml" Id="R819ee786283148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418f42a18b459f" /><Relationship Type="http://schemas.openxmlformats.org/officeDocument/2006/relationships/image" Target="/ppt/media/image21.png" Id="R29d9fe4592d049c2" /><Relationship Type="http://schemas.openxmlformats.org/officeDocument/2006/relationships/notesSlide" Target="/ppt/notesSlides/notesSlide27.xml" Id="R952262c59fa240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7a47e21da247dc" /><Relationship Type="http://schemas.openxmlformats.org/officeDocument/2006/relationships/image" Target="/ppt/media/image22.png" Id="R7215575346464394" /><Relationship Type="http://schemas.openxmlformats.org/officeDocument/2006/relationships/notesSlide" Target="/ppt/notesSlides/notesSlide28.xml" Id="Rc18a3ef0e9494f2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d7895306494d95" /><Relationship Type="http://schemas.openxmlformats.org/officeDocument/2006/relationships/image" Target="/ppt/media/image23.png" Id="Rffb8060cc1444fa3" /><Relationship Type="http://schemas.openxmlformats.org/officeDocument/2006/relationships/notesSlide" Target="/ppt/notesSlides/notesSlide29.xml" Id="R054ff248e1374bd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ed85f90e724c85" /><Relationship Type="http://schemas.openxmlformats.org/officeDocument/2006/relationships/image" Target="/ppt/media/image24.png" Id="Rd60d7efc0822473a" /><Relationship Type="http://schemas.openxmlformats.org/officeDocument/2006/relationships/notesSlide" Target="/ppt/notesSlides/notesSlide30.xml" Id="Rf2ae5c3223fe48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5fe039370742cf" /><Relationship Type="http://schemas.openxmlformats.org/officeDocument/2006/relationships/image" Target="/ppt/media/image25.png" Id="Rce6180dba6944f5b" /><Relationship Type="http://schemas.openxmlformats.org/officeDocument/2006/relationships/notesSlide" Target="/ppt/notesSlides/notesSlide31.xml" Id="Re537b8bd2c6d430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e8e2ecaa0d446b" /><Relationship Type="http://schemas.openxmlformats.org/officeDocument/2006/relationships/image" Target="/ppt/media/image26.png" Id="R1d08779bffae4f8e" /><Relationship Type="http://schemas.openxmlformats.org/officeDocument/2006/relationships/notesSlide" Target="/ppt/notesSlides/notesSlide32.xml" Id="R1c9d804e79424f5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a16aaeceed4892" /><Relationship Type="http://schemas.openxmlformats.org/officeDocument/2006/relationships/image" Target="/ppt/media/image27.png" Id="Rc1117513e7e54c21" /><Relationship Type="http://schemas.openxmlformats.org/officeDocument/2006/relationships/notesSlide" Target="/ppt/notesSlides/notesSlide33.xml" Id="R1f85df67bd9a47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efc95624f46a8" /><Relationship Type="http://schemas.openxmlformats.org/officeDocument/2006/relationships/image" Target="/ppt/media/image.emf" Id="Re27e4a1d9ebd4dca" /><Relationship Type="http://schemas.openxmlformats.org/officeDocument/2006/relationships/notesSlide" Target="/ppt/notesSlides/notesSlide34.xml" Id="Re36c8b50578443f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88a7385f7247e8" /><Relationship Type="http://schemas.openxmlformats.org/officeDocument/2006/relationships/image" Target="/ppt/media/image28.png" Id="Rc4de9f564ced49d7" /><Relationship Type="http://schemas.openxmlformats.org/officeDocument/2006/relationships/notesSlide" Target="/ppt/notesSlides/notesSlide35.xml" Id="R081c45aaad4c44a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e626a2322a4d5b" /><Relationship Type="http://schemas.openxmlformats.org/officeDocument/2006/relationships/image" Target="/ppt/media/image29.png" Id="Ra3b83ad198714408" /><Relationship Type="http://schemas.openxmlformats.org/officeDocument/2006/relationships/notesSlide" Target="/ppt/notesSlides/notesSlide36.xml" Id="Rb8cbdff77e2643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f243864f4342eb" /><Relationship Type="http://schemas.openxmlformats.org/officeDocument/2006/relationships/image" Target="/ppt/media/image30.png" Id="R9a0010278d6b4ed1" /><Relationship Type="http://schemas.openxmlformats.org/officeDocument/2006/relationships/notesSlide" Target="/ppt/notesSlides/notesSlide37.xml" Id="Re7bb39d47a12428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e05019db74404a" /><Relationship Type="http://schemas.openxmlformats.org/officeDocument/2006/relationships/image" Target="/ppt/media/image31.png" Id="R1ade65fc6909400d" /><Relationship Type="http://schemas.openxmlformats.org/officeDocument/2006/relationships/notesSlide" Target="/ppt/notesSlides/notesSlide38.xml" Id="R98124bcf43dd4d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1c97c324d43f0" /><Relationship Type="http://schemas.openxmlformats.org/officeDocument/2006/relationships/image" Target="/ppt/media/image.jpeg" Id="R9e2a822a36b144a5" /><Relationship Type="http://schemas.openxmlformats.org/officeDocument/2006/relationships/notesSlide" Target="/ppt/notesSlides/notesSlide39.xml" Id="R47b2ea2714c142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2e09600140404f" /><Relationship Type="http://schemas.openxmlformats.org/officeDocument/2006/relationships/chart" Target="/ppt/slides/charts/chart1.xml" Id="R3307973568af4247" /><Relationship Type="http://schemas.openxmlformats.org/officeDocument/2006/relationships/chart" Target="/ppt/slides/charts/chart2.xml" Id="R3c4ed1d33feb4237" /><Relationship Type="http://schemas.openxmlformats.org/officeDocument/2006/relationships/notesSlide" Target="/ppt/notesSlides/notesSlide40.xml" Id="R5d3f61b01bc4496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1e84cba11a848a9" /><Relationship Type="http://schemas.openxmlformats.org/officeDocument/2006/relationships/image" Target="/ppt/media/image32.png" Id="R9ca3fa2725fc4f04" /><Relationship Type="http://schemas.openxmlformats.org/officeDocument/2006/relationships/notesSlide" Target="/ppt/notesSlides/notesSlide41.xml" Id="R8c1bc61bc9434e2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26c44c86a24ab6" /><Relationship Type="http://schemas.openxmlformats.org/officeDocument/2006/relationships/image" Target="/ppt/media/image33.png" Id="R70edd806700340d5" /><Relationship Type="http://schemas.openxmlformats.org/officeDocument/2006/relationships/notesSlide" Target="/ppt/notesSlides/notesSlide42.xml" Id="R721b7314ff58498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feabf88cc6445a8" /><Relationship Type="http://schemas.openxmlformats.org/officeDocument/2006/relationships/image" Target="/ppt/media/image33.png" Id="R5f5c965ce38341fb" /><Relationship Type="http://schemas.openxmlformats.org/officeDocument/2006/relationships/notesSlide" Target="/ppt/notesSlides/notesSlide43.xml" Id="R547d7dae14a0463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ffe1825e9a4852" /><Relationship Type="http://schemas.openxmlformats.org/officeDocument/2006/relationships/chart" Target="/ppt/slides/charts/chart3.xml" Id="R18212afbb0d443a9" /><Relationship Type="http://schemas.openxmlformats.org/officeDocument/2006/relationships/chart" Target="/ppt/slides/charts/chart4.xml" Id="R625bd3049a25421f" /><Relationship Type="http://schemas.openxmlformats.org/officeDocument/2006/relationships/notesSlide" Target="/ppt/notesSlides/notesSlide44.xml" Id="R2cd34f2c243248c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e737d5ae654726" /><Relationship Type="http://schemas.openxmlformats.org/officeDocument/2006/relationships/image" Target="/ppt/media/image34.png" Id="R532d454b1ca240e6" /><Relationship Type="http://schemas.openxmlformats.org/officeDocument/2006/relationships/notesSlide" Target="/ppt/notesSlides/notesSlide45.xml" Id="R02d862eeff62407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90255e7804c18" /><Relationship Type="http://schemas.openxmlformats.org/officeDocument/2006/relationships/image" Target="/ppt/media/image.emf" Id="Rcd26b4edfa9344db" /><Relationship Type="http://schemas.openxmlformats.org/officeDocument/2006/relationships/notesSlide" Target="/ppt/notesSlides/notesSlide46.xml" Id="Re2c577dd610e4dd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6ada326f545ff" /><Relationship Type="http://schemas.openxmlformats.org/officeDocument/2006/relationships/image" Target="/ppt/media/image35.png" Id="Ra4165e5243b44915" /><Relationship Type="http://schemas.openxmlformats.org/officeDocument/2006/relationships/notesSlide" Target="/ppt/notesSlides/notesSlide47.xml" Id="Re74a833f4ea04c2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6aa0ea8f014d4e" /><Relationship Type="http://schemas.openxmlformats.org/officeDocument/2006/relationships/image" Target="/ppt/media/image36.png" Id="Rc5be837288924446" /><Relationship Type="http://schemas.openxmlformats.org/officeDocument/2006/relationships/notesSlide" Target="/ppt/notesSlides/notesSlide48.xml" Id="R04485febf9da466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c124dfecd74cc1" /><Relationship Type="http://schemas.openxmlformats.org/officeDocument/2006/relationships/image" Target="/ppt/media/image37.png" Id="R528ce3678fa04d19" /><Relationship Type="http://schemas.openxmlformats.org/officeDocument/2006/relationships/notesSlide" Target="/ppt/notesSlides/notesSlide49.xml" Id="R136c7b59a2de4a0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5a774c646d45a9" /><Relationship Type="http://schemas.openxmlformats.org/officeDocument/2006/relationships/image" Target="/ppt/media/image38.png" Id="R356d46438a734145" /><Relationship Type="http://schemas.openxmlformats.org/officeDocument/2006/relationships/notesSlide" Target="/ppt/notesSlides/notesSlide50.xml" Id="Re2cdc58c005645b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02788572994bd4" /><Relationship Type="http://schemas.openxmlformats.org/officeDocument/2006/relationships/image" Target="/ppt/media/image39.png" Id="R8f4596c15ca7450e" /><Relationship Type="http://schemas.openxmlformats.org/officeDocument/2006/relationships/notesSlide" Target="/ppt/notesSlides/notesSlide51.xml" Id="R53ba59f3cbf84e9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56f2aff0714d31" /><Relationship Type="http://schemas.openxmlformats.org/officeDocument/2006/relationships/image" Target="/ppt/media/image40.png" Id="R27818983b22248d6" /><Relationship Type="http://schemas.openxmlformats.org/officeDocument/2006/relationships/notesSlide" Target="/ppt/notesSlides/notesSlide52.xml" Id="R9431c42c93be436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ffe6aeb1be4273" /><Relationship Type="http://schemas.openxmlformats.org/officeDocument/2006/relationships/notesSlide" Target="/ppt/notesSlides/notesSlide53.xml" Id="R80e2862135574a1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19f610234e45fb" /><Relationship Type="http://schemas.openxmlformats.org/officeDocument/2006/relationships/image" Target="/ppt/media/image41.png" Id="R5b9922ab2c884f49" /><Relationship Type="http://schemas.openxmlformats.org/officeDocument/2006/relationships/notesSlide" Target="/ppt/notesSlides/notesSlide54.xml" Id="Rccfe4fdecac3421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2c5c7312f4917" /><Relationship Type="http://schemas.openxmlformats.org/officeDocument/2006/relationships/image" Target="/ppt/media/image42.png" Id="Red9fbfb5b665479d" /><Relationship Type="http://schemas.openxmlformats.org/officeDocument/2006/relationships/image" Target="/ppt/media/image43.png" Id="R028c8dc94789428a" /><Relationship Type="http://schemas.openxmlformats.org/officeDocument/2006/relationships/notesSlide" Target="/ppt/notesSlides/notesSlide55.xml" Id="Ra47d445a30944a0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e208609e44e8e" /><Relationship Type="http://schemas.openxmlformats.org/officeDocument/2006/relationships/image" Target="/ppt/media/image44.png" Id="R9bfb6c09370741ec" /><Relationship Type="http://schemas.openxmlformats.org/officeDocument/2006/relationships/image" Target="/ppt/media/image45.png" Id="R45281361b6444069" /><Relationship Type="http://schemas.openxmlformats.org/officeDocument/2006/relationships/image" Target="/ppt/media/image46.png" Id="Rdb4a45fdcf02407c" /><Relationship Type="http://schemas.openxmlformats.org/officeDocument/2006/relationships/notesSlide" Target="/ppt/notesSlides/notesSlide56.xml" Id="R4062834b21ee421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12b378f3a4bec" /><Relationship Type="http://schemas.openxmlformats.org/officeDocument/2006/relationships/image" Target="/ppt/media/image.emf" Id="R3061b82e45ac4f86" /><Relationship Type="http://schemas.openxmlformats.org/officeDocument/2006/relationships/notesSlide" Target="/ppt/notesSlides/notesSlide57.xml" Id="R680027a85abe46e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b21beee7748d2" /><Relationship Type="http://schemas.openxmlformats.org/officeDocument/2006/relationships/image" Target="/ppt/media/image47.png" Id="R712a0a30d80c4aaf" /><Relationship Type="http://schemas.openxmlformats.org/officeDocument/2006/relationships/notesSlide" Target="/ppt/notesSlides/notesSlide58.xml" Id="R1043ef660082449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fd3e7e669c43b7" /><Relationship Type="http://schemas.openxmlformats.org/officeDocument/2006/relationships/image" Target="/ppt/media/image48.png" Id="R2665a4f728de4854" /><Relationship Type="http://schemas.openxmlformats.org/officeDocument/2006/relationships/notesSlide" Target="/ppt/notesSlides/notesSlide59.xml" Id="R020e3ee7badb436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d6731d74594c17" /><Relationship Type="http://schemas.openxmlformats.org/officeDocument/2006/relationships/image" Target="/ppt/media/image49.png" Id="R1e54ec78dbd04e69" /><Relationship Type="http://schemas.openxmlformats.org/officeDocument/2006/relationships/notesSlide" Target="/ppt/notesSlides/notesSlide60.xml" Id="Rc5b86ccf58e64c5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0853cffa824622" /><Relationship Type="http://schemas.openxmlformats.org/officeDocument/2006/relationships/image" Target="/ppt/media/image50.png" Id="Rde5cbdd2c14d42df" /><Relationship Type="http://schemas.openxmlformats.org/officeDocument/2006/relationships/notesSlide" Target="/ppt/notesSlides/notesSlide61.xml" Id="R3802e7a205e3492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7f2f10dcf4201" /><Relationship Type="http://schemas.openxmlformats.org/officeDocument/2006/relationships/image" Target="/ppt/media/image2.jpeg" Id="R188b34b8d42a4f84" /><Relationship Type="http://schemas.openxmlformats.org/officeDocument/2006/relationships/notesSlide" Target="/ppt/notesSlides/notesSlide62.xml" Id="Ra331256d7db747e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c111ff7584c56" /><Relationship Type="http://schemas.openxmlformats.org/officeDocument/2006/relationships/image" Target="/ppt/media/image51.png" Id="R928dd8373aa642f9" /><Relationship Type="http://schemas.openxmlformats.org/officeDocument/2006/relationships/notesSlide" Target="/ppt/notesSlides/notesSlide63.xml" Id="R04fbdce678a44b1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893a565bc4ba4" /><Relationship Type="http://schemas.openxmlformats.org/officeDocument/2006/relationships/image" Target="/ppt/media/image.emf" Id="Re0e74a868ce843a3" /><Relationship Type="http://schemas.openxmlformats.org/officeDocument/2006/relationships/notesSlide" Target="/ppt/notesSlides/notesSlide64.xml" Id="Ra106f658ccee4ea9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history</c:v>
          </c:tx>
          <c:spPr>
            <a:ln xmlns:a="http://schemas.openxmlformats.org/drawingml/2006/main" w="20955">
              <a:solidFill>
                <a:srgbClr val="252525"/>
              </a:solidFill>
              <a:prstDash val="solid"/>
            </a:ln>
          </c:spPr>
          <c:marker>
            <c:symbol val="none"/>
          </c:marker>
          <c:cat>
            <c:strLit>
              <c:ptCount val="0"/>
            </c:strLit>
          </c:cat>
          <c:val>
            <c:numLit>
              <c:formatCode>General</c:formatCode>
              <c:ptCount val="80"/>
              <c:pt idx="0">
                <c:v>0</c:v>
              </c:pt>
              <c:pt idx="1">
                <c:v>0.4187332341160378</c:v>
              </c:pt>
              <c:pt idx="2">
                <c:v>0.7546242397776732</c:v>
              </c:pt>
              <c:pt idx="3">
                <c:v>0.9514248891150879</c:v>
              </c:pt>
              <c:pt idx="4">
                <c:v>0.996641128315999</c:v>
              </c:pt>
              <c:pt idx="5">
                <c:v>0.9232199848427884</c:v>
              </c:pt>
              <c:pt idx="6">
                <c:v>0.7952910195973695</c:v>
              </c:pt>
              <c:pt idx="7">
                <c:v>0.6832197981328723</c:v>
              </c:pt>
              <c:pt idx="8">
                <c:v>0.637059172561034</c:v>
              </c:pt>
              <c:pt idx="9">
                <c:v>0.6680308853138233</c:v>
              </c:pt>
              <c:pt idx="10">
                <c:v>0.7447395273243566</c:v>
              </c:pt>
              <c:pt idx="11">
                <c:v>0.805471876360513</c:v>
              </c:pt>
              <c:pt idx="12">
                <c:v>0.7820982007532639</c:v>
              </c:pt>
              <c:pt idx="13">
                <c:v>0.6268751241296802</c:v>
              </c:pt>
              <c:pt idx="14">
                <c:v>0.33237474095891784</c:v>
              </c:pt>
              <c:pt idx="15">
                <c:v>-0.06277906220347676</c:v>
              </c:pt>
              <c:pt idx="16">
                <c:v>-0.4845835588116916</c:v>
              </c:pt>
              <c:pt idx="17">
                <c:v>-0.8470467241973351</c:v>
              </c:pt>
              <c:pt idx="18">
                <c:v>-1.0800159139714984</c:v>
              </c:pt>
              <c:pt idx="19">
                <c:v>-1.1515614897234974</c:v>
              </c:pt>
              <c:pt idx="20">
                <c:v>-1.0769823226724062</c:v>
              </c:pt>
              <c:pt idx="21">
                <c:v>-0.9113059284332259</c:v>
              </c:pt>
              <c:pt idx="22">
                <c:v>-0.7280839825112893</c:v>
              </c:pt>
              <c:pt idx="23">
                <c:v>-0.5921971166229931</c:v>
              </c:pt>
              <c:pt idx="24">
                <c:v>-0.5365104614678731</c:v>
              </c:pt>
              <c:pt idx="25">
                <c:v>-0.5507975665686031</c:v>
              </c:pt>
              <c:pt idx="26">
                <c:v>-0.586890355396674</c:v>
              </c:pt>
              <c:pt idx="27">
                <c:v>-0.5781270676257917</c:v>
              </c:pt>
              <c:pt idx="28">
                <c:v>-0.4659832841089355</c:v>
              </c:pt>
              <c:pt idx="29">
                <c:v>-0.22415546647164908</c:v>
              </c:pt>
              <c:pt idx="30">
                <c:v>0.12873335714402181</c:v>
              </c:pt>
              <c:pt idx="31">
                <c:v>0.5325438703651656</c:v>
              </c:pt>
              <c:pt idx="32">
                <c:v>0.9040760301473317</c:v>
              </c:pt>
              <c:pt idx="33">
                <c:v>1.164068953844708</c:v>
              </c:pt>
              <c:pt idx="34">
                <c:v>1.2631512965050333</c:v>
              </c:pt>
              <c:pt idx="35">
                <c:v>1.1975089439452016</c:v>
              </c:pt>
              <c:pt idx="36">
                <c:v>1.008721817518686</c:v>
              </c:pt>
              <c:pt idx="37">
                <c:v>0.7679028415294273</c:v>
              </c:pt>
              <c:pt idx="38">
                <c:v>0.5499018111501219</c:v>
              </c:pt>
              <c:pt idx="39">
                <c:v>0.4068859378579818</c:v>
              </c:pt>
              <c:pt idx="40">
                <c:v>0.3507987557594532</c:v>
              </c:pt>
              <c:pt idx="41">
                <c:v>0.3509630294942391</c:v>
              </c:pt>
              <c:pt idx="42">
                <c:v>0.3476001849700695</c:v>
              </c:pt>
              <c:pt idx="43">
                <c:v>0.2762714538864277</c:v>
              </c:pt>
              <c:pt idx="44">
                <c:v>0.09428594264282308</c:v>
              </c:pt>
              <c:pt idx="45">
                <c:v>-0.20060242659466715</c:v>
              </c:pt>
              <c:pt idx="46">
                <c:v>-0.5661121518823119</c:v>
              </c:pt>
              <c:pt idx="47">
                <c:v>-0.9275959894728054</c:v>
              </c:pt>
              <c:pt idx="48">
                <c:v>-1.2022094890517239</c:v>
              </c:pt>
              <c:pt idx="49">
                <c:v>-1.3265014422662398</c:v>
              </c:pt>
              <c:pt idx="50">
                <c:v>-1.2775847403607532</c:v>
              </c:pt>
              <c:pt idx="51">
                <c:v>-1.0803339603948883</c:v>
              </c:pt>
              <c:pt idx="52">
                <c:v>-0.7980644775979437</c:v>
              </c:pt>
              <c:pt idx="53">
                <c:v>-0.5100719858644975</c:v>
              </c:pt>
              <c:pt idx="54">
                <c:v>-0.2841158068243797</c:v>
              </c:pt>
              <c:pt idx="55">
                <c:v>-0.15371903648608004</c:v>
              </c:pt>
              <c:pt idx="56">
                <c:v>-0.10838952170200306</c:v>
              </c:pt>
              <c:pt idx="57">
                <c:v>-0.1001775059104031</c:v>
              </c:pt>
              <c:pt idx="58">
                <c:v>-0.0640708985186203</c:v>
              </c:pt>
              <c:pt idx="59">
                <c:v>0.05527790322558729</c:v>
              </c:pt>
              <c:pt idx="60">
                <c:v>0.28029206428032155</c:v>
              </c:pt>
              <c:pt idx="61">
                <c:v>0.5892260667255884</c:v>
              </c:pt>
              <c:pt idx="62">
                <c:v>0.9211451544394154</c:v>
              </c:pt>
              <c:pt idx="63">
                <c:v>1.1954704335533273</c:v>
              </c:pt>
              <c:pt idx="64">
                <c:v>1.33915697951662</c:v>
              </c:pt>
              <c:pt idx="65">
                <c:v>1.3117926637700354</c:v>
              </c:pt>
              <c:pt idx="66">
                <c:v>1.1196246506968215</c:v>
              </c:pt>
              <c:pt idx="67">
                <c:v>0.8134806799317827</c:v>
              </c:pt>
              <c:pt idx="68">
                <c:v>0.47132651627243294</c:v>
              </c:pt>
              <c:pt idx="69">
                <c:v>0.17170820294660322</c:v>
              </c:pt>
              <c:pt idx="70">
                <c:v>-0.03241682923749584</c:v>
              </c:pt>
              <c:pt idx="71">
                <c:v>-0.13012484077685438</c:v>
              </c:pt>
              <c:pt idx="72">
                <c:v>-0.1534433202410579</c:v>
              </c:pt>
              <c:pt idx="73">
                <c:v>-0.1625557293017882</c:v>
              </c:pt>
              <c:pt idx="74">
                <c:v>-0.22078648326866657</c:v>
              </c:pt>
              <c:pt idx="75">
                <c:v>-0.36854857910888406</c:v>
              </c:pt>
              <c:pt idx="76">
                <c:v>-0.6058058515933056</c:v>
              </c:pt>
              <c:pt idx="77">
                <c:v>-0.8895185080789824</c:v>
              </c:pt>
              <c:pt idx="78">
                <c:v>-1.147117114746154</c:v>
              </c:pt>
              <c:pt idx="79">
                <c:v>-1.3012437652319548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.5"/>
          <c:min val="-1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7620">
      <a:solidFill>
        <a:srgbClr val="D9D9D9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forecast</c:v>
          </c:tx>
          <c:spPr>
            <a:ln xmlns:a="http://schemas.openxmlformats.org/drawingml/2006/main" w="23813">
              <a:solidFill>
                <a:srgbClr val="E07A2D"/>
              </a:solidFill>
              <a:prstDash val="solid"/>
            </a:ln>
          </c:spPr>
          <c:marker>
            <c:symbol val="none"/>
          </c:marker>
          <c:cat>
            <c:strLit>
              <c:ptCount val="0"/>
            </c:strLit>
          </c:cat>
          <c:val>
            <c:numLit>
              <c:formatCode>General</c:formatCode>
              <c:ptCount val="80"/>
              <c:pt idx="0">
                <c:v>1.3117926637700354</c:v>
              </c:pt>
              <c:pt idx="1">
                <c:v>1.1196246506968215</c:v>
              </c:pt>
              <c:pt idx="2">
                <c:v>0.8134806799317827</c:v>
              </c:pt>
              <c:pt idx="3">
                <c:v>0.47132651627243294</c:v>
              </c:pt>
              <c:pt idx="4">
                <c:v>0.17170820294660322</c:v>
              </c:pt>
              <c:pt idx="5">
                <c:v>-0.03241682923749584</c:v>
              </c:pt>
              <c:pt idx="6">
                <c:v>-0.13012484077685438</c:v>
              </c:pt>
              <c:pt idx="7">
                <c:v>-0.1534433202410579</c:v>
              </c:pt>
              <c:pt idx="8">
                <c:v>-0.1625557293017882</c:v>
              </c:pt>
              <c:pt idx="9">
                <c:v>-0.22078648326866657</c:v>
              </c:pt>
              <c:pt idx="10">
                <c:v>-0.36854857910888406</c:v>
              </c:pt>
              <c:pt idx="11">
                <c:v>-0.6058058515933056</c:v>
              </c:pt>
              <c:pt idx="12">
                <c:v>-0.8895185080789824</c:v>
              </c:pt>
              <c:pt idx="13">
                <c:v>-1.147117114746154</c:v>
              </c:pt>
              <c:pt idx="14">
                <c:v>-1.3012437652319548</c:v>
              </c:pt>
              <c:pt idx="15">
                <c:v>-1.2969053642197044</c:v>
              </c:pt>
              <c:pt idx="16">
                <c:v>-1.1212808837347403</c:v>
              </c:pt>
              <c:pt idx="17">
                <c:v>-0.8090394328381486</c:v>
              </c:pt>
              <c:pt idx="18">
                <c:v>-0.4312174629092574</c:v>
              </c:pt>
              <c:pt idx="19">
                <c:v>-0.07160050157780024</c:v>
              </c:pt>
              <c:pt idx="20">
                <c:v>0.2009680271443439</c:v>
              </c:pt>
              <c:pt idx="21">
                <c:v>0.3544845656255477</c:v>
              </c:pt>
              <c:pt idx="22">
                <c:v>0.4021326082620895</c:v>
              </c:pt>
              <c:pt idx="23">
                <c:v>0.3942225406633354</c:v>
              </c:pt>
              <c:pt idx="24">
                <c:v>0.3967907736185761</c:v>
              </c:pt>
              <c:pt idx="25">
                <c:v>0.464734394507647</c:v>
              </c:pt>
              <c:pt idx="26">
                <c:v>0.6193185947467736</c:v>
              </c:pt>
              <c:pt idx="27">
                <c:v>0.8382997521044173</c:v>
              </c:pt>
              <c:pt idx="28">
                <c:v>1.0623331747870004</c:v>
              </c:pt>
              <c:pt idx="29">
                <c:v>1.2154320896604613</c:v>
              </c:pt>
              <c:pt idx="30">
                <c:v>1.232143880769911</c:v>
              </c:pt>
              <c:pt idx="31">
                <c:v>1.0816522084783833</c:v>
              </c:pt>
              <c:pt idx="32">
                <c:v>0.7800875093151185</c:v>
              </c:pt>
              <c:pt idx="33">
                <c:v>0.3865478290040988</c:v>
              </c:pt>
              <c:pt idx="34">
                <c:v>-0.015823366217735335</c:v>
              </c:pt>
              <c:pt idx="35">
                <c:v>-0.3469925287933414</c:v>
              </c:pt>
              <c:pt idx="36">
                <c:v>-0.5557661347366196</c:v>
              </c:pt>
              <c:pt idx="37">
                <c:v>-0.6349658860810443</c:v>
              </c:pt>
              <c:pt idx="38">
                <c:v>-0.6207338743111985</c:v>
              </c:pt>
              <c:pt idx="39">
                <c:v>-0.5763766443515346</c:v>
              </c:pt>
              <c:pt idx="40">
                <c:v>-0.5667260373956121</c:v>
              </c:pt>
              <c:pt idx="41">
                <c:v>-0.6324001366629199</c:v>
              </c:pt>
              <c:pt idx="42">
                <c:v>-0.773361967486434</c:v>
              </c:pt>
              <c:pt idx="43">
                <c:v>-0.9477926903804277</c:v>
              </c:pt>
              <c:pt idx="44">
                <c:v>-1.0867406915654192</c:v>
              </c:pt>
              <c:pt idx="45">
                <c:v>-1.1192835614419447</c:v>
              </c:pt>
              <c:pt idx="46">
                <c:v>-0.9991129147866211</c:v>
              </c:pt>
              <c:pt idx="47">
                <c:v>-0.722904461311438</c:v>
              </c:pt>
              <c:pt idx="48">
                <c:v>-0.33376683780268734</c:v>
              </c:pt>
              <c:pt idx="49">
                <c:v>0.09158325488916531</c:v>
              </c:pt>
              <c:pt idx="50">
                <c:v>0.46742497036929576</c:v>
              </c:pt>
              <c:pt idx="51">
                <c:v>0.7266894578328309</c:v>
              </c:pt>
              <c:pt idx="52">
                <c:v>0.8418498734430773</c:v>
              </c:pt>
              <c:pt idx="53">
                <c:v>0.8316693247489604</c:v>
              </c:pt>
              <c:pt idx="54">
                <c:v>0.7515260829560323</c:v>
              </c:pt>
              <c:pt idx="55">
                <c:v>0.6709459228415378</c:v>
              </c:pt>
              <c:pt idx="56">
                <c:v>0.6465659154995406</c:v>
              </c:pt>
              <c:pt idx="57">
                <c:v>0.7003761259023492</c:v>
              </c:pt>
              <c:pt idx="58">
                <c:v>0.8111515899675259</c:v>
              </c:pt>
              <c:pt idx="59">
                <c:v>0.9221957551650707</c:v>
              </c:pt>
              <c:pt idx="60">
                <c:v>0.9625980764194112</c:v>
              </c:pt>
              <c:pt idx="61">
                <c:v>0.8742991703085146</c:v>
              </c:pt>
              <c:pt idx="62">
                <c:v>0.635129316975068</c:v>
              </c:pt>
              <c:pt idx="63">
                <c:v>0.26940918073151787</c:v>
              </c:pt>
              <c:pt idx="64">
                <c:v>-0.1578364993834679</c:v>
              </c:pt>
              <c:pt idx="65">
                <c:v>-0.5611090568543069</c:v>
              </c:pt>
              <c:pt idx="66">
                <c:v>-0.861968227415645</c:v>
              </c:pt>
              <c:pt idx="67">
                <c:v>-1.0140950732807728</c:v>
              </c:pt>
              <c:pt idx="68">
                <c:v>-1.0170009463068315</c:v>
              </c:pt>
              <c:pt idx="69">
                <c:v>-0.9135821538682316</c:v>
              </c:pt>
              <c:pt idx="70">
                <c:v>-0.7725287432332771</c:v>
              </c:pt>
              <c:pt idx="71">
                <c:v>-0.6620347408121916</c:v>
              </c:pt>
              <c:pt idx="72">
                <c:v>-0.6243656009593993</c:v>
              </c:pt>
              <c:pt idx="73">
                <c:v>-0.6604967229521337</c:v>
              </c:pt>
              <c:pt idx="74">
                <c:v>-0.7303695837666305</c:v>
              </c:pt>
              <c:pt idx="75">
                <c:v>-0.7686437916183126</c:v>
              </c:pt>
              <c:pt idx="76">
                <c:v>-0.7102004312018391</c:v>
              </c:pt>
              <c:pt idx="77">
                <c:v>-0.5161042753374292</c:v>
              </c:pt>
              <c:pt idx="78">
                <c:v>-0.19054095211406918</c:v>
              </c:pt>
              <c:pt idx="79">
                <c:v>0.21751969684169414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.5"/>
          <c:min val="-1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7620">
      <a:solidFill>
        <a:srgbClr val="D9D9D9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62626"/>
                </a:solidFill>
              </a:rPr>
              <a:t>Observed vs one-step prediction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62626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Observed xₜ</c:v>
          </c:tx>
          <c:spPr>
            <a:ln xmlns:a="http://schemas.openxmlformats.org/drawingml/2006/main" w="20955">
              <a:solidFill>
                <a:srgbClr val="26262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  <c:pt idx="31">
                <c:v>32</c:v>
              </c:pt>
              <c:pt idx="32">
                <c:v>33</c:v>
              </c:pt>
              <c:pt idx="33">
                <c:v>34</c:v>
              </c:pt>
              <c:pt idx="34">
                <c:v>35</c:v>
              </c:pt>
              <c:pt idx="35">
                <c:v>36</c:v>
              </c:pt>
              <c:pt idx="36">
                <c:v>37</c:v>
              </c:pt>
              <c:pt idx="37">
                <c:v>38</c:v>
              </c:pt>
              <c:pt idx="38">
                <c:v>39</c:v>
              </c:pt>
              <c:pt idx="39">
                <c:v>40</c:v>
              </c:pt>
              <c:pt idx="40">
                <c:v>41</c:v>
              </c:pt>
              <c:pt idx="41">
                <c:v>42</c:v>
              </c:pt>
              <c:pt idx="42">
                <c:v>43</c:v>
              </c:pt>
              <c:pt idx="43">
                <c:v>44</c:v>
              </c:pt>
              <c:pt idx="44">
                <c:v>45</c:v>
              </c:pt>
              <c:pt idx="45">
                <c:v>46</c:v>
              </c:pt>
              <c:pt idx="46">
                <c:v>47</c:v>
              </c:pt>
              <c:pt idx="47">
                <c:v>48</c:v>
              </c:pt>
              <c:pt idx="48">
                <c:v>49</c:v>
              </c:pt>
              <c:pt idx="49">
                <c:v>50</c:v>
              </c:pt>
              <c:pt idx="50">
                <c:v>51</c:v>
              </c:pt>
              <c:pt idx="51">
                <c:v>52</c:v>
              </c:pt>
              <c:pt idx="52">
                <c:v>53</c:v>
              </c:pt>
              <c:pt idx="53">
                <c:v>54</c:v>
              </c:pt>
              <c:pt idx="54">
                <c:v>55</c:v>
              </c:pt>
              <c:pt idx="55">
                <c:v>56</c:v>
              </c:pt>
              <c:pt idx="56">
                <c:v>57</c:v>
              </c:pt>
              <c:pt idx="57">
                <c:v>58</c:v>
              </c:pt>
              <c:pt idx="58">
                <c:v>59</c:v>
              </c:pt>
              <c:pt idx="59">
                <c:v>60</c:v>
              </c:pt>
              <c:pt idx="60">
                <c:v>61</c:v>
              </c:pt>
              <c:pt idx="61">
                <c:v>62</c:v>
              </c:pt>
              <c:pt idx="62">
                <c:v>63</c:v>
              </c:pt>
              <c:pt idx="63">
                <c:v>64</c:v>
              </c:pt>
              <c:pt idx="64">
                <c:v>65</c:v>
              </c:pt>
              <c:pt idx="65">
                <c:v>66</c:v>
              </c:pt>
              <c:pt idx="66">
                <c:v>67</c:v>
              </c:pt>
              <c:pt idx="67">
                <c:v>68</c:v>
              </c:pt>
              <c:pt idx="68">
                <c:v>69</c:v>
              </c:pt>
              <c:pt idx="69">
                <c:v>70</c:v>
              </c:pt>
              <c:pt idx="70">
                <c:v>71</c:v>
              </c:pt>
              <c:pt idx="71">
                <c:v>72</c:v>
              </c:pt>
              <c:pt idx="72">
                <c:v>73</c:v>
              </c:pt>
              <c:pt idx="73">
                <c:v>74</c:v>
              </c:pt>
              <c:pt idx="74">
                <c:v>75</c:v>
              </c:pt>
              <c:pt idx="75">
                <c:v>76</c:v>
              </c:pt>
              <c:pt idx="76">
                <c:v>77</c:v>
              </c:pt>
              <c:pt idx="77">
                <c:v>78</c:v>
              </c:pt>
              <c:pt idx="78">
                <c:v>79</c:v>
              </c:pt>
              <c:pt idx="79">
                <c:v>80</c:v>
              </c:pt>
              <c:pt idx="80">
                <c:v>81</c:v>
              </c:pt>
              <c:pt idx="81">
                <c:v>82</c:v>
              </c:pt>
              <c:pt idx="82">
                <c:v>83</c:v>
              </c:pt>
              <c:pt idx="83">
                <c:v>84</c:v>
              </c:pt>
              <c:pt idx="84">
                <c:v>85</c:v>
              </c:pt>
              <c:pt idx="85">
                <c:v>86</c:v>
              </c:pt>
              <c:pt idx="86">
                <c:v>87</c:v>
              </c:pt>
              <c:pt idx="87">
                <c:v>88</c:v>
              </c:pt>
              <c:pt idx="88">
                <c:v>89</c:v>
              </c:pt>
              <c:pt idx="89">
                <c:v>90</c:v>
              </c:pt>
              <c:pt idx="90">
                <c:v>91</c:v>
              </c:pt>
              <c:pt idx="91">
                <c:v>92</c:v>
              </c:pt>
              <c:pt idx="92">
                <c:v>93</c:v>
              </c:pt>
              <c:pt idx="93">
                <c:v>94</c:v>
              </c:pt>
              <c:pt idx="94">
                <c:v>95</c:v>
              </c:pt>
              <c:pt idx="95">
                <c:v>96</c:v>
              </c:pt>
            </c:numLit>
          </c:xVal>
          <c:yVal>
            <c:numLit>
              <c:formatCode>General</c:formatCode>
              <c:ptCount val="96"/>
              <c:pt idx="0">
                <c:v>-0.024848514579788084</c:v>
              </c:pt>
              <c:pt idx="1">
                <c:v>0.5063817452532452</c:v>
              </c:pt>
              <c:pt idx="2">
                <c:v>0.8707460635319084</c:v>
              </c:pt>
              <c:pt idx="3">
                <c:v>1.039063020017756</c:v>
              </c:pt>
              <c:pt idx="4">
                <c:v>0.8615160325503661</c:v>
              </c:pt>
              <c:pt idx="5">
                <c:v>0.1420577478596225</c:v>
              </c:pt>
              <c:pt idx="6">
                <c:v>-0.27982292799102415</c:v>
              </c:pt>
              <c:pt idx="7">
                <c:v>-0.2407666153367283</c:v>
              </c:pt>
              <c:pt idx="8">
                <c:v>-0.4289543363547947</c:v>
              </c:pt>
              <c:pt idx="9">
                <c:v>-0.7592199528909563</c:v>
              </c:pt>
              <c:pt idx="10">
                <c:v>-0.975863556852286</c:v>
              </c:pt>
              <c:pt idx="11">
                <c:v>-0.686064947016857</c:v>
              </c:pt>
              <c:pt idx="12">
                <c:v>-0.1299660079001661</c:v>
              </c:pt>
              <c:pt idx="13">
                <c:v>-0.10227593200093674</c:v>
              </c:pt>
              <c:pt idx="14">
                <c:v>-0.22444277619256545</c:v>
              </c:pt>
              <c:pt idx="15">
                <c:v>-0.4722830520334415</c:v>
              </c:pt>
              <c:pt idx="16">
                <c:v>-0.2649097828932982</c:v>
              </c:pt>
              <c:pt idx="17">
                <c:v>0.10155042879654709</c:v>
              </c:pt>
              <c:pt idx="18">
                <c:v>0.13851083099426462</c:v>
              </c:pt>
              <c:pt idx="19">
                <c:v>-0.20594241891253523</c:v>
              </c:pt>
              <c:pt idx="20">
                <c:v>-0.23153659287788442</c:v>
              </c:pt>
              <c:pt idx="21">
                <c:v>0.061808925300203994</c:v>
              </c:pt>
              <c:pt idx="22">
                <c:v>-0.5255673018980203</c:v>
              </c:pt>
              <c:pt idx="23">
                <c:v>-0.4239967254429999</c:v>
              </c:pt>
              <c:pt idx="24">
                <c:v>-0.08804799479065406</c:v>
              </c:pt>
              <c:pt idx="25">
                <c:v>0.4531378077510088</c:v>
              </c:pt>
              <c:pt idx="26">
                <c:v>0.8075465833210425</c:v>
              </c:pt>
              <c:pt idx="27">
                <c:v>0.750715425113804</c:v>
              </c:pt>
              <c:pt idx="28">
                <c:v>0.6356424061301928</c:v>
              </c:pt>
              <c:pt idx="29">
                <c:v>0.647734146089649</c:v>
              </c:pt>
              <c:pt idx="30">
                <c:v>0.7776799978086438</c:v>
              </c:pt>
              <c:pt idx="31">
                <c:v>0.704565304296887</c:v>
              </c:pt>
              <c:pt idx="32">
                <c:v>0.4311308459679636</c:v>
              </c:pt>
              <c:pt idx="33">
                <c:v>0.5000134317723154</c:v>
              </c:pt>
              <c:pt idx="34">
                <c:v>0.9495841749994934</c:v>
              </c:pt>
              <c:pt idx="35">
                <c:v>1.4652161074154515</c:v>
              </c:pt>
              <c:pt idx="36">
                <c:v>1.456671275798655</c:v>
              </c:pt>
              <c:pt idx="37">
                <c:v>0.3487055137953764</c:v>
              </c:pt>
              <c:pt idx="38">
                <c:v>-0.08663729222151902</c:v>
              </c:pt>
              <c:pt idx="39">
                <c:v>0.26563528609768783</c:v>
              </c:pt>
              <c:pt idx="40">
                <c:v>0.4169029002349828</c:v>
              </c:pt>
              <c:pt idx="41">
                <c:v>-0.08804799479065406</c:v>
              </c:pt>
              <c:pt idx="42">
                <c:v>0.11791458030305262</c:v>
              </c:pt>
              <c:pt idx="43">
                <c:v>-0.16688610625823938</c:v>
              </c:pt>
              <c:pt idx="44">
                <c:v>-0.43181604533270873</c:v>
              </c:pt>
              <c:pt idx="45">
                <c:v>-0.3167430263490974</c:v>
              </c:pt>
              <c:pt idx="46">
                <c:v>-0.16192849534644485</c:v>
              </c:pt>
              <c:pt idx="47">
                <c:v>-0.3465693080218515</c:v>
              </c:pt>
              <c:pt idx="48">
                <c:v>-0.6988418778183604</c:v>
              </c:pt>
              <c:pt idx="49">
                <c:v>-1.053250661911092</c:v>
              </c:pt>
              <c:pt idx="50">
                <c:v>-1.2414786867688026</c:v>
              </c:pt>
              <c:pt idx="51">
                <c:v>-1.2286614436049568</c:v>
              </c:pt>
              <c:pt idx="52">
                <c:v>-1.2066544903446097</c:v>
              </c:pt>
              <c:pt idx="53">
                <c:v>-0.7890462345637104</c:v>
              </c:pt>
              <c:pt idx="54">
                <c:v>-0.34374790288358165</c:v>
              </c:pt>
              <c:pt idx="55">
                <c:v>-0.656238665344103</c:v>
              </c:pt>
              <c:pt idx="56">
                <c:v>-0.7840886236519158</c:v>
              </c:pt>
              <c:pt idx="57">
                <c:v>-0.0028415613194410394</c:v>
              </c:pt>
              <c:pt idx="58">
                <c:v>0.3011446818866261</c:v>
              </c:pt>
              <c:pt idx="59">
                <c:v>-0.03694025453924447</c:v>
              </c:pt>
              <c:pt idx="60">
                <c:v>-0.04189786545103899</c:v>
              </c:pt>
              <c:pt idx="61">
                <c:v>-0.037625453903989615</c:v>
              </c:pt>
              <c:pt idx="62">
                <c:v>-0.49005790610908184</c:v>
              </c:pt>
              <c:pt idx="63">
                <c:v>-0.7677647759850545</c:v>
              </c:pt>
              <c:pt idx="64">
                <c:v>-0.6228654753286892</c:v>
              </c:pt>
              <c:pt idx="65">
                <c:v>-0.5568042861399092</c:v>
              </c:pt>
              <c:pt idx="66">
                <c:v>-0.06604103300760887</c:v>
              </c:pt>
              <c:pt idx="67">
                <c:v>0.40767287777613914</c:v>
              </c:pt>
              <c:pt idx="68">
                <c:v>1.105809408571281</c:v>
              </c:pt>
              <c:pt idx="69">
                <c:v>1.3117719751422896</c:v>
              </c:pt>
              <c:pt idx="70">
                <c:v>0.8863443994716814</c:v>
              </c:pt>
              <c:pt idx="71">
                <c:v>0.2215810586919532</c:v>
              </c:pt>
              <c:pt idx="72">
                <c:v>-0.08450108644799458</c:v>
              </c:pt>
              <c:pt idx="73">
                <c:v>0.06676653621199852</c:v>
              </c:pt>
              <c:pt idx="74">
                <c:v>0.21589794457576902</c:v>
              </c:pt>
              <c:pt idx="75">
                <c:v>0.44604398254299166</c:v>
              </c:pt>
              <c:pt idx="76">
                <c:v>0.24644972945291246</c:v>
              </c:pt>
              <c:pt idx="77">
                <c:v>-0.14487915299789234</c:v>
              </c:pt>
              <c:pt idx="78">
                <c:v>-0.07740726123997721</c:v>
              </c:pt>
              <c:pt idx="79">
                <c:v>0.3231516436696715</c:v>
              </c:pt>
              <c:pt idx="80">
                <c:v>0.959539709185425</c:v>
              </c:pt>
              <c:pt idx="81">
                <c:v>0.9027085509781869</c:v>
              </c:pt>
              <c:pt idx="82">
                <c:v>0.06390482723408443</c:v>
              </c:pt>
              <c:pt idx="83">
                <c:v>-0.29405086520130685</c:v>
              </c:pt>
              <c:pt idx="84">
                <c:v>-0.24717524118000028</c:v>
              </c:pt>
              <c:pt idx="85">
                <c:v>-0.14701535877141678</c:v>
              </c:pt>
              <c:pt idx="86">
                <c:v>-0.11859977966779776</c:v>
              </c:pt>
              <c:pt idx="87">
                <c:v>-0.18325025776474466</c:v>
              </c:pt>
              <c:pt idx="88">
                <c:v>-0.6377786119037173</c:v>
              </c:pt>
              <c:pt idx="89">
                <c:v>-1.2272507410358218</c:v>
              </c:pt>
              <c:pt idx="90">
                <c:v>-1.2024223826372047</c:v>
              </c:pt>
              <c:pt idx="91">
                <c:v>-0.8898913078143409</c:v>
              </c:pt>
              <c:pt idx="92">
                <c:v>-0.5397549437913566</c:v>
              </c:pt>
              <c:pt idx="93">
                <c:v>-0.6406000170419871</c:v>
              </c:pt>
              <c:pt idx="94">
                <c:v>-0.21521274521102338</c:v>
              </c:pt>
              <c:pt idx="95">
                <c:v>0.47514476101135583</c:v>
              </c:pt>
            </c:numLit>
          </c:yVal>
        </c:ser>
        <c:ser>
          <c:idx val="1"/>
          <c:order val="1"/>
          <c:tx>
            <c:v>AR(4) prediction ŷₜ</c:v>
          </c:tx>
          <c:spPr>
            <a:ln xmlns:a="http://schemas.openxmlformats.org/drawingml/2006/main" w="30480">
              <a:solidFill>
                <a:srgbClr val="6B2C91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9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  <c:pt idx="31">
                <c:v>32</c:v>
              </c:pt>
              <c:pt idx="32">
                <c:v>33</c:v>
              </c:pt>
              <c:pt idx="33">
                <c:v>34</c:v>
              </c:pt>
              <c:pt idx="34">
                <c:v>35</c:v>
              </c:pt>
              <c:pt idx="35">
                <c:v>36</c:v>
              </c:pt>
              <c:pt idx="36">
                <c:v>37</c:v>
              </c:pt>
              <c:pt idx="37">
                <c:v>38</c:v>
              </c:pt>
              <c:pt idx="38">
                <c:v>39</c:v>
              </c:pt>
              <c:pt idx="39">
                <c:v>40</c:v>
              </c:pt>
              <c:pt idx="40">
                <c:v>41</c:v>
              </c:pt>
              <c:pt idx="41">
                <c:v>42</c:v>
              </c:pt>
              <c:pt idx="42">
                <c:v>43</c:v>
              </c:pt>
              <c:pt idx="43">
                <c:v>44</c:v>
              </c:pt>
              <c:pt idx="44">
                <c:v>45</c:v>
              </c:pt>
              <c:pt idx="45">
                <c:v>46</c:v>
              </c:pt>
              <c:pt idx="46">
                <c:v>47</c:v>
              </c:pt>
              <c:pt idx="47">
                <c:v>48</c:v>
              </c:pt>
              <c:pt idx="48">
                <c:v>49</c:v>
              </c:pt>
              <c:pt idx="49">
                <c:v>50</c:v>
              </c:pt>
              <c:pt idx="50">
                <c:v>51</c:v>
              </c:pt>
              <c:pt idx="51">
                <c:v>52</c:v>
              </c:pt>
              <c:pt idx="52">
                <c:v>53</c:v>
              </c:pt>
              <c:pt idx="53">
                <c:v>54</c:v>
              </c:pt>
              <c:pt idx="54">
                <c:v>55</c:v>
              </c:pt>
              <c:pt idx="55">
                <c:v>56</c:v>
              </c:pt>
              <c:pt idx="56">
                <c:v>57</c:v>
              </c:pt>
              <c:pt idx="57">
                <c:v>58</c:v>
              </c:pt>
              <c:pt idx="58">
                <c:v>59</c:v>
              </c:pt>
              <c:pt idx="59">
                <c:v>60</c:v>
              </c:pt>
              <c:pt idx="60">
                <c:v>61</c:v>
              </c:pt>
              <c:pt idx="61">
                <c:v>62</c:v>
              </c:pt>
              <c:pt idx="62">
                <c:v>63</c:v>
              </c:pt>
              <c:pt idx="63">
                <c:v>64</c:v>
              </c:pt>
              <c:pt idx="64">
                <c:v>65</c:v>
              </c:pt>
              <c:pt idx="65">
                <c:v>66</c:v>
              </c:pt>
              <c:pt idx="66">
                <c:v>67</c:v>
              </c:pt>
              <c:pt idx="67">
                <c:v>68</c:v>
              </c:pt>
              <c:pt idx="68">
                <c:v>69</c:v>
              </c:pt>
              <c:pt idx="69">
                <c:v>70</c:v>
              </c:pt>
              <c:pt idx="70">
                <c:v>71</c:v>
              </c:pt>
              <c:pt idx="71">
                <c:v>72</c:v>
              </c:pt>
              <c:pt idx="72">
                <c:v>73</c:v>
              </c:pt>
              <c:pt idx="73">
                <c:v>74</c:v>
              </c:pt>
              <c:pt idx="74">
                <c:v>75</c:v>
              </c:pt>
              <c:pt idx="75">
                <c:v>76</c:v>
              </c:pt>
              <c:pt idx="76">
                <c:v>77</c:v>
              </c:pt>
              <c:pt idx="77">
                <c:v>78</c:v>
              </c:pt>
              <c:pt idx="78">
                <c:v>79</c:v>
              </c:pt>
              <c:pt idx="79">
                <c:v>80</c:v>
              </c:pt>
              <c:pt idx="80">
                <c:v>81</c:v>
              </c:pt>
              <c:pt idx="81">
                <c:v>82</c:v>
              </c:pt>
              <c:pt idx="82">
                <c:v>83</c:v>
              </c:pt>
              <c:pt idx="83">
                <c:v>84</c:v>
              </c:pt>
              <c:pt idx="84">
                <c:v>85</c:v>
              </c:pt>
              <c:pt idx="85">
                <c:v>86</c:v>
              </c:pt>
              <c:pt idx="86">
                <c:v>87</c:v>
              </c:pt>
              <c:pt idx="87">
                <c:v>88</c:v>
              </c:pt>
              <c:pt idx="88">
                <c:v>89</c:v>
              </c:pt>
              <c:pt idx="89">
                <c:v>90</c:v>
              </c:pt>
              <c:pt idx="90">
                <c:v>91</c:v>
              </c:pt>
              <c:pt idx="91">
                <c:v>92</c:v>
              </c:pt>
              <c:pt idx="92">
                <c:v>93</c:v>
              </c:pt>
              <c:pt idx="93">
                <c:v>94</c:v>
              </c:pt>
              <c:pt idx="94">
                <c:v>95</c:v>
              </c:pt>
              <c:pt idx="95">
                <c:v>96</c:v>
              </c:pt>
            </c:numLit>
          </c:xVal>
          <c:yVal>
            <c:numLit>
              <c:formatCode>General</c:formatCode>
              <c:ptCount val="96"/>
              <c:pt idx="0">
                <c:v>-0.10864424548186631</c:v>
              </c:pt>
              <c:pt idx="1">
                <c:v>0.08522658112968608</c:v>
              </c:pt>
              <c:pt idx="2">
                <c:v>0.6818328393094522</c:v>
              </c:pt>
              <c:pt idx="3">
                <c:v>0.7663540734159198</c:v>
              </c:pt>
              <c:pt idx="4">
                <c:v>0.8948892225657796</c:v>
              </c:pt>
              <c:pt idx="5">
                <c:v>0.5717577350772796</c:v>
              </c:pt>
              <c:pt idx="6">
                <c:v>-0.25995217198150367</c:v>
              </c:pt>
              <c:pt idx="7">
                <c:v>-0.24004111213233867</c:v>
              </c:pt>
              <c:pt idx="8">
                <c:v>-0.127104298922252</c:v>
              </c:pt>
              <c:pt idx="9">
                <c:v>-0.5638981113479264</c:v>
              </c:pt>
              <c:pt idx="10">
                <c:v>-0.7450323109976198</c:v>
              </c:pt>
              <c:pt idx="11">
                <c:v>-0.8252811335570382</c:v>
              </c:pt>
              <c:pt idx="12">
                <c:v>-0.33024546035499047</c:v>
              </c:pt>
              <c:pt idx="13">
                <c:v>0.10513764097885107</c:v>
              </c:pt>
              <c:pt idx="14">
                <c:v>-0.23935591276759327</c:v>
              </c:pt>
              <c:pt idx="15">
                <c:v>-0.16974782375885186</c:v>
              </c:pt>
              <c:pt idx="16">
                <c:v>-0.488647203539947</c:v>
              </c:pt>
              <c:pt idx="17">
                <c:v>0.004977767092965969</c:v>
              </c:pt>
              <c:pt idx="18">
                <c:v>0.1932057834279782</c:v>
              </c:pt>
              <c:pt idx="19">
                <c:v>0.02271230880626388</c:v>
              </c:pt>
              <c:pt idx="20">
                <c:v>-0.34161169711005696</c:v>
              </c:pt>
              <c:pt idx="21">
                <c:v>-0.053989605410495134</c:v>
              </c:pt>
              <c:pt idx="22">
                <c:v>0.19175477701919913</c:v>
              </c:pt>
              <c:pt idx="23">
                <c:v>-0.9382179467671249</c:v>
              </c:pt>
              <c:pt idx="24">
                <c:v>0.024848514579788327</c:v>
              </c:pt>
              <c:pt idx="25">
                <c:v>0.0014308502276080932</c:v>
              </c:pt>
              <c:pt idx="26">
                <c:v>0.6029947193191689</c:v>
              </c:pt>
              <c:pt idx="27">
                <c:v>0.7230253492145748</c:v>
              </c:pt>
              <c:pt idx="28">
                <c:v>0.5184734852127013</c:v>
              </c:pt>
              <c:pt idx="29">
                <c:v>0.5241565993288853</c:v>
              </c:pt>
              <c:pt idx="30">
                <c:v>0.5646236060296183</c:v>
              </c:pt>
              <c:pt idx="31">
                <c:v>0.6853797476521118</c:v>
              </c:pt>
              <c:pt idx="32">
                <c:v>0.4659147385525122</c:v>
              </c:pt>
              <c:pt idx="33">
                <c:v>0.21803415034929347</c:v>
              </c:pt>
              <c:pt idx="34">
                <c:v>0.5468890643163201</c:v>
              </c:pt>
              <c:pt idx="35">
                <c:v>0.9822318618105174</c:v>
              </c:pt>
              <c:pt idx="36">
                <c:v>1.345870668362093</c:v>
              </c:pt>
              <c:pt idx="37">
                <c:v>1.0347906084707066</c:v>
              </c:pt>
              <c:pt idx="38">
                <c:v>-0.35725033688947444</c:v>
              </c:pt>
              <c:pt idx="39">
                <c:v>0.0980035204538876</c:v>
              </c:pt>
              <c:pt idx="40">
                <c:v>0.42186051114677753</c:v>
              </c:pt>
              <c:pt idx="41">
                <c:v>0.2088041278904498</c:v>
              </c:pt>
              <c:pt idx="42">
                <c:v>-0.40340046622908976</c:v>
              </c:pt>
              <c:pt idx="43">
                <c:v>0.46873614369078226</c:v>
              </c:pt>
              <c:pt idx="44">
                <c:v>-0.5021093337061956</c:v>
              </c:pt>
              <c:pt idx="45">
                <c:v>-0.36648036787101645</c:v>
              </c:pt>
              <c:pt idx="46">
                <c:v>-0.1214614886457121</c:v>
              </c:pt>
              <c:pt idx="47">
                <c:v>-0.1235573905795923</c:v>
              </c:pt>
              <c:pt idx="48">
                <c:v>-0.4431822735650771</c:v>
              </c:pt>
              <c:pt idx="49">
                <c:v>-0.6910628617682958</c:v>
              </c:pt>
              <c:pt idx="50">
                <c:v>-0.969454931009014</c:v>
              </c:pt>
              <c:pt idx="51">
                <c:v>-1.0411992343139782</c:v>
              </c:pt>
              <c:pt idx="52">
                <c:v>-0.9665932220310998</c:v>
              </c:pt>
              <c:pt idx="53">
                <c:v>-0.9943236017699735</c:v>
              </c:pt>
              <c:pt idx="54">
                <c:v>-0.362933459528357</c:v>
              </c:pt>
              <c:pt idx="55">
                <c:v>-0.14915156454494147</c:v>
              </c:pt>
              <c:pt idx="56">
                <c:v>-0.8408794780195098</c:v>
              </c:pt>
              <c:pt idx="57">
                <c:v>-0.5028348454332834</c:v>
              </c:pt>
              <c:pt idx="58">
                <c:v>0.5127903710965169</c:v>
              </c:pt>
              <c:pt idx="59">
                <c:v>0.09659281788475257</c:v>
              </c:pt>
              <c:pt idx="60">
                <c:v>-0.23508350122054414</c:v>
              </c:pt>
              <c:pt idx="61">
                <c:v>0.1597922895729204</c:v>
              </c:pt>
              <c:pt idx="62">
                <c:v>-0.08877349799504371</c:v>
              </c:pt>
              <c:pt idx="63">
                <c:v>-0.6967459844071782</c:v>
              </c:pt>
              <c:pt idx="64">
                <c:v>-0.6136354528698456</c:v>
              </c:pt>
              <c:pt idx="65">
                <c:v>-0.37284868135194604</c:v>
              </c:pt>
              <c:pt idx="66">
                <c:v>-0.5156117762347867</c:v>
              </c:pt>
              <c:pt idx="67">
                <c:v>0.27272910278300705</c:v>
              </c:pt>
              <c:pt idx="68">
                <c:v>0.45168679281953134</c:v>
              </c:pt>
              <c:pt idx="69">
                <c:v>1.2478873040893763</c:v>
              </c:pt>
              <c:pt idx="70">
                <c:v>0.9900511902229246</c:v>
              </c:pt>
              <c:pt idx="71">
                <c:v>0.47373405844222083</c:v>
              </c:pt>
              <c:pt idx="72">
                <c:v>-0.04899168213635796</c:v>
              </c:pt>
              <c:pt idx="73">
                <c:v>-0.07599655867084218</c:v>
              </c:pt>
              <c:pt idx="74">
                <c:v>0.15765608379939572</c:v>
              </c:pt>
              <c:pt idx="75">
                <c:v>0.1526984728876012</c:v>
              </c:pt>
              <c:pt idx="76">
                <c:v>0.4772809667848805</c:v>
              </c:pt>
              <c:pt idx="77">
                <c:v>-0.001430858750305999</c:v>
              </c:pt>
              <c:pt idx="78">
                <c:v>-0.2521328520917948</c:v>
              </c:pt>
              <c:pt idx="79">
                <c:v>0.10795904611712091</c:v>
              </c:pt>
              <c:pt idx="80">
                <c:v>0.4254477318517792</c:v>
              </c:pt>
              <c:pt idx="81">
                <c:v>1.0397885317448436</c:v>
              </c:pt>
              <c:pt idx="82">
                <c:v>0.49856242536353607</c:v>
              </c:pt>
              <c:pt idx="83">
                <c:v>-0.36506966530188145</c:v>
              </c:pt>
              <c:pt idx="84">
                <c:v>-0.13778533631257311</c:v>
              </c:pt>
              <c:pt idx="85">
                <c:v>-0.17543093787503602</c:v>
              </c:pt>
              <c:pt idx="86">
                <c:v>-0.13778533631257311</c:v>
              </c:pt>
              <c:pt idx="87">
                <c:v>-0.10864424548186631</c:v>
              </c:pt>
              <c:pt idx="88">
                <c:v>-0.18325025776474466</c:v>
              </c:pt>
              <c:pt idx="89">
                <c:v>-0.7826779210827808</c:v>
              </c:pt>
              <c:pt idx="90">
                <c:v>-1.201696879432815</c:v>
              </c:pt>
              <c:pt idx="91">
                <c:v>-0.7890462345637104</c:v>
              </c:pt>
              <c:pt idx="92">
                <c:v>-0.6271378868757386</c:v>
              </c:pt>
              <c:pt idx="93">
                <c:v>-0.32528784944319594</c:v>
              </c:pt>
              <c:pt idx="94">
                <c:v>-0.6683304053035591</c:v>
              </c:pt>
              <c:pt idx="95">
                <c:v>0.21662344778015843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7620">
              <a:solidFill>
                <a:srgbClr val="D9D9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5959"/>
                </a:solidFill>
              </a:defRPr>
            </a:pPr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5959"/>
                </a:solidFill>
              </a:defRPr>
            </a:pPr>
          </a:p>
        </c:txPr>
        <c:crossAx val="48672768"/>
        <c:crosses val="autoZero"/>
        <c:crossBetween val="midCat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6262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7620">
      <a:solidFill>
        <a:srgbClr val="BFBFB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62626"/>
                </a:solidFill>
              </a:rPr>
              <a:t>Residuals: variance 0.079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62626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Prediction error eₜ</c:v>
          </c:tx>
          <c:spPr>
            <a:ln xmlns:a="http://schemas.openxmlformats.org/drawingml/2006/main" w="24765">
              <a:solidFill>
                <a:srgbClr val="E07A2D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  <c:pt idx="31">
                <c:v>32</c:v>
              </c:pt>
              <c:pt idx="32">
                <c:v>33</c:v>
              </c:pt>
              <c:pt idx="33">
                <c:v>34</c:v>
              </c:pt>
              <c:pt idx="34">
                <c:v>35</c:v>
              </c:pt>
              <c:pt idx="35">
                <c:v>36</c:v>
              </c:pt>
              <c:pt idx="36">
                <c:v>37</c:v>
              </c:pt>
              <c:pt idx="37">
                <c:v>38</c:v>
              </c:pt>
              <c:pt idx="38">
                <c:v>39</c:v>
              </c:pt>
              <c:pt idx="39">
                <c:v>40</c:v>
              </c:pt>
              <c:pt idx="40">
                <c:v>41</c:v>
              </c:pt>
              <c:pt idx="41">
                <c:v>42</c:v>
              </c:pt>
              <c:pt idx="42">
                <c:v>43</c:v>
              </c:pt>
              <c:pt idx="43">
                <c:v>44</c:v>
              </c:pt>
              <c:pt idx="44">
                <c:v>45</c:v>
              </c:pt>
              <c:pt idx="45">
                <c:v>46</c:v>
              </c:pt>
              <c:pt idx="46">
                <c:v>47</c:v>
              </c:pt>
              <c:pt idx="47">
                <c:v>48</c:v>
              </c:pt>
              <c:pt idx="48">
                <c:v>49</c:v>
              </c:pt>
              <c:pt idx="49">
                <c:v>50</c:v>
              </c:pt>
              <c:pt idx="50">
                <c:v>51</c:v>
              </c:pt>
              <c:pt idx="51">
                <c:v>52</c:v>
              </c:pt>
              <c:pt idx="52">
                <c:v>53</c:v>
              </c:pt>
              <c:pt idx="53">
                <c:v>54</c:v>
              </c:pt>
              <c:pt idx="54">
                <c:v>55</c:v>
              </c:pt>
              <c:pt idx="55">
                <c:v>56</c:v>
              </c:pt>
              <c:pt idx="56">
                <c:v>57</c:v>
              </c:pt>
              <c:pt idx="57">
                <c:v>58</c:v>
              </c:pt>
              <c:pt idx="58">
                <c:v>59</c:v>
              </c:pt>
              <c:pt idx="59">
                <c:v>60</c:v>
              </c:pt>
              <c:pt idx="60">
                <c:v>61</c:v>
              </c:pt>
              <c:pt idx="61">
                <c:v>62</c:v>
              </c:pt>
              <c:pt idx="62">
                <c:v>63</c:v>
              </c:pt>
              <c:pt idx="63">
                <c:v>64</c:v>
              </c:pt>
              <c:pt idx="64">
                <c:v>65</c:v>
              </c:pt>
              <c:pt idx="65">
                <c:v>66</c:v>
              </c:pt>
              <c:pt idx="66">
                <c:v>67</c:v>
              </c:pt>
              <c:pt idx="67">
                <c:v>68</c:v>
              </c:pt>
              <c:pt idx="68">
                <c:v>69</c:v>
              </c:pt>
              <c:pt idx="69">
                <c:v>70</c:v>
              </c:pt>
              <c:pt idx="70">
                <c:v>71</c:v>
              </c:pt>
              <c:pt idx="71">
                <c:v>72</c:v>
              </c:pt>
              <c:pt idx="72">
                <c:v>73</c:v>
              </c:pt>
              <c:pt idx="73">
                <c:v>74</c:v>
              </c:pt>
              <c:pt idx="74">
                <c:v>75</c:v>
              </c:pt>
              <c:pt idx="75">
                <c:v>76</c:v>
              </c:pt>
              <c:pt idx="76">
                <c:v>77</c:v>
              </c:pt>
              <c:pt idx="77">
                <c:v>78</c:v>
              </c:pt>
              <c:pt idx="78">
                <c:v>79</c:v>
              </c:pt>
              <c:pt idx="79">
                <c:v>80</c:v>
              </c:pt>
              <c:pt idx="80">
                <c:v>81</c:v>
              </c:pt>
              <c:pt idx="81">
                <c:v>82</c:v>
              </c:pt>
              <c:pt idx="82">
                <c:v>83</c:v>
              </c:pt>
              <c:pt idx="83">
                <c:v>84</c:v>
              </c:pt>
              <c:pt idx="84">
                <c:v>85</c:v>
              </c:pt>
              <c:pt idx="85">
                <c:v>86</c:v>
              </c:pt>
              <c:pt idx="86">
                <c:v>87</c:v>
              </c:pt>
              <c:pt idx="87">
                <c:v>88</c:v>
              </c:pt>
              <c:pt idx="88">
                <c:v>89</c:v>
              </c:pt>
              <c:pt idx="89">
                <c:v>90</c:v>
              </c:pt>
              <c:pt idx="90">
                <c:v>91</c:v>
              </c:pt>
              <c:pt idx="91">
                <c:v>92</c:v>
              </c:pt>
              <c:pt idx="92">
                <c:v>93</c:v>
              </c:pt>
              <c:pt idx="93">
                <c:v>94</c:v>
              </c:pt>
              <c:pt idx="94">
                <c:v>95</c:v>
              </c:pt>
              <c:pt idx="95">
                <c:v>96</c:v>
              </c:pt>
            </c:numLit>
          </c:xVal>
          <c:yVal>
            <c:numLit>
              <c:formatCode>General</c:formatCode>
              <c:ptCount val="96"/>
              <c:pt idx="0">
                <c:v>0.08381587856055103</c:v>
              </c:pt>
              <c:pt idx="1">
                <c:v>0.42117531178203216</c:v>
              </c:pt>
              <c:pt idx="2">
                <c:v>0.18893337188092907</c:v>
              </c:pt>
              <c:pt idx="3">
                <c:v>0.27272910278300705</c:v>
              </c:pt>
              <c:pt idx="4">
                <c:v>-0.033353042356940484</c:v>
              </c:pt>
              <c:pt idx="5">
                <c:v>-0.43040534276357373</c:v>
              </c:pt>
              <c:pt idx="6">
                <c:v>-0.019890903667993558</c:v>
              </c:pt>
              <c:pt idx="7">
                <c:v>-0.0007053555459165942</c:v>
              </c:pt>
              <c:pt idx="8">
                <c:v>-0.30182988125137145</c:v>
              </c:pt>
              <c:pt idx="9">
                <c:v>-0.19530169388455654</c:v>
              </c:pt>
              <c:pt idx="10">
                <c:v>-0.23081108967349476</c:v>
              </c:pt>
              <c:pt idx="11">
                <c:v>0.13919603035901001</c:v>
              </c:pt>
              <c:pt idx="12">
                <c:v>0.20029960863599555</c:v>
              </c:pt>
              <c:pt idx="13">
                <c:v>-0.20739342532131452</c:v>
              </c:pt>
              <c:pt idx="14">
                <c:v>0.014933292756199274</c:v>
              </c:pt>
              <c:pt idx="15">
                <c:v>-0.30255538445576086</c:v>
              </c:pt>
              <c:pt idx="16">
                <c:v>0.22371726446547763</c:v>
              </c:pt>
              <c:pt idx="17">
                <c:v>0.09659281788475257</c:v>
              </c:pt>
              <c:pt idx="18">
                <c:v>-0.054674804775240525</c:v>
              </c:pt>
              <c:pt idx="19">
                <c:v>-0.22867488389997032</c:v>
              </c:pt>
              <c:pt idx="20">
                <c:v>0.10936974868625596</c:v>
              </c:pt>
              <c:pt idx="21">
                <c:v>0.11577837452952792</c:v>
              </c:pt>
              <c:pt idx="22">
                <c:v>-0.7166167318940008</c:v>
              </c:pt>
              <c:pt idx="23">
                <c:v>0.5149265768700416</c:v>
              </c:pt>
              <c:pt idx="24">
                <c:v>-0.11291666555161359</c:v>
              </c:pt>
              <c:pt idx="25">
                <c:v>0.45168679281953134</c:v>
              </c:pt>
              <c:pt idx="26">
                <c:v>0.20453171634340042</c:v>
              </c:pt>
              <c:pt idx="27">
                <c:v>0.02698472035331301</c:v>
              </c:pt>
              <c:pt idx="28">
                <c:v>0.11718907709866297</c:v>
              </c:pt>
              <c:pt idx="29">
                <c:v>0.12359769441923678</c:v>
              </c:pt>
              <c:pt idx="30">
                <c:v>0.21307653943749894</c:v>
              </c:pt>
              <c:pt idx="31">
                <c:v>0.0198909036679938</c:v>
              </c:pt>
              <c:pt idx="32">
                <c:v>-0.034804048765719776</c:v>
              </c:pt>
              <c:pt idx="33">
                <c:v>0.2812336220374613</c:v>
              </c:pt>
              <c:pt idx="34">
                <c:v>0.40271526686434433</c:v>
              </c:pt>
              <c:pt idx="35">
                <c:v>0.48296408942376307</c:v>
              </c:pt>
              <c:pt idx="36">
                <c:v>0.110780451255391</c:v>
              </c:pt>
              <c:pt idx="37">
                <c:v>-0.6853394438124674</c:v>
              </c:pt>
              <c:pt idx="38">
                <c:v>0.27059289700948236</c:v>
              </c:pt>
              <c:pt idx="39">
                <c:v>0.16761160946262926</c:v>
              </c:pt>
              <c:pt idx="40">
                <c:v>-0.00425226388857608</c:v>
              </c:pt>
              <c:pt idx="41">
                <c:v>-0.2968722703395767</c:v>
              </c:pt>
              <c:pt idx="42">
                <c:v>0.5212948903509709</c:v>
              </c:pt>
              <c:pt idx="43">
                <c:v>-0.6349572067654472</c:v>
              </c:pt>
              <c:pt idx="44">
                <c:v>0.07031344455465824</c:v>
              </c:pt>
              <c:pt idx="45">
                <c:v>0.04971718534074785</c:v>
              </c:pt>
              <c:pt idx="46">
                <c:v>-0.04048716288190395</c:v>
              </c:pt>
              <c:pt idx="47">
                <c:v>-0.22230657041904076</c:v>
              </c:pt>
              <c:pt idx="48">
                <c:v>-0.2556797604344543</c:v>
              </c:pt>
              <c:pt idx="49">
                <c:v>-0.36220795632396735</c:v>
              </c:pt>
              <c:pt idx="50">
                <c:v>-0.2720035995786174</c:v>
              </c:pt>
              <c:pt idx="51">
                <c:v>-0.18748236547214978</c:v>
              </c:pt>
              <c:pt idx="52">
                <c:v>-0.24004111213233867</c:v>
              </c:pt>
              <c:pt idx="53">
                <c:v>0.20598272275217971</c:v>
              </c:pt>
              <c:pt idx="54">
                <c:v>0.019165400463604154</c:v>
              </c:pt>
              <c:pt idx="55">
                <c:v>-0.5071072569803328</c:v>
              </c:pt>
              <c:pt idx="56">
                <c:v>0.056811002026067065</c:v>
              </c:pt>
              <c:pt idx="57">
                <c:v>0.5006986311370608</c:v>
              </c:pt>
              <c:pt idx="58">
                <c:v>-0.21094033366397424</c:v>
              </c:pt>
              <c:pt idx="59">
                <c:v>-0.1335129162428256</c:v>
              </c:pt>
              <c:pt idx="60">
                <c:v>0.1938909827927236</c:v>
              </c:pt>
              <c:pt idx="61">
                <c:v>-0.19816340286247086</c:v>
              </c:pt>
              <c:pt idx="62">
                <c:v>-0.40126426045556507</c:v>
              </c:pt>
              <c:pt idx="63">
                <c:v>-0.0709986439194034</c:v>
              </c:pt>
              <c:pt idx="64">
                <c:v>-0.009209874800370605</c:v>
              </c:pt>
              <c:pt idx="65">
                <c:v>-0.18393545712949003</c:v>
              </c:pt>
              <c:pt idx="66">
                <c:v>0.4488653876812613</c:v>
              </c:pt>
              <c:pt idx="67">
                <c:v>0.13496392265160512</c:v>
              </c:pt>
              <c:pt idx="68">
                <c:v>0.6541024595705783</c:v>
              </c:pt>
              <c:pt idx="69">
                <c:v>0.06463033043847408</c:v>
              </c:pt>
              <c:pt idx="70">
                <c:v>-0.10368663457007155</c:v>
              </c:pt>
              <c:pt idx="71">
                <c:v>-0.2514073488874051</c:v>
              </c:pt>
              <c:pt idx="72">
                <c:v>-0.035489248130465174</c:v>
              </c:pt>
              <c:pt idx="73">
                <c:v>0.14274293870166974</c:v>
              </c:pt>
              <c:pt idx="74">
                <c:v>0.05826201695754451</c:v>
              </c:pt>
              <c:pt idx="75">
                <c:v>0.29332536199691744</c:v>
              </c:pt>
              <c:pt idx="76">
                <c:v>-0.23081108967349476</c:v>
              </c:pt>
              <c:pt idx="77">
                <c:v>-0.14346845042875728</c:v>
              </c:pt>
              <c:pt idx="78">
                <c:v>0.1747054346706464</c:v>
              </c:pt>
              <c:pt idx="79">
                <c:v>0.21521274521102363</c:v>
              </c:pt>
              <c:pt idx="80">
                <c:v>0.5341121335148167</c:v>
              </c:pt>
              <c:pt idx="81">
                <c:v>-0.13705982458548532</c:v>
              </c:pt>
              <c:pt idx="82">
                <c:v>-0.43463745047097885</c:v>
              </c:pt>
              <c:pt idx="83">
                <c:v>0.0710389477590479</c:v>
              </c:pt>
              <c:pt idx="84">
                <c:v>-0.11009526041334351</c:v>
              </c:pt>
              <c:pt idx="85">
                <c:v>0.028435735284790455</c:v>
              </c:pt>
              <c:pt idx="86">
                <c:v>0.019165400463604154</c:v>
              </c:pt>
              <c:pt idx="87">
                <c:v>-0.07386035289731749</c:v>
              </c:pt>
              <c:pt idx="88">
                <c:v>-0.4545485103201436</c:v>
              </c:pt>
              <c:pt idx="89">
                <c:v>-0.44459297613421217</c:v>
              </c:pt>
              <c:pt idx="90">
                <c:v>-0.0007053555459165942</c:v>
              </c:pt>
              <c:pt idx="91">
                <c:v>-0.1008652294318017</c:v>
              </c:pt>
              <c:pt idx="92">
                <c:v>0.08736279542590891</c:v>
              </c:pt>
              <c:pt idx="93">
                <c:v>-0.3153323237799624</c:v>
              </c:pt>
              <c:pt idx="94">
                <c:v>0.4531378077510088</c:v>
              </c:pt>
              <c:pt idx="95">
                <c:v>0.2585414694123689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7620">
              <a:solidFill>
                <a:srgbClr val="D9D9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5959"/>
                </a:solidFill>
              </a:defRPr>
            </a:pPr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959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5959"/>
                </a:solidFill>
              </a:defRPr>
            </a:pPr>
          </a:p>
        </c:txPr>
        <c:crossAx val="48672768"/>
        <c:crosses val="autoZero"/>
        <c:crossBetween val="midCat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6262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7620">
      <a:solidFill>
        <a:srgbClr val="BFBFB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625600"/>
            <a:ext cx="82184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Time Series and Signal Modelling</a:t>
            </a:r>
          </a:p>
        </p:txBody>
      </p:sp>
      <p:sp>
        <p:nvSpPr>
          <p:cNvPr id="1536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B08F04-7D9A-4497-9A23-4AA702A6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4295775"/>
            <a:ext cx="8414072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400">
                <a:solidFill>
                  <a:srgbClr val="595959"/>
                </a:solidFill>
              </a:rPr>
              <a:t>T. Tang (with special thanks to Prof. Steve Roberts for the source material)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400">
                <a:solidFill>
                  <a:srgbClr val="595959"/>
                </a:solidFill>
              </a:rPr>
              <a:t>Day 3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400">
                <a:solidFill>
                  <a:srgbClr val="595959"/>
                </a:solidFill>
              </a:rPr>
              <a:t>Summer School in Hands-on Machine Learning 2026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36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49881bf4d42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Google Shape;351;p52">
            <a:extLst xmlns:a="http://schemas.openxmlformats.org/drawingml/2006/main">
              <a:ext uri="{FF2B5EF4-FFF2-40B4-BE49-F238E27FC236}">
                <a16:creationId xmlns:a16="http://schemas.microsoft.com/office/drawing/2014/main" id="{27924D3F-7816-4B17-9D96-639F9C38E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How the lecture fits together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352" name="Google Shape;352;p52">
            <a:extLst xmlns:a="http://schemas.openxmlformats.org/drawingml/2006/main">
              <a:ext uri="{FF2B5EF4-FFF2-40B4-BE49-F238E27FC236}">
                <a16:creationId xmlns:a16="http://schemas.microsoft.com/office/drawing/2014/main" id="{DC353069-2F8D-4B06-ABA4-5052CA9F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7381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 UNDERSTAND THE DATA  </a:t>
            </a: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was measured? Use time plots, sampling checks, filters, Fast Fourier Transform (FFT), Discrete Fourier Transform (DFT), Autocorrelation Function (ACF), Partial Autocorrelation Function (PACF) and cross-correlation.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  DEFINE THE FORECAST  </a:t>
            </a: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must we predict, how far ahead, and what is known when the prediction is made?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3  CHOOSE A MODEL  </a:t>
            </a: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Start with baselines and Autoregressive (AR) or state-space models; use Gaussian Process (GP), Temporal Convolutional Network (TCN), Long Short-Term Memory (LSTM), Gated Recurrent Unit (GRU) or newer models when the data justify them.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8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4  CHECK IT WORKS  </a:t>
            </a:r>
            <a:r>
              <a:rPr sz="138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Test on later time periods, quantify uncertainty and check new machines or operating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20580392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First inspect what was actually measured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04512c6274a3f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625600"/>
            <a:ext cx="82184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1A. Sampling: what information did the sensor record?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e8a4d6b5049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Sampling records the signal at discrete times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06d101fc64f2f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 continuous signal becomes a sequence of numbers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f46971f4c40f8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Digital frequency is measured relative to the sample rate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71b128f6d4514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The sample rate must be more than twice the highest frequency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2d917114a4555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Aliasing makes a fast oscillation look slower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a918287b84dab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Different continuous signals can produce the same samples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589c7b17d489d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Aliased frequencies fold into the measured range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8bcf25de04e16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Aliasing also appears in the frequency spectrum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52dd8fb744eae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625600"/>
            <a:ext cx="82184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1B. Filtering: separate useful structure from noise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1a02cc8c048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 digital filter keeps some features and suppresses others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812d5556d4192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 filter is a weighted regression on nearby samples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6c31f1a394d6c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Least squares chooses the filter weights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607c387c84056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The parabolic filter smooths noise while keeping local shape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4f5b7cfbd40f8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Two filter types remember the past differently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6a044eadd4700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625600"/>
            <a:ext cx="82184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1C. Fourier analysis: find the frequencies in the data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5bdbf5544c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The discrete Fourier transform tests each frequency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a1858053b46a5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Fourier magnitude gives strength; phase gives timing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8bf53df8a4435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Aliasing creates the wrong frequency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a0e9727a74a37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Leakage spreads one frequency across neighbouring bins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a4706b82f4d1f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Windowing reduces leakage at the edges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a0d6285c547bb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Fourier analysis reveals cycles in the data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0d8676357483a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8" y="1952625"/>
            <a:ext cx="821817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1D. Correlation: find memory and time delays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fe5f1eb004c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Autocorrelation shows whether the signal remembers its past</a:t>
            </a:r>
          </a:p>
        </p:txBody>
      </p:sp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9fe4592d049c2"/>
          <a:stretch xmlns:a="http://schemas.openxmlformats.org/drawingml/2006/main"/>
        </p:blipFill>
        <p:spPr>
          <a:xfrm xmlns:a="http://schemas.openxmlformats.org/drawingml/2006/main">
            <a:off x="619125" y="1737108"/>
            <a:ext cx="7905750" cy="2764660"/>
          </a:xfrm>
          <a:prstGeom xmlns:a="http://schemas.openxmlformats.org/drawingml/2006/main" prst="rect">
            <a:avLst/>
          </a:prstGeom>
        </p:spPr>
      </p:pic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9B79E67-D014-40E2-82AE-3CEF9E80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217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Autocorrelation function (ACF):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compares a signal with a delayed copy of itself.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Partial autocorrelation function (PACF):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asks whether one lag adds new information after shorter lags.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Cross-correlation function (CCF):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compares two signals while shifting one in time.</a:t>
            </a:r>
          </a:p>
        </p:txBody>
      </p:sp>
      <p:sp>
        <p:nvSpPr>
          <p:cNvPr id="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279AE110-D28A-4D53-A19B-63BFD6B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Peaks can reveal persistence, repeated cycles and useful time delays.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Autocorrelation compares the signal with a delayed copy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5575346464394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Autocorrelation peaks reveal repeated time scales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8060cc1444fa3"/>
          <a:stretch xmlns:a="http://schemas.openxmlformats.org/drawingml/2006/main"/>
        </p:blipFill>
        <p:spPr>
          <a:xfrm xmlns:a="http://schemas.openxmlformats.org/drawingml/2006/main">
            <a:off x="0" y="1184858"/>
            <a:ext cx="9144000" cy="55174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Partial autocorrelation helps choose the autoregressive order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204" name="Picture 2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d7efc0822473a"/>
          <a:stretch xmlns:a="http://schemas.openxmlformats.org/drawingml/2006/main"/>
        </p:blipFill>
        <p:spPr>
          <a:xfrm xmlns:a="http://schemas.openxmlformats.org/drawingml/2006/main">
            <a:off x="666750" y="1643063"/>
            <a:ext cx="3571875" cy="3571875"/>
          </a:xfrm>
          <a:prstGeom xmlns:a="http://schemas.openxmlformats.org/drawingml/2006/main" prst="rect">
            <a:avLst/>
          </a:prstGeom>
        </p:spPr>
      </p:pic>
      <p:sp>
        <p:nvSpPr>
          <p:cNvPr id="198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368FC027-2A33-4875-B9E5-00DFF5C2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210DA5B1-A324-426F-9BC4-D1CF9036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62125"/>
            <a:ext cx="3476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Autocorrelation function (ACF):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can stay large because information passes through intermediate lags.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Partial autocorrelation function (PACF):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removes the effect of the shorter lags.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Ideal autoregressive model of order p, AR(p):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partial autocorrelation function becomes small after lag p.</a:t>
            </a:r>
          </a:p>
        </p:txBody>
      </p:sp>
      <p:sp>
        <p:nvSpPr>
          <p:cNvPr id="20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A55860E-DAD0-4D8F-B54C-8688884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148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>
                <a:solidFill>
                  <a:srgbClr val="4B1B68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4B1B68"/>
                </a:solidFill>
                <a:latin typeface="Cambria Math"/>
                <a:ea typeface="Cambria Math"/>
                <a:cs typeface="Cambria Math"/>
              </a:rPr>
              <a:t>PACF(k) = Corr(yₜ, yₜ₋ₖ | yₜ₋₁,…,yₜ₋ₖ₊₁)</a:t>
            </a:r>
          </a:p>
        </p:txBody>
      </p:sp>
      <p:sp>
        <p:nvSpPr>
          <p:cNvPr id="201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FD9B0CED-31E3-4245-8DCA-3489E3BB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Use the partial autocorrelation function to suggest p; then check prediction errors on later data.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Cross-correlation compares two signals at different time delays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180dba6944f5b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Clean and align both signals before reading a time delay</a:t>
            </a:r>
          </a:p>
        </p:txBody>
      </p:sp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8779bffae4f8e"/>
          <a:stretch xmlns:a="http://schemas.openxmlformats.org/drawingml/2006/main"/>
        </p:blipFill>
        <p:spPr>
          <a:xfrm xmlns:a="http://schemas.openxmlformats.org/drawingml/2006/main">
            <a:off x="571500" y="1488585"/>
            <a:ext cx="8001000" cy="3118831"/>
          </a:xfrm>
          <a:prstGeom xmlns:a="http://schemas.openxmlformats.org/drawingml/2006/main" prst="rect">
            <a:avLst/>
          </a:prstGeom>
        </p:spPr>
      </p:pic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2C3F2217-F0DD-4180-872B-A884EFF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54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Remove shared trend: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otherwise unrelated signals can appear correlated.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Align the clocks: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correct timestamp and sensor delays.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Test the lag: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keep it only if it improves forecasts on later data.</a:t>
            </a:r>
          </a:p>
        </p:txBody>
      </p:sp>
      <p:sp>
        <p:nvSpPr>
          <p:cNvPr id="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A588CD7C-77FF-4CAE-8408-B41DB32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A peak suggests a useful delay; it does not prove cause and effect.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Check whether the behaviour changes over time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CE613A21-2410-4280-9EB7-0D985803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F8AF887F-D868-46B4-8BDD-CC4DABBA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Stationary: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average level, variation and correlation pattern stay roughly stable.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Non-stationary: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trend, ageing, changing load, interventions or a new regime.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to do: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detrend or difference, add operating variables, or use a model that can change.</a:t>
            </a:r>
          </a:p>
        </p:txBody>
      </p:sp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17513e7e54c21"/>
          <a:stretch xmlns:a="http://schemas.openxmlformats.org/drawingml/2006/main"/>
        </p:blipFill>
        <p:spPr>
          <a:xfrm xmlns:a="http://schemas.openxmlformats.org/drawingml/2006/main">
            <a:off x="4000500" y="2064246"/>
            <a:ext cx="4524375" cy="2205633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2E33017B-C6D7-4BA1-A733-F27D90DB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48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Stationary means the same lag pattern can be reused later.</a:t>
            </a:r>
          </a:p>
        </p:txBody>
      </p:sp>
      <p:sp>
        <p:nvSpPr>
          <p:cNvPr id="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5C1748E3-B3E0-4E6A-B367-49173F5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If the data-generating behaviour changes, the old model may no longer be valid.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8" y="1952625"/>
            <a:ext cx="821817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2. Define exactly what must be forecast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e4a1d9ebd4d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Write the forecasting question before choosing a model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2B2E8114-D4F9-46F0-B4E1-7810666D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F87A6321-6268-45A0-8FD8-A7B563B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809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42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What: </a:t>
            </a:r>
            <a:r>
              <a:rPr sz="14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which quantity or event must be predicted?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42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42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When: </a:t>
            </a:r>
            <a:r>
              <a:rPr sz="14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one step ahead, ten seconds ahead, or the whole future path?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42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42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Known inputs: </a:t>
            </a:r>
            <a:r>
              <a:rPr sz="142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which measurements and planned inputs truly exist at prediction time?</a:t>
            </a:r>
          </a:p>
        </p:txBody>
      </p:sp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e9f564ced49d7"/>
          <a:stretch xmlns:a="http://schemas.openxmlformats.org/drawingml/2006/main"/>
        </p:blipFill>
        <p:spPr>
          <a:xfrm xmlns:a="http://schemas.openxmlformats.org/drawingml/2006/main">
            <a:off x="3857625" y="2171851"/>
            <a:ext cx="4619625" cy="1466548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92064059-0FCC-43DC-9384-16DEADF2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414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past measurements + known future inputs → forecast h steps ahead</a:t>
            </a:r>
          </a:p>
        </p:txBody>
      </p:sp>
      <p:sp>
        <p:nvSpPr>
          <p:cNvPr id="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708F021-D8F0-425A-B8EB-7F9D1287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A model can only use information that exists when the forecast is made.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Train on earlier data and test on later data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202" name="Picture 2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83ad198714408"/>
          <a:stretch xmlns:a="http://schemas.openxmlformats.org/drawingml/2006/main"/>
        </p:blipFill>
        <p:spPr>
          <a:xfrm xmlns:a="http://schemas.openxmlformats.org/drawingml/2006/main">
            <a:off x="1666875" y="1476375"/>
            <a:ext cx="5810250" cy="2905125"/>
          </a:xfrm>
          <a:prstGeom xmlns:a="http://schemas.openxmlformats.org/drawingml/2006/main" prst="rect">
            <a:avLst/>
          </a:prstGeom>
        </p:spPr>
      </p:pic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85B7F4A-CCDD-4480-88FF-E6788A06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17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Keep time order: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each test period occurs after its training period.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Leave a gap: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use one when filters or windows overlap.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Repeat preprocessing: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fit scaling and feature selection using training data only.</a:t>
            </a:r>
          </a:p>
        </p:txBody>
      </p:sp>
      <p:sp>
        <p:nvSpPr>
          <p:cNvPr id="19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22463AE6-624A-4B48-AC25-ABB3F0C7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The final test period is an untouched piece of the future.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Simple forecasts are the first models to beat</a:t>
            </a:r>
          </a:p>
        </p:txBody>
      </p:sp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010278d6b4ed1"/>
          <a:stretch xmlns:a="http://schemas.openxmlformats.org/drawingml/2006/main"/>
        </p:blipFill>
        <p:spPr>
          <a:xfrm xmlns:a="http://schemas.openxmlformats.org/drawingml/2006/main">
            <a:off x="762000" y="1381125"/>
            <a:ext cx="762000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93BF35B-59FF-477E-87CF-EAFF0668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6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MEAN: long-run average     NAÏVE: last value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SEASONAL NAÏVE: last cycle     DRIFT: straight-line trend</a:t>
            </a:r>
          </a:p>
        </p:txBody>
      </p:sp>
      <p:sp>
        <p:nvSpPr>
          <p:cNvPr id="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98AC90AA-4CD1-4F72-99F1-04F66842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An advanced model is useful only if it beats these baselines on future data.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Choose the error measure from the cost of a mistake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DCD91C14-9074-4382-B663-94124D04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91C507CF-CDA5-4F73-851C-81DE5B5B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85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Mean Absolute Error (MAE):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average size of the error.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Root Mean Squared Error (RMSE):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gives extra weight to large errors.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Mean Absolute Scaled Error (MASE):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compares the model with a naïve forecast.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Quantile loss: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useful when under- and over-prediction have different costs.</a:t>
            </a:r>
          </a:p>
        </p:txBody>
      </p:sp>
      <p:pic>
        <p:nvPicPr>
          <p:cNvPr id="205" name="Picture 2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e65fc6909400d"/>
          <a:stretch xmlns:a="http://schemas.openxmlformats.org/drawingml/2006/main"/>
        </p:blipFill>
        <p:spPr>
          <a:xfrm xmlns:a="http://schemas.openxmlformats.org/drawingml/2006/main">
            <a:off x="4000500" y="1951420"/>
            <a:ext cx="4476750" cy="2764660"/>
          </a:xfrm>
          <a:prstGeom xmlns:a="http://schemas.openxmlformats.org/drawingml/2006/main" prst="rect">
            <a:avLst/>
          </a:prstGeom>
        </p:spPr>
      </p:pic>
      <p:sp>
        <p:nvSpPr>
          <p:cNvPr id="20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D2E3814A-392F-4AD6-8B36-B702533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Show error separately for each forecast horizon and operating condition.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Example: forecast machine vibration 1–10 seconds ahead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2D641FDD-5711-407B-94D0-FA7C83AB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3C09403A-67A9-49D7-B4E5-B2EEBD08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4524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Output: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future vibration level and probability of crossing an alarm.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Inputs: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recent acceleration, speed, load, planned control and sensor health.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Test: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train on earlier runs; hold out a later run, machine or operating condition.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Compare: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naïve and Autoregressive (AR) baselines; report error and interval coverage.</a:t>
            </a:r>
          </a:p>
        </p:txBody>
      </p:sp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a822a36b144a5"/>
          <a:srcRect xmlns:a="http://schemas.openxmlformats.org/drawingml/2006/main" l="6589" t="0" r="65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28750"/>
            <a:ext cx="26670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D2C93FE-F82A-4670-8C33-4A688DB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The intended decision determines the output, inputs, test and metric.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Fourier analysis can forecast stable cycles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836D1B33-0E58-442F-B793-182A6645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1. OBSERVE THE SIGNAL</a:t>
            </a:r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5944229D-9C05-426F-A63E-3136ACDA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2. FIND DOMINANT FREQUENCIES</a:t>
            </a:r>
          </a:p>
        </p:txBody>
      </p:sp>
      <p:sp>
        <p:nvSpPr>
          <p:cNvPr id="19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D58001D-115A-4C9F-A187-D0A8DCE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3. CONTINUE THEIR PHASE</a:t>
            </a:r>
          </a:p>
        </p:txBody>
      </p:sp>
      <p:graphicFrame>
        <p:nvGraphicFramePr>
          <p:cNvPr id="222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2238375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07973568af4247"/>
          </a:graphicData>
        </a:graphic>
      </p:graphicFrame>
      <p:sp>
        <p:nvSpPr>
          <p:cNvPr id="201" name="Spectrum frame">
            <a:extLst xmlns:a="http://schemas.openxmlformats.org/drawingml/2006/main">
              <a:ext uri="{FF2B5EF4-FFF2-40B4-BE49-F238E27FC236}">
                <a16:creationId xmlns:a16="http://schemas.microsoft.com/office/drawing/2014/main" id="{F9BA8479-EC59-40BC-BC78-F412D6A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238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9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" name="Spectral amplitude 1">
            <a:extLst xmlns:a="http://schemas.openxmlformats.org/drawingml/2006/main">
              <a:ext uri="{FF2B5EF4-FFF2-40B4-BE49-F238E27FC236}">
                <a16:creationId xmlns:a16="http://schemas.microsoft.com/office/drawing/2014/main" id="{7EA1FAEC-FC66-4554-86B0-953700AB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0">
            <a:solidFill>
              <a:srgbClr val="EE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3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2D759772-93E5-4E1B-BF93-B9E5CD93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f1</a:t>
            </a:r>
          </a:p>
        </p:txBody>
      </p:sp>
      <p:sp>
        <p:nvSpPr>
          <p:cNvPr id="204" name="Spectral amplitude 2">
            <a:extLst xmlns:a="http://schemas.openxmlformats.org/drawingml/2006/main">
              <a:ext uri="{FF2B5EF4-FFF2-40B4-BE49-F238E27FC236}">
                <a16:creationId xmlns:a16="http://schemas.microsoft.com/office/drawing/2014/main" id="{E94F8DF2-98B9-417A-80AB-C6784A15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190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A188CE9-207F-4317-B063-E9BA74DB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624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f2</a:t>
            </a:r>
          </a:p>
        </p:txBody>
      </p:sp>
      <p:sp>
        <p:nvSpPr>
          <p:cNvPr id="206" name="Spectral amplitude 3">
            <a:extLst xmlns:a="http://schemas.openxmlformats.org/drawingml/2006/main">
              <a:ext uri="{FF2B5EF4-FFF2-40B4-BE49-F238E27FC236}">
                <a16:creationId xmlns:a16="http://schemas.microsoft.com/office/drawing/2014/main" id="{B4749D70-8D06-4247-8F3C-0DFF0C1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0">
            <a:solidFill>
              <a:srgbClr val="EE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A3BBB5C7-787C-42A9-889C-60EE005C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f3</a:t>
            </a:r>
          </a:p>
        </p:txBody>
      </p:sp>
      <p:sp>
        <p:nvSpPr>
          <p:cNvPr id="208" name="Spectral amplitude 4">
            <a:extLst xmlns:a="http://schemas.openxmlformats.org/drawingml/2006/main">
              <a:ext uri="{FF2B5EF4-FFF2-40B4-BE49-F238E27FC236}">
                <a16:creationId xmlns:a16="http://schemas.microsoft.com/office/drawing/2014/main" id="{4606F8F9-1F7B-4ECD-A1E3-A50F5EC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7550"/>
            <a:ext cx="19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619964B9-3436-46A5-A9F9-BA42D23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f4</a:t>
            </a:r>
          </a:p>
        </p:txBody>
      </p:sp>
      <p:sp>
        <p:nvSpPr>
          <p:cNvPr id="210" name="Spectral amplitude 5">
            <a:extLst xmlns:a="http://schemas.openxmlformats.org/drawingml/2006/main">
              <a:ext uri="{FF2B5EF4-FFF2-40B4-BE49-F238E27FC236}">
                <a16:creationId xmlns:a16="http://schemas.microsoft.com/office/drawing/2014/main" id="{79C4E996-EF3A-43D3-A492-520D53B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909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0">
            <a:solidFill>
              <a:srgbClr val="EE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1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05C6D489-E67B-49B6-BD82-E331C68E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f5</a:t>
            </a:r>
          </a:p>
        </p:txBody>
      </p:sp>
      <p:graphicFrame>
        <p:nvGraphicFramePr>
          <p:cNvPr id="234" name="Chart"/>
          <p:cNvGraphicFramePr/>
          <p:nvPr/>
        </p:nvGraphicFramePr>
        <p:xfrm>
          <a:off xmlns:a="http://schemas.openxmlformats.org/drawingml/2006/main" x="6334125" y="1952625"/>
          <a:ext xmlns:a="http://schemas.openxmlformats.org/drawingml/2006/main" cx="2238375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4ed1d33feb4237"/>
          </a:graphicData>
        </a:graphic>
      </p:graphicFrame>
      <p:sp>
        <p:nvSpPr>
          <p:cNvPr id="213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4EA9034-20A2-4012-8D15-050B85A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76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4B1B68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B1B68"/>
                </a:solidFill>
                <a:latin typeface="Cambria Math"/>
                <a:ea typeface="Cambria Math"/>
                <a:cs typeface="Cambria Math"/>
              </a:rPr>
              <a:t>ŷₜ₊ₕ = Σₖ Âₖ cos[2πfₖ(t+h)+φ̂ₖ]</a:t>
            </a:r>
          </a:p>
        </p:txBody>
      </p:sp>
      <p:sp>
        <p:nvSpPr>
          <p:cNvPr id="21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3D21EAE2-C790-4F67-8A92-ED61DB9B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714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801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16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6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Works when: </a:t>
            </a:r>
            <a:r>
              <a:rPr sz="116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frequencies and phase remain stable.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16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16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6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Fails when: </a:t>
            </a:r>
            <a:r>
              <a:rPr sz="116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amplitude, frequency or operating regime drifts.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16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16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6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Hybrid: </a:t>
            </a:r>
            <a:r>
              <a:rPr sz="116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harmonic terms model periodic structure; Autoregressive (AR), Gaussian Process (GP) or neural models capture the residual.</a:t>
            </a:r>
          </a:p>
        </p:txBody>
      </p:sp>
      <p:sp>
        <p:nvSpPr>
          <p:cNvPr id="21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A8B1CF1D-41B7-4911-BBA5-95AB80A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Use the Fast Fourier Transform (FFT) to find cycles; extrapolate them only if the cycles remain stable.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An autoregressive model predicts from recent values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3fa2725fc4f04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Autoregressive fitting is regression on lagged values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dd806700340d5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Estimate autoregressive weights by least squares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c965ce38341fb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A four-lag autoregressive model cuts residual variance by 80%</a:t>
            </a:r>
            <a:endParaRPr b="0"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200" name="Chart"/>
          <p:cNvGraphicFramePr/>
          <p:nvPr/>
        </p:nvGraphicFramePr>
        <p:xfrm>
          <a:off xmlns:a="http://schemas.openxmlformats.org/drawingml/2006/main" x="457200" y="1571625"/>
          <a:ext xmlns:a="http://schemas.openxmlformats.org/drawingml/2006/main" cx="4095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212afbb0d443a9"/>
          </a:graphicData>
        </a:graphic>
      </p:graphicFrame>
      <p:graphicFrame>
        <p:nvGraphicFramePr>
          <p:cNvPr id="201" name="Chart"/>
          <p:cNvGraphicFramePr/>
          <p:nvPr/>
        </p:nvGraphicFramePr>
        <p:xfrm>
          <a:off xmlns:a="http://schemas.openxmlformats.org/drawingml/2006/main" x="4705350" y="1571625"/>
          <a:ext xmlns:a="http://schemas.openxmlformats.org/drawingml/2006/main" cx="39814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5bd3049a25421f"/>
          </a:graphicData>
        </a:graphic>
      </p:graphicFrame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Repeat the autoregressive model to forecast several steps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d454b1ca240e6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8" y="1952625"/>
            <a:ext cx="821817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3. Choose a model that matches the data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6b4edfa9344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Start simple; add complexity only when the data need it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9E1C4880-089B-4A98-8084-C27311D8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8F4788E-9FD2-4372-9ED7-2542021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714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282"/>
          </a:bodyPr>
          <a:lstStyle xmlns:a="http://schemas.openxmlformats.org/drawingml/2006/main"/>
          <a:p xmlns:a="http://schemas.openxmlformats.org/drawingml/2006/main">
            <a:pPr marL="16" indent="-9"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Classical: </a:t>
            </a: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Error–Trend–Seasonal, Autoregressive Integrated Moving Average, Vector Autoregression and state-space models: strong with limited data and clear structure.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6" indent="-9"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Gaussian Process: </a:t>
            </a: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smooth nonlinear forecast with uncertainty.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6" indent="-9"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Sequence models: </a:t>
            </a: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Temporal Convolutional Network, Recurrent Neural Network, Long Short-Term Memory, Gated Recurrent Unit and Deep Autoregressive models learn from ordered windows.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6" indent="-9">
              <a:lnSpc>
                <a:spcPct val="104000"/>
              </a:lnSpc>
              <a:buNone/>
              <a:defRPr sz="105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Newer models: </a:t>
            </a:r>
            <a:r>
              <a:rPr sz="105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Neural Basis Expansion, Neural Hierarchical Interpolation, Temporal Fusion Transformer and Patch Time-Series Transformer target longer or multivariate forecasts.</a:t>
            </a:r>
          </a:p>
        </p:txBody>
      </p:sp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65e5243b44915"/>
          <a:stretch xmlns:a="http://schemas.openxmlformats.org/drawingml/2006/main"/>
        </p:blipFill>
        <p:spPr>
          <a:xfrm xmlns:a="http://schemas.openxmlformats.org/drawingml/2006/main">
            <a:off x="3714750" y="2369344"/>
            <a:ext cx="4762500" cy="1785938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B593A7D4-BA24-4C3B-B7F9-A249994C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Random forests and boosting can use lagged features, but they do not model sequence order directly.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938" b="1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Diagram: CNN = convolutional neural network; RNN = recurrent neural network; TCN = temporal convolutional network.</a:t>
            </a:r>
          </a:p>
        </p:txBody>
      </p:sp>
      <p:sp>
        <p:nvSpPr>
          <p:cNvPr id="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651301C-20A9-48FE-B78E-AFCA7CF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Choose the simplest model that meets the accuracy, horizon and uncertainty needs.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Classical models are strong when the structure is clear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713E1FFA-43EA-44C4-9F93-9D079F7B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D7BE431-41F7-41D2-AB92-C99CF9C4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429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Error–Trend–Seasonal (ETS): </a:t>
            </a: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updates level, trend and seasonality.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Autoregressive Integrated Moving Average (ARIMA): </a:t>
            </a: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models dependence between recent values and past errors.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Vector Autoregression (VAR): </a:t>
            </a: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models several interacting signals.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75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State-space model: </a:t>
            </a:r>
            <a:r>
              <a:rPr sz="1275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estimates a hidden system state from noisy measurements.</a:t>
            </a:r>
          </a:p>
        </p:txBody>
      </p:sp>
      <p:pic>
        <p:nvPicPr>
          <p:cNvPr id="205" name="Picture 2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e837288924446"/>
          <a:stretch xmlns:a="http://schemas.openxmlformats.org/drawingml/2006/main"/>
        </p:blipFill>
        <p:spPr>
          <a:xfrm xmlns:a="http://schemas.openxmlformats.org/drawingml/2006/main">
            <a:off x="4572000" y="1888912"/>
            <a:ext cx="3905250" cy="3318300"/>
          </a:xfrm>
          <a:prstGeom xmlns:a="http://schemas.openxmlformats.org/drawingml/2006/main" prst="rect">
            <a:avLst/>
          </a:prstGeom>
        </p:spPr>
      </p:pic>
      <p:sp>
        <p:nvSpPr>
          <p:cNvPr id="20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594AF8F1-07EF-403B-B935-BE1463CA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These models are interpretable, data-efficient and often difficult to beat.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State-space models estimate a hidden system state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ce3678fa04d19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Vector autoregression models interacting time series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d46438a734145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978" y="236411"/>
            <a:ext cx="638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Granger testing asks whether one signal improves prediction of another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199" name="Picture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596c15ca7450e"/>
          <a:stretch xmlns:a="http://schemas.openxmlformats.org/drawingml/2006/main"/>
        </p:blipFill>
        <p:spPr>
          <a:xfrm xmlns:a="http://schemas.openxmlformats.org/drawingml/2006/main">
            <a:off x="404600" y="1428750"/>
            <a:ext cx="833480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 Gaussian process predicts a curve and its uncertainty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E0A8D611-CD85-4E4B-8229-0CA988F1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97C5A53-6B92-4362-9C35-3E72DA9E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>
                <a:solidFill>
                  <a:srgbClr val="4B1B6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4B1B68"/>
                </a:solidFill>
                <a:latin typeface="Cambria Math"/>
                <a:ea typeface="Cambria Math"/>
                <a:cs typeface="Cambria Math"/>
              </a:rPr>
              <a:t>Gaussian process (GP) notation:  f(t) ~ GP(m(t), k(t,t′))</a:t>
            </a:r>
          </a:p>
        </p:txBody>
      </p:sp>
      <p:sp>
        <p:nvSpPr>
          <p:cNvPr id="19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3F37FB8C-E804-4290-99FF-28BC6BBE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857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Prior: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before seeing data, specify what kinds of functions are plausible.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Kernel: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defines how similarity falls with time and how periodicity repeats.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Posterior: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after seeing data, update the mean forecast and uncertainty band.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Limit: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exact Gaussian-process training becomes expensive for very long series.</a:t>
            </a:r>
          </a:p>
        </p:txBody>
      </p:sp>
      <p:pic>
        <p:nvPicPr>
          <p:cNvPr id="208" name="Picture 2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18983b22248d6"/>
          <a:stretch xmlns:a="http://schemas.openxmlformats.org/drawingml/2006/main"/>
        </p:blipFill>
        <p:spPr>
          <a:xfrm xmlns:a="http://schemas.openxmlformats.org/drawingml/2006/main">
            <a:off x="4000500" y="1750219"/>
            <a:ext cx="4476750" cy="3357563"/>
          </a:xfrm>
          <a:prstGeom xmlns:a="http://schemas.openxmlformats.org/drawingml/2006/main" prst="rect">
            <a:avLst/>
          </a:prstGeom>
        </p:spPr>
      </p:pic>
      <p:sp>
        <p:nvSpPr>
          <p:cNvPr id="201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0FB4C040-B392-4C4C-AB8B-16A0019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721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4B1B68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>
                <a:solidFill>
                  <a:srgbClr val="4B1B68"/>
                </a:solidFill>
                <a:latin typeface="Cambria Math"/>
                <a:ea typeface="Cambria Math"/>
                <a:cs typeface="Cambria Math"/>
              </a:rPr>
              <a:t>μ* = K*ᵀ(K+σ²I)⁻¹y     Σ* = K** − K*ᵀ(K+σ²I)⁻¹K*</a:t>
            </a:r>
          </a:p>
        </p:txBody>
      </p:sp>
      <p:sp>
        <p:nvSpPr>
          <p:cNvPr id="202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BAC421D2-EB9E-41D2-85C3-2E17E5E2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Gaussian processes suit small-to-medium scientific datasets where uncertainty is important.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 temporal convolutional network combines patterns across the past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955C1E9-6346-4F75-8130-0414EE91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d = 4</a:t>
            </a:r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FCB4B730-303B-4A22-95A6-A76072EE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d = 2</a:t>
            </a:r>
          </a:p>
        </p:txBody>
      </p:sp>
      <p:sp>
        <p:nvSpPr>
          <p:cNvPr id="19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374390F9-B530-4DE7-AC12-214C262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d = 1</a:t>
            </a:r>
          </a:p>
        </p:txBody>
      </p:sp>
      <p:sp>
        <p:nvSpPr>
          <p:cNvPr id="20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36DECF5-211F-4F75-8DD2-271BA33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201" name="TCN node t−7">
            <a:extLst xmlns:a="http://schemas.openxmlformats.org/drawingml/2006/main">
              <a:ext uri="{FF2B5EF4-FFF2-40B4-BE49-F238E27FC236}">
                <a16:creationId xmlns:a16="http://schemas.microsoft.com/office/drawing/2014/main" id="{E98643F5-B53E-4759-AF77-F58F9EAD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t−7</a:t>
            </a:r>
          </a:p>
        </p:txBody>
      </p:sp>
      <p:sp>
        <p:nvSpPr>
          <p:cNvPr id="202" name="TCN node t−6">
            <a:extLst xmlns:a="http://schemas.openxmlformats.org/drawingml/2006/main">
              <a:ext uri="{FF2B5EF4-FFF2-40B4-BE49-F238E27FC236}">
                <a16:creationId xmlns:a16="http://schemas.microsoft.com/office/drawing/2014/main" id="{6D3B9125-8083-4C44-B616-30EA4153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t−6</a:t>
            </a:r>
          </a:p>
        </p:txBody>
      </p:sp>
      <p:sp>
        <p:nvSpPr>
          <p:cNvPr id="203" name="TCN node t−5">
            <a:extLst xmlns:a="http://schemas.openxmlformats.org/drawingml/2006/main">
              <a:ext uri="{FF2B5EF4-FFF2-40B4-BE49-F238E27FC236}">
                <a16:creationId xmlns:a16="http://schemas.microsoft.com/office/drawing/2014/main" id="{F554B232-0069-4712-BEC7-E3598D8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t−5</a:t>
            </a:r>
          </a:p>
        </p:txBody>
      </p:sp>
      <p:sp>
        <p:nvSpPr>
          <p:cNvPr id="204" name="TCN node t−4">
            <a:extLst xmlns:a="http://schemas.openxmlformats.org/drawingml/2006/main">
              <a:ext uri="{FF2B5EF4-FFF2-40B4-BE49-F238E27FC236}">
                <a16:creationId xmlns:a16="http://schemas.microsoft.com/office/drawing/2014/main" id="{8D0B0EA6-26C6-452F-B9B9-90B88DF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t−4</a:t>
            </a:r>
          </a:p>
        </p:txBody>
      </p:sp>
      <p:sp>
        <p:nvSpPr>
          <p:cNvPr id="205" name="TCN node t−3">
            <a:extLst xmlns:a="http://schemas.openxmlformats.org/drawingml/2006/main">
              <a:ext uri="{FF2B5EF4-FFF2-40B4-BE49-F238E27FC236}">
                <a16:creationId xmlns:a16="http://schemas.microsoft.com/office/drawing/2014/main" id="{BDCCDF42-DADB-41D4-A582-035DF462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t−3</a:t>
            </a:r>
          </a:p>
        </p:txBody>
      </p:sp>
      <p:sp>
        <p:nvSpPr>
          <p:cNvPr id="206" name="TCN node t−2">
            <a:extLst xmlns:a="http://schemas.openxmlformats.org/drawingml/2006/main">
              <a:ext uri="{FF2B5EF4-FFF2-40B4-BE49-F238E27FC236}">
                <a16:creationId xmlns:a16="http://schemas.microsoft.com/office/drawing/2014/main" id="{9614A47A-EB12-4F3E-AA3C-A57BE5C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t−2</a:t>
            </a:r>
          </a:p>
        </p:txBody>
      </p:sp>
      <p:sp>
        <p:nvSpPr>
          <p:cNvPr id="207" name="TCN node t−1">
            <a:extLst xmlns:a="http://schemas.openxmlformats.org/drawingml/2006/main">
              <a:ext uri="{FF2B5EF4-FFF2-40B4-BE49-F238E27FC236}">
                <a16:creationId xmlns:a16="http://schemas.microsoft.com/office/drawing/2014/main" id="{18C5F098-1029-4E99-BC03-7551A47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t−1</a:t>
            </a:r>
          </a:p>
        </p:txBody>
      </p:sp>
      <p:sp>
        <p:nvSpPr>
          <p:cNvPr id="208" name="TCN node t">
            <a:extLst xmlns:a="http://schemas.openxmlformats.org/drawingml/2006/main">
              <a:ext uri="{FF2B5EF4-FFF2-40B4-BE49-F238E27FC236}">
                <a16:creationId xmlns:a16="http://schemas.microsoft.com/office/drawing/2014/main" id="{E770C15C-493B-4736-A8B1-401BC42A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62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209" name="TCN node ">
            <a:extLst xmlns:a="http://schemas.openxmlformats.org/drawingml/2006/main">
              <a:ext uri="{FF2B5EF4-FFF2-40B4-BE49-F238E27FC236}">
                <a16:creationId xmlns:a16="http://schemas.microsoft.com/office/drawing/2014/main" id="{362953B4-73F9-48E0-9D70-48BE4FF6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0" name="TCN node ">
            <a:extLst xmlns:a="http://schemas.openxmlformats.org/drawingml/2006/main">
              <a:ext uri="{FF2B5EF4-FFF2-40B4-BE49-F238E27FC236}">
                <a16:creationId xmlns:a16="http://schemas.microsoft.com/office/drawing/2014/main" id="{84E07AAE-E458-4EB1-8792-9A701F48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1" name="TCN node ">
            <a:extLst xmlns:a="http://schemas.openxmlformats.org/drawingml/2006/main">
              <a:ext uri="{FF2B5EF4-FFF2-40B4-BE49-F238E27FC236}">
                <a16:creationId xmlns:a16="http://schemas.microsoft.com/office/drawing/2014/main" id="{7F7A316B-611E-48BD-B729-BA03F4D8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2" name="TCN node ">
            <a:extLst xmlns:a="http://schemas.openxmlformats.org/drawingml/2006/main">
              <a:ext uri="{FF2B5EF4-FFF2-40B4-BE49-F238E27FC236}">
                <a16:creationId xmlns:a16="http://schemas.microsoft.com/office/drawing/2014/main" id="{2B572226-E884-4306-9AC8-835F6AC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3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3" name="TCN node ">
            <a:extLst xmlns:a="http://schemas.openxmlformats.org/drawingml/2006/main">
              <a:ext uri="{FF2B5EF4-FFF2-40B4-BE49-F238E27FC236}">
                <a16:creationId xmlns:a16="http://schemas.microsoft.com/office/drawing/2014/main" id="{0A843C27-EE89-43B4-902F-C876501D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38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7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4" name="TCN node ">
            <a:extLst xmlns:a="http://schemas.openxmlformats.org/drawingml/2006/main">
              <a:ext uri="{FF2B5EF4-FFF2-40B4-BE49-F238E27FC236}">
                <a16:creationId xmlns:a16="http://schemas.microsoft.com/office/drawing/2014/main" id="{6A4D6048-C59E-44B1-98C6-0D76845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7"/>
          </a:solidFill>
          <a:ln xmlns:a="http://schemas.openxmlformats.org/drawingml/2006/main" w="14288">
            <a:solidFill>
              <a:srgbClr val="6B2C91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5" name="TCN node ŷₜ">
            <a:extLst xmlns:a="http://schemas.openxmlformats.org/drawingml/2006/main">
              <a:ext uri="{FF2B5EF4-FFF2-40B4-BE49-F238E27FC236}">
                <a16:creationId xmlns:a16="http://schemas.microsoft.com/office/drawing/2014/main" id="{247660A5-FFA5-4549-A42B-682FF11D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76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5"/>
          </a:solidFill>
          <a:ln xmlns:a="http://schemas.openxmlformats.org/drawingml/2006/main" w="14288">
            <a:solidFill>
              <a:srgbClr val="E07A2D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ŷₜ</a:t>
            </a:r>
          </a:p>
        </p:txBody>
      </p:sp>
      <p:cxnSp>
        <p:nvCxnSpPr>
          <p:cNvPr id="389" name="Straight Arrow Connector 252"/>
          <p:cNvCxnSpPr>
            <a:stCxn xmlns:a="http://schemas.openxmlformats.org/drawingml/2006/main" id="201" idx="0"/>
            <a:endCxn xmlns:a="http://schemas.openxmlformats.org/drawingml/2006/main" id="209" idx="4"/>
          </p:cNvCxnSpPr>
          <p:nvPr/>
        </p:nvCxnSpPr>
        <p:spPr>
          <a:xfrm xmlns:a="http://schemas.openxmlformats.org/drawingml/2006/main" flipV="1">
            <a:off x="1609725" y="3362325"/>
            <a:ext cx="4381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0" name="Straight Arrow Connector 253"/>
          <p:cNvCxnSpPr>
            <a:stCxn xmlns:a="http://schemas.openxmlformats.org/drawingml/2006/main" id="202" idx="0"/>
            <a:endCxn xmlns:a="http://schemas.openxmlformats.org/drawingml/2006/main" id="209" idx="4"/>
          </p:cNvCxnSpPr>
          <p:nvPr/>
        </p:nvCxnSpPr>
        <p:spPr>
          <a:xfrm xmlns:a="http://schemas.openxmlformats.org/drawingml/2006/main" flipH="1" flipV="1">
            <a:off x="2047875" y="3362325"/>
            <a:ext cx="4381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1" name="Straight Arrow Connector 254"/>
          <p:cNvCxnSpPr>
            <a:stCxn xmlns:a="http://schemas.openxmlformats.org/drawingml/2006/main" id="203" idx="0"/>
            <a:endCxn xmlns:a="http://schemas.openxmlformats.org/drawingml/2006/main" id="210" idx="4"/>
          </p:cNvCxnSpPr>
          <p:nvPr/>
        </p:nvCxnSpPr>
        <p:spPr>
          <a:xfrm xmlns:a="http://schemas.openxmlformats.org/drawingml/2006/main" flipH="1" flipV="1">
            <a:off x="2924175" y="3362325"/>
            <a:ext cx="4381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2" name="Straight Arrow Connector 255"/>
          <p:cNvCxnSpPr>
            <a:stCxn xmlns:a="http://schemas.openxmlformats.org/drawingml/2006/main" id="204" idx="0"/>
            <a:endCxn xmlns:a="http://schemas.openxmlformats.org/drawingml/2006/main" id="210" idx="4"/>
          </p:cNvCxnSpPr>
          <p:nvPr/>
        </p:nvCxnSpPr>
        <p:spPr>
          <a:xfrm xmlns:a="http://schemas.openxmlformats.org/drawingml/2006/main" flipH="1" flipV="1">
            <a:off x="2924175" y="3362325"/>
            <a:ext cx="13144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3" name="Straight Arrow Connector 256"/>
          <p:cNvCxnSpPr>
            <a:stCxn xmlns:a="http://schemas.openxmlformats.org/drawingml/2006/main" id="205" idx="0"/>
            <a:endCxn xmlns:a="http://schemas.openxmlformats.org/drawingml/2006/main" id="211" idx="4"/>
          </p:cNvCxnSpPr>
          <p:nvPr/>
        </p:nvCxnSpPr>
        <p:spPr>
          <a:xfrm xmlns:a="http://schemas.openxmlformats.org/drawingml/2006/main" flipH="1" flipV="1">
            <a:off x="3800475" y="3362325"/>
            <a:ext cx="13144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4" name="Straight Arrow Connector 257"/>
          <p:cNvCxnSpPr>
            <a:stCxn xmlns:a="http://schemas.openxmlformats.org/drawingml/2006/main" id="206" idx="0"/>
            <a:endCxn xmlns:a="http://schemas.openxmlformats.org/drawingml/2006/main" id="211" idx="4"/>
          </p:cNvCxnSpPr>
          <p:nvPr/>
        </p:nvCxnSpPr>
        <p:spPr>
          <a:xfrm xmlns:a="http://schemas.openxmlformats.org/drawingml/2006/main" flipH="1" flipV="1">
            <a:off x="3800475" y="3362325"/>
            <a:ext cx="21907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5" name="Straight Arrow Connector 258"/>
          <p:cNvCxnSpPr>
            <a:stCxn xmlns:a="http://schemas.openxmlformats.org/drawingml/2006/main" id="207" idx="0"/>
            <a:endCxn xmlns:a="http://schemas.openxmlformats.org/drawingml/2006/main" id="212" idx="4"/>
          </p:cNvCxnSpPr>
          <p:nvPr/>
        </p:nvCxnSpPr>
        <p:spPr>
          <a:xfrm xmlns:a="http://schemas.openxmlformats.org/drawingml/2006/main" flipH="1" flipV="1">
            <a:off x="4676775" y="3362325"/>
            <a:ext cx="21907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6" name="Straight Arrow Connector 259"/>
          <p:cNvCxnSpPr>
            <a:stCxn xmlns:a="http://schemas.openxmlformats.org/drawingml/2006/main" id="208" idx="0"/>
            <a:endCxn xmlns:a="http://schemas.openxmlformats.org/drawingml/2006/main" id="212" idx="4"/>
          </p:cNvCxnSpPr>
          <p:nvPr/>
        </p:nvCxnSpPr>
        <p:spPr>
          <a:xfrm xmlns:a="http://schemas.openxmlformats.org/drawingml/2006/main" flipH="1" flipV="1">
            <a:off x="4676775" y="3362325"/>
            <a:ext cx="30670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A4C5"/>
            </a:solidFill>
            <a:prstDash val="solid"/>
          </a:ln>
        </p:spPr>
      </p:cxnSp>
      <p:cxnSp>
        <p:nvCxnSpPr>
          <p:cNvPr id="397" name="Straight Arrow Connector 260"/>
          <p:cNvCxnSpPr>
            <a:stCxn xmlns:a="http://schemas.openxmlformats.org/drawingml/2006/main" id="209" idx="0"/>
            <a:endCxn xmlns:a="http://schemas.openxmlformats.org/drawingml/2006/main" id="213" idx="4"/>
          </p:cNvCxnSpPr>
          <p:nvPr/>
        </p:nvCxnSpPr>
        <p:spPr>
          <a:xfrm xmlns:a="http://schemas.openxmlformats.org/drawingml/2006/main" flipV="1">
            <a:off x="2047875" y="2600325"/>
            <a:ext cx="8763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2C91"/>
            </a:solidFill>
            <a:prstDash val="solid"/>
          </a:ln>
        </p:spPr>
      </p:cxnSp>
      <p:cxnSp>
        <p:nvCxnSpPr>
          <p:cNvPr id="398" name="Straight Arrow Connector 261"/>
          <p:cNvCxnSpPr>
            <a:stCxn xmlns:a="http://schemas.openxmlformats.org/drawingml/2006/main" id="210" idx="0"/>
            <a:endCxn xmlns:a="http://schemas.openxmlformats.org/drawingml/2006/main" id="213" idx="4"/>
          </p:cNvCxnSpPr>
          <p:nvPr/>
        </p:nvCxnSpPr>
        <p:spPr>
          <a:xfrm xmlns:a="http://schemas.openxmlformats.org/drawingml/2006/main" flipV="1">
            <a:off x="2924175" y="260032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2C91"/>
            </a:solidFill>
            <a:prstDash val="solid"/>
          </a:ln>
        </p:spPr>
      </p:cxnSp>
      <p:cxnSp>
        <p:nvCxnSpPr>
          <p:cNvPr id="399" name="Straight Arrow Connector 262"/>
          <p:cNvCxnSpPr>
            <a:stCxn xmlns:a="http://schemas.openxmlformats.org/drawingml/2006/main" id="211" idx="0"/>
            <a:endCxn xmlns:a="http://schemas.openxmlformats.org/drawingml/2006/main" id="214" idx="4"/>
          </p:cNvCxnSpPr>
          <p:nvPr/>
        </p:nvCxnSpPr>
        <p:spPr>
          <a:xfrm xmlns:a="http://schemas.openxmlformats.org/drawingml/2006/main" flipV="1">
            <a:off x="3800475" y="2600325"/>
            <a:ext cx="26289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2C91"/>
            </a:solidFill>
            <a:prstDash val="solid"/>
          </a:ln>
        </p:spPr>
      </p:cxnSp>
      <p:cxnSp>
        <p:nvCxnSpPr>
          <p:cNvPr id="400" name="Straight Arrow Connector 263"/>
          <p:cNvCxnSpPr>
            <a:stCxn xmlns:a="http://schemas.openxmlformats.org/drawingml/2006/main" id="212" idx="0"/>
            <a:endCxn xmlns:a="http://schemas.openxmlformats.org/drawingml/2006/main" id="214" idx="4"/>
          </p:cNvCxnSpPr>
          <p:nvPr/>
        </p:nvCxnSpPr>
        <p:spPr>
          <a:xfrm xmlns:a="http://schemas.openxmlformats.org/drawingml/2006/main" flipV="1">
            <a:off x="4676775" y="2600325"/>
            <a:ext cx="17526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2C91"/>
            </a:solidFill>
            <a:prstDash val="solid"/>
          </a:ln>
        </p:spPr>
      </p:cxnSp>
      <p:cxnSp>
        <p:nvCxnSpPr>
          <p:cNvPr id="401" name="Straight Arrow Connector 264"/>
          <p:cNvCxnSpPr>
            <a:stCxn xmlns:a="http://schemas.openxmlformats.org/drawingml/2006/main" id="213" idx="0"/>
            <a:endCxn xmlns:a="http://schemas.openxmlformats.org/drawingml/2006/main" id="215" idx="4"/>
          </p:cNvCxnSpPr>
          <p:nvPr/>
        </p:nvCxnSpPr>
        <p:spPr>
          <a:xfrm xmlns:a="http://schemas.openxmlformats.org/drawingml/2006/main" flipV="1">
            <a:off x="2924175" y="1838325"/>
            <a:ext cx="17526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07A2D"/>
            </a:solidFill>
            <a:prstDash val="solid"/>
          </a:ln>
        </p:spPr>
      </p:cxnSp>
      <p:cxnSp>
        <p:nvCxnSpPr>
          <p:cNvPr id="402" name="Straight Arrow Connector 265"/>
          <p:cNvCxnSpPr>
            <a:stCxn xmlns:a="http://schemas.openxmlformats.org/drawingml/2006/main" id="214" idx="0"/>
            <a:endCxn xmlns:a="http://schemas.openxmlformats.org/drawingml/2006/main" id="215" idx="4"/>
          </p:cNvCxnSpPr>
          <p:nvPr/>
        </p:nvCxnSpPr>
        <p:spPr>
          <a:xfrm xmlns:a="http://schemas.openxmlformats.org/drawingml/2006/main" flipH="1" flipV="1">
            <a:off x="4676775" y="1838325"/>
            <a:ext cx="17526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07A2D"/>
            </a:solidFill>
            <a:prstDash val="solid"/>
          </a:ln>
        </p:spPr>
      </p:cxnSp>
      <p:sp>
        <p:nvSpPr>
          <p:cNvPr id="23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9F80D7F-28CF-41CD-A91D-A061A7A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3862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One forecast combines information from several layers of the past.</a:t>
            </a:r>
          </a:p>
        </p:txBody>
      </p:sp>
      <p:sp>
        <p:nvSpPr>
          <p:cNvPr id="231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D01EF40-E7C3-4F2E-A21A-35684B14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77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Causal: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uses only present and past values.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Dilated: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skips farther back at higher layers, increasing the receptive field.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Parallel: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processes the entire input window at once during training.</a:t>
            </a:r>
          </a:p>
        </p:txBody>
      </p:sp>
      <p:sp>
        <p:nvSpPr>
          <p:cNvPr id="232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8920ED2-277F-4C9B-9405-0DB0467C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4B1B68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4B1B68"/>
                </a:solidFill>
                <a:latin typeface="Cambria Math"/>
                <a:ea typeface="Cambria Math"/>
                <a:cs typeface="Cambria Math"/>
              </a:rPr>
              <a:t>hₜ⁽ˡ⁾ = σ(b⁽ˡ⁾ + Σⱼ wⱼ⁽ˡ⁾ hₜ₋dⱼ⁽ˡ⁻¹⁾)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Recurrent networks carry memory; gated networks decide what to keep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7BBB17B8-453E-4158-85CD-75A3A4A9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DEC56D3C-796D-4CF9-810C-FE2D4BDC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905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Recurrent Neural Network (RNN):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updates its memory as each new sample arrives.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Long Short-Term Memory (LSTM) and Gated Recurrent Unit (GRU):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gates keep useful information and forget irrelevant information.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Deep Autoregressive model (DeepAR):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trains one probabilistic Recurrent Neural Network across many related time series.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Limit: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training is sequential and long memories can be hard to learn.</a:t>
            </a:r>
          </a:p>
        </p:txBody>
      </p:sp>
      <p:pic>
        <p:nvPicPr>
          <p:cNvPr id="205" name="Picture 2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922ab2c884f49"/>
          <a:stretch xmlns:a="http://schemas.openxmlformats.org/drawingml/2006/main"/>
        </p:blipFill>
        <p:spPr>
          <a:xfrm xmlns:a="http://schemas.openxmlformats.org/drawingml/2006/main">
            <a:off x="4000500" y="1972308"/>
            <a:ext cx="4476750" cy="2913385"/>
          </a:xfrm>
          <a:prstGeom xmlns:a="http://schemas.openxmlformats.org/drawingml/2006/main" prst="rect">
            <a:avLst/>
          </a:prstGeom>
        </p:spPr>
      </p:pic>
      <p:sp>
        <p:nvSpPr>
          <p:cNvPr id="20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67EF73E-7E9F-4ED6-B17F-06BE9C2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These models help when the order and evolving memory of the signal matter.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Three common ways to forecast several future steps</a:t>
            </a:r>
          </a:p>
        </p:txBody>
      </p:sp>
      <p:sp>
        <p:nvSpPr>
          <p:cNvPr id="3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EBA1E17-4721-4676-BCDA-271F17A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RECURSIVE: reuse one-step model</a:t>
            </a:r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AF61FCA5-4B0A-450E-9459-ED5B2CB3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DIRECT: separate output for each horizon</a:t>
            </a:r>
          </a:p>
        </p:txBody>
      </p:sp>
      <p:pic>
        <p:nvPicPr>
          <p:cNvPr id="1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fbfb5b665479d"/>
          <a:stretch xmlns:a="http://schemas.openxmlformats.org/drawingml/2006/main"/>
        </p:blipFill>
        <p:spPr>
          <a:xfrm xmlns:a="http://schemas.openxmlformats.org/drawingml/2006/main">
            <a:off x="523875" y="1996003"/>
            <a:ext cx="3905250" cy="1913494"/>
          </a:xfrm>
          <a:prstGeom xmlns:a="http://schemas.openxmlformats.org/drawingml/2006/main" prst="rect">
            <a:avLst/>
          </a:prstGeom>
        </p:spPr>
      </p:pic>
      <p:pic>
        <p:nvPicPr>
          <p:cNvPr id="16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c8dc94789428a"/>
          <a:stretch xmlns:a="http://schemas.openxmlformats.org/drawingml/2006/main"/>
        </p:blipFill>
        <p:spPr>
          <a:xfrm xmlns:a="http://schemas.openxmlformats.org/drawingml/2006/main">
            <a:off x="4714875" y="2021691"/>
            <a:ext cx="3905250" cy="1862118"/>
          </a:xfrm>
          <a:prstGeom xmlns:a="http://schemas.openxmlformats.org/drawingml/2006/main" prst="rect">
            <a:avLst/>
          </a:prstGeom>
        </p:spPr>
      </p:pic>
      <p:sp>
        <p:nvSpPr>
          <p:cNvPr id="7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9148FD94-66E7-4174-99DE-C081BDAB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Recursive: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simple, but each prediction becomes the next input, so errors can accumulate.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238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238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Direct: </a:t>
            </a:r>
            <a:r>
              <a:rPr sz="1238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avoids feedback, but needs a separate output or model for each future step.</a:t>
            </a:r>
          </a:p>
        </p:txBody>
      </p:sp>
      <p:sp>
        <p:nvSpPr>
          <p:cNvPr id="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59F2F2B4-B124-4DFD-A823-82D4413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JOINT / MULTI-OUTPUT — predict the whole future path at once.</a:t>
            </a:r>
          </a:p>
        </p:txBody>
      </p:sp>
      <p:sp>
        <p:nvSpPr>
          <p:cNvPr id="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E3667911-E3D0-42DC-8299-EE35E611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Train and test the same strategy that will be used in practice.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Newer forecasting models organise long histories in different ways</a:t>
            </a:r>
          </a:p>
        </p:txBody>
      </p:sp>
      <p:sp>
        <p:nvSpPr>
          <p:cNvPr id="3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9E1B302-0F4F-4AF2-883B-3768D72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N-BEATS / N-HiTS</a:t>
            </a:r>
          </a:p>
        </p:txBody>
      </p:sp>
      <p:pic>
        <p:nvPicPr>
          <p:cNvPr id="1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b6c09370741ec"/>
          <a:stretch xmlns:a="http://schemas.openxmlformats.org/drawingml/2006/main"/>
        </p:blipFill>
        <p:spPr>
          <a:xfrm xmlns:a="http://schemas.openxmlformats.org/drawingml/2006/main">
            <a:off x="976809" y="1666875"/>
            <a:ext cx="2951758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0C2D6B32-1857-4A23-84CC-FADB27D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1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Neural Basis Expansion Analysis for Interpretable Time Series Forecasting (N-BEATS) and Neural Hierarchical Interpolation for Time Series Forecasting (N-HiTS) learn trend-like and seasonal-like blocks across several time scales.</a:t>
            </a:r>
          </a:p>
        </p:txBody>
      </p:sp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66EC731-8448-4D0D-ADC4-1BB70AED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PatchTST</a:t>
            </a:r>
          </a:p>
        </p:txBody>
      </p:sp>
      <p:pic>
        <p:nvPicPr>
          <p:cNvPr id="21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81361b6444069"/>
          <a:stretch xmlns:a="http://schemas.openxmlformats.org/drawingml/2006/main"/>
        </p:blipFill>
        <p:spPr>
          <a:xfrm xmlns:a="http://schemas.openxmlformats.org/drawingml/2006/main">
            <a:off x="1485900" y="4191000"/>
            <a:ext cx="1933575" cy="1381125"/>
          </a:xfrm>
          <a:prstGeom xmlns:a="http://schemas.openxmlformats.org/drawingml/2006/main" prst="rect">
            <a:avLst/>
          </a:prstGeom>
        </p:spPr>
      </p:pic>
      <p:sp>
        <p:nvSpPr>
          <p:cNvPr id="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743EFD09-4A5C-460E-B3AE-A70DA4D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63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Patch Time-Series Transformer (PatchTST) splits a long history into patches, like words in a sentence.</a:t>
            </a:r>
          </a:p>
        </p:txBody>
      </p:sp>
      <p:sp>
        <p:nvSpPr>
          <p:cNvPr id="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532A6424-EF9E-444D-812C-4B6F303E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381125"/>
            <a:ext cx="3571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Temporal Fusion Transformer</a:t>
            </a:r>
          </a:p>
        </p:txBody>
      </p:sp>
      <p:pic>
        <p:nvPicPr>
          <p:cNvPr id="24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a45fdcf02407c"/>
          <a:stretch xmlns:a="http://schemas.openxmlformats.org/drawingml/2006/main"/>
        </p:blipFill>
        <p:spPr>
          <a:xfrm xmlns:a="http://schemas.openxmlformats.org/drawingml/2006/main">
            <a:off x="4667250" y="2232772"/>
            <a:ext cx="3905250" cy="2297206"/>
          </a:xfrm>
          <a:prstGeom xmlns:a="http://schemas.openxmlformats.org/drawingml/2006/main" prst="rect">
            <a:avLst/>
          </a:prstGeom>
        </p:spPr>
      </p:pic>
      <p:sp>
        <p:nvSpPr>
          <p:cNvPr id="11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7C6AA65-0F53-49C7-979E-B4712E1E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43500"/>
            <a:ext cx="357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63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Combines known future inputs, variable selection and attention.</a:t>
            </a:r>
          </a:p>
        </p:txBody>
      </p:sp>
      <p:sp>
        <p:nvSpPr>
          <p:cNvPr id="12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45C23B6B-4082-4E3D-B957-09696DA3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2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3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Deep Autoregressive model (DeepAR) is a useful probabilistic recurrent neural network benchmark. Newer does not automatically mean better.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F5CDAD7-59CD-41C1-AD6D-DC0FB2C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8" y="1952625"/>
            <a:ext cx="821817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4. Check whether the forecast can be trusted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219BC7B-2B9C-43E0-B1A3-CA31903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1b82e45ac4f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16689074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Show a range of plausible futures—not just one line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699EB7C3-2A1B-41F4-BE42-32CFDBA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C1F40094-92C9-42DB-9F56-E88DFD2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85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Point forecast: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central or decision-optimal value.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Interval: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range expected to contain the future observation.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Tail risk: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probability of exceeding a safety or operating limit.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Calibration: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90% interval should contain about 90% of comparable future observations.</a:t>
            </a:r>
          </a:p>
        </p:txBody>
      </p:sp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a0a30d80c4aaf"/>
          <a:stretch xmlns:a="http://schemas.openxmlformats.org/drawingml/2006/main"/>
        </p:blipFill>
        <p:spPr>
          <a:xfrm xmlns:a="http://schemas.openxmlformats.org/drawingml/2006/main">
            <a:off x="3952875" y="1813152"/>
            <a:ext cx="4524375" cy="3231696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0C800C9D-DD98-4FB9-A908-B2F0315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Check coverage and interval width separately at each horizon.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Explain which past values and inputs changed the forecast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6D2BD8CD-3281-473A-8B96-4329BCC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F776824E-66CF-4FDB-8917-1942DFCC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85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Global explanation: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overall lag effects, coefficients or state components.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Local explanation: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why this particular forecast changed.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Time-aware test: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perturb blocks of time or groups of correlated lags.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Scientific check: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confirm units, bounds and known physical behaviour.</a:t>
            </a:r>
          </a:p>
        </p:txBody>
      </p:sp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5a4f728de4854"/>
          <a:stretch xmlns:a="http://schemas.openxmlformats.org/drawingml/2006/main"/>
        </p:blipFill>
        <p:spPr>
          <a:xfrm xmlns:a="http://schemas.openxmlformats.org/drawingml/2006/main">
            <a:off x="3905250" y="1796143"/>
            <a:ext cx="4572000" cy="3265714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EE34A8AD-11FD-4034-BBC6-8B826F90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Attribution explains model behaviour; it does not establish causality.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A model can fail when the machine or operating conditions change</a:t>
            </a:r>
            <a:endParaRPr b="0">
              <a:latin typeface="Open Sans"/>
              <a:ea typeface="Open Sans"/>
              <a:cs typeface="Open Sans"/>
            </a:endParaRPr>
          </a:p>
        </p:txBody>
      </p:sp>
      <p:pic>
        <p:nvPicPr>
          <p:cNvPr id="202" name="Picture 2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4ec78dbd04e69"/>
          <a:stretch xmlns:a="http://schemas.openxmlformats.org/drawingml/2006/main"/>
        </p:blipFill>
        <p:spPr>
          <a:xfrm xmlns:a="http://schemas.openxmlformats.org/drawingml/2006/main">
            <a:off x="523875" y="1622445"/>
            <a:ext cx="8096250" cy="2612985"/>
          </a:xfrm>
          <a:prstGeom xmlns:a="http://schemas.openxmlformats.org/drawingml/2006/main" prst="rect">
            <a:avLst/>
          </a:prstGeom>
        </p:spPr>
      </p:pic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FB6C99B9-32D6-45EE-AB30-905A1413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17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Input change: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different sensor, site, speed or load.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Relationship change: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ageing, control changes or a new failure mode.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Monitor: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inputs, prediction errors and interval coverage.</a:t>
            </a:r>
          </a:p>
        </p:txBody>
      </p:sp>
      <p:sp>
        <p:nvSpPr>
          <p:cNvPr id="199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8329E753-2BC9-4108-973A-FD899C0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Report performance by machine, site and regime; an overall average can hide failure.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728498EC-FE9F-49D3-BAF6-A60A91715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Tune on earlier periods; keep the final future period untouched</a:t>
            </a:r>
            <a:endParaRPr b="0">
              <a:latin typeface="Open Sans"/>
              <a:ea typeface="Open Sans"/>
              <a:cs typeface="Open Sans"/>
            </a:endParaRPr>
          </a:p>
        </p:txBody>
      </p:sp>
      <p:sp>
        <p:nvSpPr>
          <p:cNvPr id="197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DD44C65D-7F0C-4A4A-9A49-8A0F471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8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34C979E8-142C-449E-B8A6-A416B590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Earlier periods: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choose lags, window length, regularisation and architecture.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Final future period: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estimate performance only after all choices are fixed.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Entire pipeline: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fit scaling and feature selection inside each training window.</a:t>
            </a:r>
          </a:p>
        </p:txBody>
      </p:sp>
      <p:pic>
        <p:nvPicPr>
          <p:cNvPr id="205" name="Picture 2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cbdd2c14d42df"/>
          <a:stretch xmlns:a="http://schemas.openxmlformats.org/drawingml/2006/main"/>
        </p:blipFill>
        <p:spPr>
          <a:xfrm xmlns:a="http://schemas.openxmlformats.org/drawingml/2006/main">
            <a:off x="3905250" y="2284299"/>
            <a:ext cx="4572000" cy="2146527"/>
          </a:xfrm>
          <a:prstGeom xmlns:a="http://schemas.openxmlformats.org/drawingml/2006/main" prst="rect">
            <a:avLst/>
          </a:prstGeom>
        </p:spPr>
      </p:pic>
      <p:sp>
        <p:nvSpPr>
          <p:cNvPr id="200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9BAF39D7-C1C0-4F6B-BC6B-103B1CD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Do not use the final test period to choose or refine the model.</a:t>
            </a:r>
          </a:p>
        </p:txBody>
      </p:sp>
    </p:spTree>
    <p:extLst>
      <p:ext uri="{BB962C8B-B14F-4D97-AF65-F5344CB8AC3E}">
        <p14:creationId xmlns:p14="http://schemas.microsoft.com/office/powerpoint/2010/main" val="33801863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Test the forecast under the conditions in which it will be used</a:t>
            </a:r>
          </a:p>
        </p:txBody>
      </p:sp>
      <p:sp>
        <p:nvSpPr>
          <p:cNvPr id="3" name="Manchester purple accent">
            <a:extLst xmlns:a="http://schemas.openxmlformats.org/drawingml/2006/main">
              <a:ext uri="{FF2B5EF4-FFF2-40B4-BE49-F238E27FC236}">
                <a16:creationId xmlns:a16="http://schemas.microsoft.com/office/drawing/2014/main" id="{9C1C6231-FDD3-46E3-AFBF-44A8D64F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7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2C91"/>
          </a:solidFill>
          <a:ln xmlns:a="http://schemas.openxmlformats.org/drawingml/2006/main" w="0">
            <a:solidFill>
              <a:srgbClr val="6B2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9E6D1C1A-71B0-44B7-B739-5AFBC10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3619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Prediction: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beat simple baselines at every forecast horizon.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Engineering: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test missing sensors, latency, new machines and costly errors.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Physics: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check units, bounds and known constraints.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18" indent="-10">
              <a:lnSpc>
                <a:spcPct val="104000"/>
              </a:lnSpc>
              <a:buNone/>
              <a:defRPr sz="1313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13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Operation: </a:t>
            </a:r>
            <a:r>
              <a:rPr sz="1313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decide monitoring, fallback and retraining rules.</a:t>
            </a:r>
          </a:p>
        </p:txBody>
      </p:sp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b34b8d42a4f84"/>
          <a:srcRect xmlns:a="http://schemas.openxmlformats.org/drawingml/2006/main" l="17838" t="0" r="178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81125"/>
            <a:ext cx="3619500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055DB4B4-FB1F-4859-BD5B-5BA94543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A trustworthy forecast must be accurate, calibrated and usable in practice.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B804D-A24C-972E-9B90-8E3D7848F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92693" y="236220"/>
            <a:ext cx="6191250" cy="9906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Reliable forecasting is a complete process</a:t>
            </a:r>
          </a:p>
        </p:txBody>
      </p:sp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dd8373aa642f9"/>
          <a:stretch xmlns:a="http://schemas.openxmlformats.org/drawingml/2006/main"/>
        </p:blipFill>
        <p:spPr>
          <a:xfrm xmlns:a="http://schemas.openxmlformats.org/drawingml/2006/main">
            <a:off x="523875" y="1597245"/>
            <a:ext cx="8096250" cy="3234886"/>
          </a:xfrm>
          <a:prstGeom xmlns:a="http://schemas.openxmlformats.org/drawingml/2006/main" prst="rect">
            <a:avLst/>
          </a:prstGeom>
        </p:spPr>
      </p:pic>
      <p:sp>
        <p:nvSpPr>
          <p:cNvPr id="4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62F81637-28A7-4665-947E-4BD7628A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1">
                <a:solidFill>
                  <a:srgbClr val="6B2C91"/>
                </a:solidFill>
                <a:latin typeface="Calibri"/>
                <a:ea typeface="Calibri"/>
                <a:cs typeface="Calibri"/>
              </a:defRPr>
            </a:pPr>
            <a:r>
              <a:rPr sz="1313" b="1">
                <a:solidFill>
                  <a:srgbClr val="6B2C91"/>
                </a:solidFill>
                <a:latin typeface="Calibri"/>
                <a:ea typeface="Calibri"/>
                <a:cs typeface="Calibri"/>
              </a:rPr>
              <a:t>UNDERSTAND DATA → DEFINE TASK → BASELINE → MODEL → TEST ON FUTURE DATA → UNCERTAINTY → MONITOR</a:t>
            </a:r>
          </a:p>
        </p:txBody>
      </p:sp>
      <p:sp>
        <p:nvSpPr>
          <p:cNvPr id="5" name="Visual teaching text">
            <a:extLst xmlns:a="http://schemas.openxmlformats.org/drawingml/2006/main">
              <a:ext uri="{FF2B5EF4-FFF2-40B4-BE49-F238E27FC236}">
                <a16:creationId xmlns:a16="http://schemas.microsoft.com/office/drawing/2014/main" id="{164AC52B-F0C0-480B-AB58-2CE644A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88" b="1">
                <a:solidFill>
                  <a:srgbClr val="4B1B68"/>
                </a:solidFill>
                <a:latin typeface="Calibri"/>
                <a:ea typeface="Calibri"/>
                <a:cs typeface="Calibri"/>
              </a:defRPr>
            </a:pPr>
            <a:r>
              <a:rPr sz="1388" b="1">
                <a:solidFill>
                  <a:srgbClr val="4B1B68"/>
                </a:solidFill>
                <a:latin typeface="Calibri"/>
                <a:ea typeface="Calibri"/>
                <a:cs typeface="Calibri"/>
              </a:rPr>
              <a:t>Good forecasting depends as much on the test and data assumptions as on the chosen model.</a:t>
            </a:r>
          </a:p>
        </p:txBody>
      </p:sp>
    </p:spTree>
    <p:extLst>
      <p:ext uri="{BB962C8B-B14F-4D97-AF65-F5344CB8AC3E}">
        <p14:creationId xmlns:p14="http://schemas.microsoft.com/office/powerpoint/2010/main" val="2818246128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0E520F-317A-53E4-70FC-0D12CE0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2" y="2057400"/>
            <a:ext cx="8218456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536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726091D-645F-2A9C-E895-C6F932FC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99" y="3818228"/>
            <a:ext cx="6821488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5C5C5C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For your own data: what would you inspect first, and which simple forecast would you try first?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C6407CFF-64EB-4A66-B045-90EBCA1A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2809875"/>
            <a:ext cx="7013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60066"/>
            </a:solidFill>
            <a:prstDash val="dot"/>
          </a:ln>
          <a:effectLst xmlns:a="http://schemas.openxmlformats.org/drawingml/2006/main"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36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74a868ce843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509588"/>
            <a:ext cx="1663700" cy="711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7535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2026-08-18T20:17:09.8730000Z</dcterms:created>
  <dcterms:modified xsi:type="dcterms:W3CDTF">2026-08-18T20:17:09.8730000Z</dcterms:modified>
</coreProperties>
</file>